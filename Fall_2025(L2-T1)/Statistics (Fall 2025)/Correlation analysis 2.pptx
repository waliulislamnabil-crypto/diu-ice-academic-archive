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1" r:id="rId5"/>
    <p:sldId id="293" r:id="rId6"/>
    <p:sldId id="282" r:id="rId7"/>
    <p:sldId id="288" r:id="rId8"/>
    <p:sldId id="289" r:id="rId9"/>
    <p:sldId id="290" r:id="rId10"/>
    <p:sldId id="283" r:id="rId11"/>
    <p:sldId id="300" r:id="rId12"/>
    <p:sldId id="284" r:id="rId13"/>
    <p:sldId id="285" r:id="rId14"/>
    <p:sldId id="299" r:id="rId15"/>
    <p:sldId id="303" r:id="rId16"/>
    <p:sldId id="304" r:id="rId17"/>
    <p:sldId id="301" r:id="rId18"/>
  </p:sldIdLst>
  <p:sldSz cx="14173200" cy="82296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4" userDrawn="1">
          <p15:clr>
            <a:srgbClr val="A4A3A4"/>
          </p15:clr>
        </p15:guide>
        <p15:guide id="2" pos="44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73"/>
    <a:srgbClr val="DEC8EE"/>
    <a:srgbClr val="B889DB"/>
    <a:srgbClr val="8439BD"/>
    <a:srgbClr val="A568D2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9288" autoAdjust="0"/>
  </p:normalViewPr>
  <p:slideViewPr>
    <p:cSldViewPr snapToGrid="0" showGuides="1">
      <p:cViewPr varScale="1">
        <p:scale>
          <a:sx n="61" d="100"/>
          <a:sy n="61" d="100"/>
        </p:scale>
        <p:origin x="720" y="84"/>
      </p:cViewPr>
      <p:guideLst>
        <p:guide orient="horz" pos="2564"/>
        <p:guide pos="44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5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631EF024-19AE-40D1-A564-21E423BF1498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8100" y="857250"/>
            <a:ext cx="3987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5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CC3427E7-5989-485B-B90B-4098793D52E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1pPr>
    <a:lvl2pPr marL="501015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2pPr>
    <a:lvl3pPr marL="1002030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3pPr>
    <a:lvl4pPr marL="1503045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4pPr>
    <a:lvl5pPr marL="2004060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5pPr>
    <a:lvl6pPr marL="2505075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6pPr>
    <a:lvl7pPr marL="3006090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7pPr>
    <a:lvl8pPr marL="3507105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8pPr>
    <a:lvl9pPr marL="4008120" algn="l" defTabSz="1002030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346836"/>
            <a:ext cx="10629900" cy="2865120"/>
          </a:xfrm>
        </p:spPr>
        <p:txBody>
          <a:bodyPr anchor="b"/>
          <a:lstStyle>
            <a:lvl1pPr algn="ctr">
              <a:defRPr sz="6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1650" y="4322446"/>
            <a:ext cx="10629900" cy="1986914"/>
          </a:xfrm>
        </p:spPr>
        <p:txBody>
          <a:bodyPr/>
          <a:lstStyle>
            <a:lvl1pPr marL="0" indent="0" algn="ctr">
              <a:buNone/>
              <a:defRPr sz="2790"/>
            </a:lvl1pPr>
            <a:lvl2pPr marL="531495" indent="0" algn="ctr">
              <a:buNone/>
              <a:defRPr sz="2325"/>
            </a:lvl2pPr>
            <a:lvl3pPr marL="1062990" indent="0" algn="ctr">
              <a:buNone/>
              <a:defRPr sz="2095"/>
            </a:lvl3pPr>
            <a:lvl4pPr marL="1594485" indent="0" algn="ctr">
              <a:buNone/>
              <a:defRPr sz="1860"/>
            </a:lvl4pPr>
            <a:lvl5pPr marL="2125980" indent="0" algn="ctr">
              <a:buNone/>
              <a:defRPr sz="1860"/>
            </a:lvl5pPr>
            <a:lvl6pPr marL="2657475" indent="0" algn="ctr">
              <a:buNone/>
              <a:defRPr sz="1860"/>
            </a:lvl6pPr>
            <a:lvl7pPr marL="3188970" indent="0" algn="ctr">
              <a:buNone/>
              <a:defRPr sz="1860"/>
            </a:lvl7pPr>
            <a:lvl8pPr marL="3720465" indent="0" algn="ctr">
              <a:buNone/>
              <a:defRPr sz="1860"/>
            </a:lvl8pPr>
            <a:lvl9pPr marL="4251960" indent="0" algn="ctr">
              <a:buNone/>
              <a:defRPr sz="18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26" y="2051686"/>
            <a:ext cx="12224385" cy="3423284"/>
          </a:xfrm>
        </p:spPr>
        <p:txBody>
          <a:bodyPr anchor="b"/>
          <a:lstStyle>
            <a:lvl1pPr>
              <a:defRPr sz="6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026" y="5507356"/>
            <a:ext cx="12224385" cy="1800224"/>
          </a:xfrm>
        </p:spPr>
        <p:txBody>
          <a:bodyPr/>
          <a:lstStyle>
            <a:lvl1pPr marL="0" indent="0">
              <a:buNone/>
              <a:defRPr sz="2790">
                <a:solidFill>
                  <a:schemeClr val="tx1">
                    <a:tint val="75000"/>
                  </a:schemeClr>
                </a:solidFill>
              </a:defRPr>
            </a:lvl1pPr>
            <a:lvl2pPr marL="531495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2pPr>
            <a:lvl3pPr marL="1062990" indent="0">
              <a:buNone/>
              <a:defRPr sz="2095">
                <a:solidFill>
                  <a:schemeClr val="tx1">
                    <a:tint val="75000"/>
                  </a:schemeClr>
                </a:solidFill>
              </a:defRPr>
            </a:lvl3pPr>
            <a:lvl4pPr marL="1594485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4pPr>
            <a:lvl5pPr marL="212598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5pPr>
            <a:lvl6pPr marL="2657475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6pPr>
            <a:lvl7pPr marL="318897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7pPr>
            <a:lvl8pPr marL="3720465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8pPr>
            <a:lvl9pPr marL="425196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8C992-D84A-4E5B-8FF3-725D20E477AE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4408" y="2190750"/>
            <a:ext cx="602361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75183" y="2190750"/>
            <a:ext cx="602361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9BF8-3712-42D3-B9CE-E8E248C260D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54" y="438150"/>
            <a:ext cx="1222438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6254" y="2017396"/>
            <a:ext cx="5995927" cy="988694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495" indent="0">
              <a:buNone/>
              <a:defRPr sz="2325" b="1"/>
            </a:lvl2pPr>
            <a:lvl3pPr marL="1062990" indent="0">
              <a:buNone/>
              <a:defRPr sz="2095" b="1"/>
            </a:lvl3pPr>
            <a:lvl4pPr marL="1594485" indent="0">
              <a:buNone/>
              <a:defRPr sz="1860" b="1"/>
            </a:lvl4pPr>
            <a:lvl5pPr marL="2125980" indent="0">
              <a:buNone/>
              <a:defRPr sz="1860" b="1"/>
            </a:lvl5pPr>
            <a:lvl6pPr marL="2657475" indent="0">
              <a:buNone/>
              <a:defRPr sz="1860" b="1"/>
            </a:lvl6pPr>
            <a:lvl7pPr marL="3188970" indent="0">
              <a:buNone/>
              <a:defRPr sz="1860" b="1"/>
            </a:lvl7pPr>
            <a:lvl8pPr marL="3720465" indent="0">
              <a:buNone/>
              <a:defRPr sz="1860" b="1"/>
            </a:lvl8pPr>
            <a:lvl9pPr marL="4251960" indent="0">
              <a:buNone/>
              <a:defRPr sz="186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6254" y="3006090"/>
            <a:ext cx="5995927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75183" y="2017396"/>
            <a:ext cx="6025456" cy="988694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495" indent="0">
              <a:buNone/>
              <a:defRPr sz="2325" b="1"/>
            </a:lvl2pPr>
            <a:lvl3pPr marL="1062990" indent="0">
              <a:buNone/>
              <a:defRPr sz="2095" b="1"/>
            </a:lvl3pPr>
            <a:lvl4pPr marL="1594485" indent="0">
              <a:buNone/>
              <a:defRPr sz="1860" b="1"/>
            </a:lvl4pPr>
            <a:lvl5pPr marL="2125980" indent="0">
              <a:buNone/>
              <a:defRPr sz="1860" b="1"/>
            </a:lvl5pPr>
            <a:lvl6pPr marL="2657475" indent="0">
              <a:buNone/>
              <a:defRPr sz="1860" b="1"/>
            </a:lvl6pPr>
            <a:lvl7pPr marL="3188970" indent="0">
              <a:buNone/>
              <a:defRPr sz="1860" b="1"/>
            </a:lvl7pPr>
            <a:lvl8pPr marL="3720465" indent="0">
              <a:buNone/>
              <a:defRPr sz="1860" b="1"/>
            </a:lvl8pPr>
            <a:lvl9pPr marL="4251960" indent="0">
              <a:buNone/>
              <a:defRPr sz="186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75183" y="3006090"/>
            <a:ext cx="602545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FE52-ECBC-44F5-B817-54A3EA0E4251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2E2B5-69B5-472F-871D-A62F87F78089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1389-26BB-4E01-8FBF-2F6EDAD344DB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54" y="548640"/>
            <a:ext cx="4571226" cy="1920240"/>
          </a:xfrm>
        </p:spPr>
        <p:txBody>
          <a:bodyPr anchor="b"/>
          <a:lstStyle>
            <a:lvl1pPr>
              <a:defRPr sz="3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5456" y="1184911"/>
            <a:ext cx="7175183" cy="5848350"/>
          </a:xfrm>
        </p:spPr>
        <p:txBody>
          <a:bodyPr/>
          <a:lstStyle>
            <a:lvl1pPr>
              <a:defRPr sz="3720"/>
            </a:lvl1pPr>
            <a:lvl2pPr>
              <a:defRPr sz="3255"/>
            </a:lvl2pPr>
            <a:lvl3pPr>
              <a:defRPr sz="2790"/>
            </a:lvl3pPr>
            <a:lvl4pPr>
              <a:defRPr sz="2325"/>
            </a:lvl4pPr>
            <a:lvl5pPr>
              <a:defRPr sz="2325"/>
            </a:lvl5pPr>
            <a:lvl6pPr>
              <a:defRPr sz="2325"/>
            </a:lvl6pPr>
            <a:lvl7pPr>
              <a:defRPr sz="2325"/>
            </a:lvl7pPr>
            <a:lvl8pPr>
              <a:defRPr sz="2325"/>
            </a:lvl8pPr>
            <a:lvl9pPr>
              <a:defRPr sz="232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6254" y="2468880"/>
            <a:ext cx="4571226" cy="4573906"/>
          </a:xfrm>
        </p:spPr>
        <p:txBody>
          <a:bodyPr/>
          <a:lstStyle>
            <a:lvl1pPr marL="0" indent="0">
              <a:buNone/>
              <a:defRPr sz="1860"/>
            </a:lvl1pPr>
            <a:lvl2pPr marL="531495" indent="0">
              <a:buNone/>
              <a:defRPr sz="1625"/>
            </a:lvl2pPr>
            <a:lvl3pPr marL="1062990" indent="0">
              <a:buNone/>
              <a:defRPr sz="1395"/>
            </a:lvl3pPr>
            <a:lvl4pPr marL="1594485" indent="0">
              <a:buNone/>
              <a:defRPr sz="1165"/>
            </a:lvl4pPr>
            <a:lvl5pPr marL="2125980" indent="0">
              <a:buNone/>
              <a:defRPr sz="1165"/>
            </a:lvl5pPr>
            <a:lvl6pPr marL="2657475" indent="0">
              <a:buNone/>
              <a:defRPr sz="1165"/>
            </a:lvl6pPr>
            <a:lvl7pPr marL="3188970" indent="0">
              <a:buNone/>
              <a:defRPr sz="1165"/>
            </a:lvl7pPr>
            <a:lvl8pPr marL="3720465" indent="0">
              <a:buNone/>
              <a:defRPr sz="1165"/>
            </a:lvl8pPr>
            <a:lvl9pPr marL="4251960" indent="0">
              <a:buNone/>
              <a:defRPr sz="11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99EF-EC64-4A3B-94D0-74F6EE74A7F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54" y="548640"/>
            <a:ext cx="4571226" cy="1920240"/>
          </a:xfrm>
        </p:spPr>
        <p:txBody>
          <a:bodyPr anchor="b"/>
          <a:lstStyle>
            <a:lvl1pPr>
              <a:defRPr sz="3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25456" y="1184911"/>
            <a:ext cx="7175183" cy="5848350"/>
          </a:xfrm>
        </p:spPr>
        <p:txBody>
          <a:bodyPr anchor="t"/>
          <a:lstStyle>
            <a:lvl1pPr marL="0" indent="0">
              <a:buNone/>
              <a:defRPr sz="3720"/>
            </a:lvl1pPr>
            <a:lvl2pPr marL="531495" indent="0">
              <a:buNone/>
              <a:defRPr sz="3255"/>
            </a:lvl2pPr>
            <a:lvl3pPr marL="1062990" indent="0">
              <a:buNone/>
              <a:defRPr sz="2790"/>
            </a:lvl3pPr>
            <a:lvl4pPr marL="1594485" indent="0">
              <a:buNone/>
              <a:defRPr sz="2325"/>
            </a:lvl4pPr>
            <a:lvl5pPr marL="2125980" indent="0">
              <a:buNone/>
              <a:defRPr sz="2325"/>
            </a:lvl5pPr>
            <a:lvl6pPr marL="2657475" indent="0">
              <a:buNone/>
              <a:defRPr sz="2325"/>
            </a:lvl6pPr>
            <a:lvl7pPr marL="3188970" indent="0">
              <a:buNone/>
              <a:defRPr sz="2325"/>
            </a:lvl7pPr>
            <a:lvl8pPr marL="3720465" indent="0">
              <a:buNone/>
              <a:defRPr sz="2325"/>
            </a:lvl8pPr>
            <a:lvl9pPr marL="4251960" indent="0">
              <a:buNone/>
              <a:defRPr sz="23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6254" y="2468880"/>
            <a:ext cx="4571226" cy="4573906"/>
          </a:xfrm>
        </p:spPr>
        <p:txBody>
          <a:bodyPr/>
          <a:lstStyle>
            <a:lvl1pPr marL="0" indent="0">
              <a:buNone/>
              <a:defRPr sz="1860"/>
            </a:lvl1pPr>
            <a:lvl2pPr marL="531495" indent="0">
              <a:buNone/>
              <a:defRPr sz="1625"/>
            </a:lvl2pPr>
            <a:lvl3pPr marL="1062990" indent="0">
              <a:buNone/>
              <a:defRPr sz="1395"/>
            </a:lvl3pPr>
            <a:lvl4pPr marL="1594485" indent="0">
              <a:buNone/>
              <a:defRPr sz="1165"/>
            </a:lvl4pPr>
            <a:lvl5pPr marL="2125980" indent="0">
              <a:buNone/>
              <a:defRPr sz="1165"/>
            </a:lvl5pPr>
            <a:lvl6pPr marL="2657475" indent="0">
              <a:buNone/>
              <a:defRPr sz="1165"/>
            </a:lvl6pPr>
            <a:lvl7pPr marL="3188970" indent="0">
              <a:buNone/>
              <a:defRPr sz="1165"/>
            </a:lvl7pPr>
            <a:lvl8pPr marL="3720465" indent="0">
              <a:buNone/>
              <a:defRPr sz="1165"/>
            </a:lvl8pPr>
            <a:lvl9pPr marL="4251960" indent="0">
              <a:buNone/>
              <a:defRPr sz="11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B5E-FA93-420E-B3A8-8FC4C09B0505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665D-6E89-4825-90DF-386CCC43479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2696" y="438150"/>
            <a:ext cx="3056096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4407" y="438150"/>
            <a:ext cx="8991124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E5FF-8155-4536-B003-5D25527BB1B5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4405" y="728082"/>
            <a:ext cx="1222438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408" y="2190750"/>
            <a:ext cx="1222438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4408" y="7627621"/>
            <a:ext cx="31889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94873" y="7627621"/>
            <a:ext cx="478345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09823" y="7627621"/>
            <a:ext cx="31889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E70E-F72E-43B1-8793-977D89C56C76}" type="slidenum">
              <a:rPr lang="en-IN" smtClean="0"/>
            </a:fld>
            <a:endParaRPr lang="en-IN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2" y="7599928"/>
            <a:ext cx="14173200" cy="6296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" y="0"/>
            <a:ext cx="14173200" cy="10801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" y="1080143"/>
            <a:ext cx="14173200" cy="214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0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" y="1080136"/>
            <a:ext cx="4619258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619262" y="1080136"/>
            <a:ext cx="493467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9238524" y="1080136"/>
            <a:ext cx="493467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3" y="7595384"/>
            <a:ext cx="4619258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4619261" y="7595384"/>
            <a:ext cx="493467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9238523" y="7595384"/>
            <a:ext cx="493467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1062990" rtl="0" eaLnBrk="1" latinLnBrk="0" hangingPunct="1">
        <a:lnSpc>
          <a:spcPct val="90000"/>
        </a:lnSpc>
        <a:spcBef>
          <a:spcPct val="0"/>
        </a:spcBef>
        <a:buNone/>
        <a:defRPr sz="51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065" indent="-266065" algn="l" defTabSz="1062990" rtl="0" eaLnBrk="1" latinLnBrk="0" hangingPunct="1">
        <a:lnSpc>
          <a:spcPct val="90000"/>
        </a:lnSpc>
        <a:spcBef>
          <a:spcPts val="1165"/>
        </a:spcBef>
        <a:buFont typeface="Arial" panose="020B0604020202020204" pitchFamily="34" charset="0"/>
        <a:buChar char="•"/>
        <a:defRPr sz="3255" kern="1200">
          <a:solidFill>
            <a:schemeClr val="tx1"/>
          </a:solidFill>
          <a:latin typeface="+mn-lt"/>
          <a:ea typeface="+mn-ea"/>
          <a:cs typeface="+mn-cs"/>
        </a:defRPr>
      </a:lvl1pPr>
      <a:lvl2pPr marL="797560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329055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860550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4pPr>
      <a:lvl5pPr marL="2392045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5pPr>
      <a:lvl6pPr marL="2923540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6pPr>
      <a:lvl7pPr marL="3455035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7pPr>
      <a:lvl8pPr marL="3986530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8pPr>
      <a:lvl9pPr marL="4518025" indent="-266065" algn="l" defTabSz="1062990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31495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2pPr>
      <a:lvl3pPr marL="1062990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3pPr>
      <a:lvl4pPr marL="1594485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4pPr>
      <a:lvl5pPr marL="2125980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5pPr>
      <a:lvl6pPr marL="2657475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6pPr>
      <a:lvl7pPr marL="3188970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7pPr>
      <a:lvl8pPr marL="3720465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8pPr>
      <a:lvl9pPr marL="4251960" algn="l" defTabSz="1062990" rtl="0" eaLnBrk="1" latinLnBrk="0" hangingPunct="1">
        <a:defRPr sz="20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41732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04875" y="1858434"/>
            <a:ext cx="6235837" cy="2352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Correlation </a:t>
            </a:r>
            <a:r>
              <a:rPr lang="en-US" sz="4700" b="1" kern="12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Analysis</a:t>
            </a:r>
            <a:endParaRPr lang="en-US" sz="4700" b="1" kern="1200" dirty="0" smtClean="0"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(Part-2)</a:t>
            </a:r>
            <a:endParaRPr lang="en-US" sz="4700" b="1" kern="1200" dirty="0"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 descr="Abstract business statistic vector ... | Stock vector | Colourbox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58"/>
          <a:stretch>
            <a:fillRect/>
          </a:stretch>
        </p:blipFill>
        <p:spPr bwMode="auto">
          <a:xfrm>
            <a:off x="20" y="1"/>
            <a:ext cx="9002320" cy="8229600"/>
          </a:xfrm>
          <a:custGeom>
            <a:avLst/>
            <a:gdLst/>
            <a:ahLst/>
            <a:cxnLst/>
            <a:rect l="l" t="t" r="r" b="b"/>
            <a:pathLst>
              <a:path w="7743949" h="6858000">
                <a:moveTo>
                  <a:pt x="956085" y="2071857"/>
                </a:moveTo>
                <a:cubicBezTo>
                  <a:pt x="956085" y="2071857"/>
                  <a:pt x="956085" y="2071857"/>
                  <a:pt x="4999548" y="2071857"/>
                </a:cubicBezTo>
                <a:cubicBezTo>
                  <a:pt x="5252811" y="2071857"/>
                  <a:pt x="5497339" y="2211072"/>
                  <a:pt x="5619604" y="2437296"/>
                </a:cubicBezTo>
                <a:cubicBezTo>
                  <a:pt x="5619604" y="2437296"/>
                  <a:pt x="5619604" y="2437296"/>
                  <a:pt x="7645701" y="5926372"/>
                </a:cubicBezTo>
                <a:cubicBezTo>
                  <a:pt x="7776699" y="6143896"/>
                  <a:pt x="7776699" y="6422327"/>
                  <a:pt x="7645701" y="6639850"/>
                </a:cubicBezTo>
                <a:cubicBezTo>
                  <a:pt x="7645701" y="6639850"/>
                  <a:pt x="7645701" y="6639850"/>
                  <a:pt x="7538856" y="6823844"/>
                </a:cubicBezTo>
                <a:lnTo>
                  <a:pt x="7519022" y="6858000"/>
                </a:lnTo>
                <a:lnTo>
                  <a:pt x="0" y="6858000"/>
                </a:lnTo>
                <a:lnTo>
                  <a:pt x="0" y="3003362"/>
                </a:lnTo>
                <a:lnTo>
                  <a:pt x="144017" y="2754282"/>
                </a:lnTo>
                <a:cubicBezTo>
                  <a:pt x="203181" y="2651956"/>
                  <a:pt x="264254" y="2546330"/>
                  <a:pt x="327296" y="2437296"/>
                </a:cubicBezTo>
                <a:cubicBezTo>
                  <a:pt x="458294" y="2211072"/>
                  <a:pt x="694090" y="2071857"/>
                  <a:pt x="956085" y="2071857"/>
                </a:cubicBezTo>
                <a:close/>
                <a:moveTo>
                  <a:pt x="0" y="0"/>
                </a:moveTo>
                <a:lnTo>
                  <a:pt x="6600525" y="0"/>
                </a:lnTo>
                <a:lnTo>
                  <a:pt x="6486618" y="196155"/>
                </a:lnTo>
                <a:cubicBezTo>
                  <a:pt x="6261242" y="584267"/>
                  <a:pt x="5994130" y="1044253"/>
                  <a:pt x="5677553" y="1589421"/>
                </a:cubicBezTo>
                <a:cubicBezTo>
                  <a:pt x="5555288" y="1815646"/>
                  <a:pt x="5310759" y="1954861"/>
                  <a:pt x="5057496" y="1954861"/>
                </a:cubicBezTo>
                <a:cubicBezTo>
                  <a:pt x="5057496" y="1954861"/>
                  <a:pt x="5057496" y="1954861"/>
                  <a:pt x="1014033" y="1954861"/>
                </a:cubicBezTo>
                <a:cubicBezTo>
                  <a:pt x="752038" y="1954861"/>
                  <a:pt x="516243" y="1815646"/>
                  <a:pt x="385244" y="1589421"/>
                </a:cubicBezTo>
                <a:cubicBezTo>
                  <a:pt x="385244" y="1589421"/>
                  <a:pt x="385244" y="1589421"/>
                  <a:pt x="69234" y="1042874"/>
                </a:cubicBezTo>
                <a:lnTo>
                  <a:pt x="0" y="92313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54706" y="5689914"/>
            <a:ext cx="4288569" cy="2634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1878" y="0"/>
            <a:ext cx="3775829" cy="4080511"/>
          </a:xfrm>
          <a:prstGeom prst="flowChartDocument">
            <a:avLst/>
          </a:prstGeom>
          <a:solidFill>
            <a:srgbClr val="3A6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617517" y="205394"/>
            <a:ext cx="4013860" cy="284537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34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1"/>
          <p:cNvSpPr txBox="1"/>
          <p:nvPr/>
        </p:nvSpPr>
        <p:spPr>
          <a:xfrm>
            <a:off x="7343764" y="7633600"/>
            <a:ext cx="353481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9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IN" sz="139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39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36587" y="1904602"/>
            <a:ext cx="89497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 smtClean="0"/>
              <a:t>Find out Whether there is any relation between or among of the variables.</a:t>
            </a:r>
            <a:endParaRPr lang="en-US" sz="2800" b="1" dirty="0" smtClean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 smtClean="0"/>
              <a:t> Strength of the relationship.</a:t>
            </a:r>
            <a:endParaRPr 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1878" y="0"/>
            <a:ext cx="3775829" cy="4080511"/>
          </a:xfrm>
          <a:prstGeom prst="flowChartDocument">
            <a:avLst/>
          </a:prstGeom>
          <a:solidFill>
            <a:srgbClr val="3A6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617517" y="205394"/>
            <a:ext cx="4013860" cy="284537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34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algn="l" defTabSz="1123315" rtl="0" eaLnBrk="1" latinLnBrk="0" hangingPunct="1">
              <a:defRPr sz="22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OUTLINE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1"/>
          <p:cNvSpPr txBox="1"/>
          <p:nvPr/>
        </p:nvSpPr>
        <p:spPr>
          <a:xfrm>
            <a:off x="7343764" y="7633600"/>
            <a:ext cx="353481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9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IN" sz="139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39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36587" y="1904602"/>
            <a:ext cx="83664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 smtClean="0"/>
              <a:t>Measure </a:t>
            </a:r>
            <a:r>
              <a:rPr lang="en-US" sz="2800" b="1" dirty="0"/>
              <a:t>correlation by correlation co-efficient (r)</a:t>
            </a:r>
            <a:endParaRPr lang="en-US" sz="28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/>
              <a:t>Interpretation of r</a:t>
            </a:r>
            <a:endParaRPr lang="en-US" sz="28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/>
              <a:t>Properties of r</a:t>
            </a:r>
            <a:endParaRPr lang="en-US" sz="28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/>
              <a:t>Advantages, disadvantages and uses of correlation </a:t>
            </a:r>
            <a:r>
              <a:rPr lang="en-US" sz="2800" b="1" dirty="0" smtClean="0"/>
              <a:t>coefficient.</a:t>
            </a:r>
            <a:endParaRPr lang="en-US" sz="2800" b="1" dirty="0" smtClean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 smtClean="0"/>
              <a:t>Exercise.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1"/>
          <p:cNvSpPr txBox="1"/>
          <p:nvPr/>
        </p:nvSpPr>
        <p:spPr>
          <a:xfrm>
            <a:off x="2383118" y="2637669"/>
            <a:ext cx="7098507" cy="2820596"/>
          </a:xfrm>
          <a:prstGeom prst="rect">
            <a:avLst/>
          </a:prstGeom>
        </p:spPr>
        <p:txBody>
          <a:bodyPr>
            <a:normAutofit/>
          </a:bodyPr>
          <a:lstStyle>
            <a:lvl1pPr marL="266065" indent="-266065" algn="l" defTabSz="1062990" rtl="0" eaLnBrk="1" latinLnBrk="0" hangingPunct="1">
              <a:lnSpc>
                <a:spcPct val="90000"/>
              </a:lnSpc>
              <a:spcBef>
                <a:spcPts val="1165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7560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7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9055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0550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0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045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0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3540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0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5035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0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86530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0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18025" indent="-266065" algn="l" defTabSz="1062990" rtl="0" eaLnBrk="1" latinLnBrk="0" hangingPunct="1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defRPr sz="20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900" indent="-51435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Scatter Diagram Method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6900" indent="-51435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Karl Pearson’s Correlation Coefficient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12386" y="2902816"/>
            <a:ext cx="21590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82550" indent="0" algn="ctr">
              <a:buNone/>
            </a:pP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We will practice the </a:t>
            </a:r>
            <a:r>
              <a:rPr lang="en-US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maths</a:t>
            </a: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of 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this technique.</a:t>
            </a:r>
            <a:endParaRPr lang="en-US" sz="1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2" name="Right Brace 11"/>
          <p:cNvSpPr/>
          <p:nvPr/>
        </p:nvSpPr>
        <p:spPr>
          <a:xfrm>
            <a:off x="8872025" y="2904967"/>
            <a:ext cx="445396" cy="10048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0611" y="315017"/>
            <a:ext cx="6880860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STUDYING CORRELATION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0611" y="1406951"/>
            <a:ext cx="1052439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dirty="0" smtClean="0"/>
              <a:t>Correlation can be studied by the following methods: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6285" y="1543593"/>
            <a:ext cx="63336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 Karl Pearson’s Correlation Coefficient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75384" y="2332249"/>
                <a:ext cx="6324600" cy="307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200" dirty="0"/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/>
                          <a:ea typeface="Cambria Math" panose="02040503050406030204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/>
                          <a:ea typeface="Cambria Math" panose="02040503050406030204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/>
                          <a:ea typeface="Cambria Math" panose="02040503050406030204"/>
                        </a:rPr>
                        <m:t> 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) 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84" y="2332249"/>
                <a:ext cx="6324600" cy="3077317"/>
              </a:xfrm>
              <a:prstGeom prst="rect">
                <a:avLst/>
              </a:prstGeom>
              <a:blipFill rotWithShape="1">
                <a:blip r:embed="rId1"/>
                <a:stretch>
                  <a:fillRect l="-1" t="-17" r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85993" y="4780757"/>
            <a:ext cx="5638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Where, n= number of pairs in sample.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/>
          </a:p>
        </p:txBody>
      </p:sp>
      <p:pic>
        <p:nvPicPr>
          <p:cNvPr id="4098" name="Picture 2" descr="C:\Users\User\Desktop\New folder\Summer'2020\Pic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806" y="1556649"/>
            <a:ext cx="6425012" cy="506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8793" y="477485"/>
            <a:ext cx="1161677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Calculation of correlation by Karl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Pearson’s Correlation Coefficient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6351" y="1306401"/>
            <a:ext cx="117275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/>
              <a:t>Problem: </a:t>
            </a:r>
            <a:r>
              <a:rPr lang="en-US" sz="2400" dirty="0"/>
              <a:t>Mr. Johnson is concerned about the cost to students of textbooks. He believes there is a relationship between the number of pages in the text and the selling price of the book.  To provide insight into the problem he selects a sample of </a:t>
            </a:r>
            <a:r>
              <a:rPr lang="en-US" sz="2400" dirty="0" smtClean="0"/>
              <a:t>four</a:t>
            </a:r>
            <a:r>
              <a:rPr lang="en-US" sz="2400" dirty="0" smtClean="0"/>
              <a:t> </a:t>
            </a:r>
            <a:r>
              <a:rPr lang="en-US" sz="2400" dirty="0"/>
              <a:t>textbooks currently on sale in the bookstore. Compute the correlation coefficient.</a:t>
            </a:r>
            <a:endParaRPr lang="en-US" sz="2400" dirty="0"/>
          </a:p>
          <a:p>
            <a:pPr algn="just"/>
            <a:endParaRPr lang="en-US" sz="2400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51" y="3525892"/>
            <a:ext cx="9628850" cy="23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628347" y="5834371"/>
            <a:ext cx="62048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a) Draw Scatter diagram</a:t>
            </a:r>
            <a:endParaRPr lang="en-US" sz="2200" dirty="0"/>
          </a:p>
          <a:p>
            <a:r>
              <a:rPr lang="en-US" sz="2200" dirty="0"/>
              <a:t>b) Determine the coefficient of correlation</a:t>
            </a:r>
            <a:endParaRPr lang="en-US" sz="2200" dirty="0"/>
          </a:p>
          <a:p>
            <a:r>
              <a:rPr lang="en-US" sz="2200" dirty="0"/>
              <a:t>c) Interpret the result.</a:t>
            </a:r>
            <a:endParaRPr lang="en-US" sz="2200" dirty="0"/>
          </a:p>
        </p:txBody>
      </p:sp>
      <p:sp>
        <p:nvSpPr>
          <p:cNvPr id="3" name="Rectangle 2"/>
          <p:cNvSpPr/>
          <p:nvPr/>
        </p:nvSpPr>
        <p:spPr>
          <a:xfrm>
            <a:off x="406204" y="383755"/>
            <a:ext cx="6655778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correlation calculation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103" y="1214894"/>
            <a:ext cx="4982918" cy="322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2791" y="1375316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/>
              <a:t>Solution:</a:t>
            </a:r>
            <a:endParaRPr lang="en-US" sz="2200" dirty="0"/>
          </a:p>
          <a:p>
            <a:r>
              <a:rPr lang="en-US" sz="2200" dirty="0"/>
              <a:t>a) Scatter diagram:</a:t>
            </a:r>
            <a:endParaRPr lang="en-US" sz="2200" dirty="0"/>
          </a:p>
        </p:txBody>
      </p:sp>
      <p:sp>
        <p:nvSpPr>
          <p:cNvPr id="7" name="Rectangle 6"/>
          <p:cNvSpPr/>
          <p:nvPr/>
        </p:nvSpPr>
        <p:spPr>
          <a:xfrm>
            <a:off x="646221" y="3919988"/>
            <a:ext cx="53024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b) Here,</a:t>
            </a:r>
            <a:endParaRPr lang="en-US" sz="2200" dirty="0"/>
          </a:p>
          <a:p>
            <a:r>
              <a:rPr lang="en-US" sz="2200" dirty="0"/>
              <a:t>We </a:t>
            </a:r>
            <a:r>
              <a:rPr lang="en-US" sz="2200" dirty="0" smtClean="0"/>
              <a:t>know, Correlation coefficient, </a:t>
            </a:r>
            <a:endParaRPr lang="en-US" sz="2200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8896026" y="4689429"/>
          <a:ext cx="2842167" cy="1173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" name="" r:id="rId2" imgW="1473200" imgH="609600" progId="Equation.DSMT4">
                  <p:embed/>
                </p:oleObj>
              </mc:Choice>
              <mc:Fallback>
                <p:oleObj name="" r:id="rId2" imgW="1473200" imgH="609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6026" y="4689429"/>
                        <a:ext cx="2842167" cy="11735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8756236" y="5919257"/>
          <a:ext cx="3272689" cy="1387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" name="" r:id="rId4" imgW="1435100" imgH="609600" progId="Equation.DSMT4">
                  <p:embed/>
                </p:oleObj>
              </mc:Choice>
              <mc:Fallback>
                <p:oleObj name="" r:id="rId4" imgW="1435100" imgH="609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6236" y="5919257"/>
                        <a:ext cx="3272689" cy="13871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720203" y="4841677"/>
                <a:ext cx="5610496" cy="307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200" dirty="0"/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/>
                          <a:ea typeface="Cambria Math" panose="02040503050406030204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/>
                          <a:ea typeface="Cambria Math" panose="02040503050406030204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/>
                          <a:ea typeface="Cambria Math" panose="02040503050406030204"/>
                        </a:rPr>
                        <m:t> 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) 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/>
                                              <a:ea typeface="Cambria Math" panose="02040503050406030204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203" y="4841677"/>
                <a:ext cx="5610496" cy="3077317"/>
              </a:xfrm>
              <a:prstGeom prst="rect">
                <a:avLst/>
              </a:prstGeom>
              <a:blipFill rotWithShape="1">
                <a:blip r:embed="rId6"/>
                <a:stretch>
                  <a:fillRect l="-11" t="-14" r="5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/>
          <p:cNvSpPr/>
          <p:nvPr/>
        </p:nvSpPr>
        <p:spPr>
          <a:xfrm>
            <a:off x="3764091" y="1760036"/>
            <a:ext cx="3829080" cy="384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593171" y="5185497"/>
            <a:ext cx="877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Where,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06204" y="383755"/>
            <a:ext cx="6655778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correlation calculation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10" name="Picture 1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04" y="1590675"/>
            <a:ext cx="2693457" cy="338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11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444" y="1450640"/>
            <a:ext cx="2930936" cy="353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12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378" y="1590675"/>
            <a:ext cx="3294091" cy="338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13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469" y="1590675"/>
            <a:ext cx="3126507" cy="338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06204" y="383755"/>
            <a:ext cx="6655778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correlation calculation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4830" y="1517210"/>
            <a:ext cx="46396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Now,</a:t>
            </a:r>
            <a:endParaRPr lang="en-US" sz="2400" dirty="0"/>
          </a:p>
          <a:p>
            <a:r>
              <a:rPr lang="en-US" sz="2400" dirty="0"/>
              <a:t>From the correlation coefficient </a:t>
            </a:r>
            <a:endParaRPr lang="en-US" sz="2400" dirty="0"/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830" y="2845053"/>
            <a:ext cx="4470560" cy="214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831" y="3267124"/>
            <a:ext cx="16972547" cy="129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831" y="5260898"/>
            <a:ext cx="19106147" cy="609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06204" y="383755"/>
            <a:ext cx="6655778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correlation calculation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204" y="1489265"/>
            <a:ext cx="11298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c) Interpretation: </a:t>
            </a:r>
            <a:r>
              <a:rPr lang="en-US" sz="2400" dirty="0"/>
              <a:t>The correlation between the number of pages and the selling price of the book is 0.511. This indicates </a:t>
            </a:r>
            <a:r>
              <a:rPr lang="en-US" sz="2400"/>
              <a:t>a </a:t>
            </a:r>
            <a:r>
              <a:rPr lang="en-US" sz="2400" smtClean="0"/>
              <a:t>positive moderate </a:t>
            </a:r>
            <a:r>
              <a:rPr lang="en-US" sz="2400" dirty="0"/>
              <a:t>association between the </a:t>
            </a:r>
            <a:r>
              <a:rPr lang="en-US" sz="2400" dirty="0" smtClean="0"/>
              <a:t>variables.   </a:t>
            </a:r>
            <a:endParaRPr lang="en-US" sz="2400" dirty="0"/>
          </a:p>
          <a:p>
            <a:endParaRPr lang="en-US" sz="2200" dirty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771447" y="2774526"/>
            <a:ext cx="458882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Correlation Coefficient Interpretation: 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6204" y="383755"/>
            <a:ext cx="6655778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correlation calculation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166" y="3713244"/>
            <a:ext cx="11902965" cy="2711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501" y="436098"/>
            <a:ext cx="6483030" cy="53553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Properties of correlation coefficient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01" y="1400476"/>
            <a:ext cx="15195736" cy="9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70" y="2395990"/>
            <a:ext cx="11242256" cy="736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158239" y="2959963"/>
            <a:ext cx="85632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2.</a:t>
            </a:r>
            <a:r>
              <a:rPr lang="en-US" sz="2400" dirty="0"/>
              <a:t>	Correlation coefficient has no </a:t>
            </a:r>
            <a:r>
              <a:rPr lang="en-US" sz="2400" dirty="0" smtClean="0"/>
              <a:t>unit.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158240" y="3560802"/>
            <a:ext cx="82241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3.</a:t>
            </a:r>
            <a:r>
              <a:rPr lang="en-US" sz="2400" dirty="0"/>
              <a:t>	Correlation coefficient can only measures linear relationship.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158238" y="4114800"/>
            <a:ext cx="101354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4.</a:t>
            </a:r>
            <a:r>
              <a:rPr lang="en-US" sz="2400" dirty="0"/>
              <a:t>	Correlation coefficient can only be measured for quantitative variables.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3" y="1748741"/>
            <a:ext cx="9766875" cy="2429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4688888"/>
            <a:ext cx="10185859" cy="2007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8392" y="317895"/>
            <a:ext cx="6751044" cy="59093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Criteria of Correlation coefficient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502" y="436099"/>
            <a:ext cx="5637837" cy="53553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Some exercise Problems to solve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00841" y="1775282"/>
            <a:ext cx="34497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 Correlation coefficient and interpret it.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Draw scatter </a:t>
            </a:r>
            <a:r>
              <a:rPr lang="en-US" sz="2400" dirty="0" smtClean="0"/>
              <a:t>diagram</a:t>
            </a:r>
            <a:r>
              <a:rPr lang="en-US" sz="2400" dirty="0"/>
              <a:t>.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6" y="1628774"/>
            <a:ext cx="9380080" cy="29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6" y="4604083"/>
            <a:ext cx="11215606" cy="289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139485" y="1628774"/>
            <a:ext cx="511444" cy="293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50780" y="4641742"/>
            <a:ext cx="511444" cy="294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502" y="436099"/>
            <a:ext cx="5637837" cy="53553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Some exercise Problems to solve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399" y="2189501"/>
            <a:ext cx="38180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 Correlation coefficient and interpret it.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Draw scatter </a:t>
            </a:r>
            <a:r>
              <a:rPr lang="en-US" sz="2400" dirty="0" smtClean="0"/>
              <a:t>diagram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7" name="Right Arrow 6"/>
          <p:cNvSpPr/>
          <p:nvPr/>
        </p:nvSpPr>
        <p:spPr>
          <a:xfrm>
            <a:off x="634461" y="1460067"/>
            <a:ext cx="548253" cy="263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714" y="4587497"/>
            <a:ext cx="10301519" cy="271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660615" y="4587498"/>
            <a:ext cx="522099" cy="263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775" y="1454154"/>
            <a:ext cx="9878304" cy="3133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</a:fld>
            <a:endParaRPr lang="en-IN"/>
          </a:p>
        </p:txBody>
      </p:sp>
      <p:pic>
        <p:nvPicPr>
          <p:cNvPr id="3074" name="Picture 2" descr="C:\Users\User\Desktop\New folder\Summer'2020\Pic\images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145" y="1826859"/>
            <a:ext cx="7975023" cy="448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C64C5810D5B340B5AF730A05A47286" ma:contentTypeVersion="8" ma:contentTypeDescription="Ein neues Dokument erstellen." ma:contentTypeScope="" ma:versionID="683c182e13f78e36779d649cd0a7292b">
  <xsd:schema xmlns:xsd="http://www.w3.org/2001/XMLSchema" xmlns:xs="http://www.w3.org/2001/XMLSchema" xmlns:p="http://schemas.microsoft.com/office/2006/metadata/properties" xmlns:ns3="01e2b7a1-b8e0-4120-b79e-cd741afd5999" targetNamespace="http://schemas.microsoft.com/office/2006/metadata/properties" ma:root="true" ma:fieldsID="6da0001eca0b83fb1f54f6d1020b5c7c" ns3:_="">
    <xsd:import namespace="01e2b7a1-b8e0-4120-b79e-cd741afd59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2b7a1-b8e0-4120-b79e-cd741afd59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882CEC-27A7-4760-B194-0F488A305EF3}">
  <ds:schemaRefs/>
</ds:datastoreItem>
</file>

<file path=customXml/itemProps2.xml><?xml version="1.0" encoding="utf-8"?>
<ds:datastoreItem xmlns:ds="http://schemas.openxmlformats.org/officeDocument/2006/customXml" ds:itemID="{FEFAAD97-E65A-45F3-B3F1-A1E228F66B5F}">
  <ds:schemaRefs/>
</ds:datastoreItem>
</file>

<file path=customXml/itemProps3.xml><?xml version="1.0" encoding="utf-8"?>
<ds:datastoreItem xmlns:ds="http://schemas.openxmlformats.org/officeDocument/2006/customXml" ds:itemID="{0D278ADD-8DA4-42BC-AFD5-B010DB7F143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</Words>
  <Application>WPS Presentation</Application>
  <PresentationFormat>Custom</PresentationFormat>
  <Paragraphs>133</Paragraphs>
  <Slides>15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 Light</vt:lpstr>
      <vt:lpstr>Times New Roman</vt:lpstr>
      <vt:lpstr>Cambria Math</vt:lpstr>
      <vt:lpstr>Cambria Math</vt:lpstr>
      <vt:lpstr>Microsoft YaHei</vt:lpstr>
      <vt:lpstr>Arial Unicode MS</vt:lpstr>
      <vt:lpstr>Calibri</vt:lpstr>
      <vt:lpstr>Office Theme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IBRAHIM</dc:creator>
  <cp:lastModifiedBy>Tanzim Ahamed.</cp:lastModifiedBy>
  <cp:revision>89</cp:revision>
  <dcterms:created xsi:type="dcterms:W3CDTF">2020-05-06T13:37:00Z</dcterms:created>
  <dcterms:modified xsi:type="dcterms:W3CDTF">2025-11-04T18:18:27Z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219F037E11A6482182405474C6D02981_12</vt:lpwstr>
  </property>
  <property fmtid="{D5CDD505-2E9C-101B-9397-08002B2CF9AE}" pid="3" name="KSOProductBuildVer">
    <vt:lpwstr>1033-12.2.0.23155</vt:lpwstr>
  </property>
</Properties>
</file>