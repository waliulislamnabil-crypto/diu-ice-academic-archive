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4"/>
    <p:sldMasterId id="2147483764" r:id="rId5"/>
  </p:sldMasterIdLst>
  <p:notesMasterIdLst>
    <p:notesMasterId r:id="rId22"/>
  </p:notesMasterIdLst>
  <p:sldIdLst>
    <p:sldId id="258" r:id="rId6"/>
    <p:sldId id="275" r:id="rId7"/>
    <p:sldId id="289" r:id="rId8"/>
    <p:sldId id="301" r:id="rId9"/>
    <p:sldId id="276" r:id="rId10"/>
    <p:sldId id="277" r:id="rId11"/>
    <p:sldId id="290" r:id="rId12"/>
    <p:sldId id="291" r:id="rId13"/>
    <p:sldId id="308" r:id="rId14"/>
    <p:sldId id="292" r:id="rId15"/>
    <p:sldId id="293" r:id="rId16"/>
    <p:sldId id="294" r:id="rId17"/>
    <p:sldId id="306" r:id="rId18"/>
    <p:sldId id="295" r:id="rId19"/>
    <p:sldId id="305" r:id="rId20"/>
    <p:sldId id="273" r:id="rId21"/>
  </p:sldIdLst>
  <p:sldSz cx="15119350" cy="7920038"/>
  <p:notesSz cx="9144000" cy="6858000"/>
  <p:defaultTextStyle>
    <a:defPPr>
      <a:defRPr lang="en-US"/>
    </a:defPPr>
    <a:lvl1pPr marL="0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1pPr>
    <a:lvl2pPr marL="501031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2pPr>
    <a:lvl3pPr marL="1002063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3pPr>
    <a:lvl4pPr marL="1503095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4pPr>
    <a:lvl5pPr marL="2004126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5pPr>
    <a:lvl6pPr marL="2505158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6pPr>
    <a:lvl7pPr marL="3006189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7pPr>
    <a:lvl8pPr marL="3507220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8pPr>
    <a:lvl9pPr marL="4008252" algn="l" defTabSz="1002063" rtl="0" eaLnBrk="1" latinLnBrk="0" hangingPunct="1">
      <a:defRPr sz="197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68" userDrawn="1">
          <p15:clr>
            <a:srgbClr val="A4A3A4"/>
          </p15:clr>
        </p15:guide>
        <p15:guide id="2" pos="47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C8EE"/>
    <a:srgbClr val="B889DB"/>
    <a:srgbClr val="A568D2"/>
    <a:srgbClr val="8439BD"/>
    <a:srgbClr val="934BC9"/>
    <a:srgbClr val="EDED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390" y="66"/>
      </p:cViewPr>
      <p:guideLst>
        <p:guide orient="horz" pos="2468"/>
        <p:guide pos="47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5" y="1"/>
            <a:ext cx="3962400" cy="344091"/>
          </a:xfrm>
          <a:prstGeom prst="rect">
            <a:avLst/>
          </a:prstGeom>
        </p:spPr>
        <p:txBody>
          <a:bodyPr vert="horz" lIns="91436" tIns="45719" rIns="91436" bIns="45719" rtlCol="0"/>
          <a:lstStyle>
            <a:lvl1pPr algn="r">
              <a:defRPr sz="1200"/>
            </a:lvl1pPr>
          </a:lstStyle>
          <a:p>
            <a:fld id="{631EF024-19AE-40D1-A564-21E423BF1498}" type="datetimeFigureOut">
              <a:rPr lang="en-IN" smtClean="0"/>
              <a:t>01-06-2020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3788" y="857250"/>
            <a:ext cx="44164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6" tIns="45719" rIns="91436" bIns="4571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36" tIns="45719" rIns="91436" bIns="457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5" y="6513910"/>
            <a:ext cx="3962400" cy="344090"/>
          </a:xfrm>
          <a:prstGeom prst="rect">
            <a:avLst/>
          </a:prstGeom>
        </p:spPr>
        <p:txBody>
          <a:bodyPr vert="horz" lIns="91436" tIns="45719" rIns="91436" bIns="45719" rtlCol="0" anchor="b"/>
          <a:lstStyle>
            <a:lvl1pPr algn="r">
              <a:defRPr sz="1200"/>
            </a:lvl1pPr>
          </a:lstStyle>
          <a:p>
            <a:fld id="{CC3427E7-5989-485B-B90B-4098793D52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86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1pPr>
    <a:lvl2pPr marL="501031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2pPr>
    <a:lvl3pPr marL="1002063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3pPr>
    <a:lvl4pPr marL="1503095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4pPr>
    <a:lvl5pPr marL="2004126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5pPr>
    <a:lvl6pPr marL="2505158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6pPr>
    <a:lvl7pPr marL="3006189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7pPr>
    <a:lvl8pPr marL="3507220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8pPr>
    <a:lvl9pPr marL="4008252" algn="l" defTabSz="1002063" rtl="0" eaLnBrk="1" latinLnBrk="0" hangingPunct="1">
      <a:defRPr sz="131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456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0795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3427E7-5989-485B-B90B-4098793D52E7}" type="slidenum">
              <a:rPr lang="en-IN" smtClean="0">
                <a:solidFill>
                  <a:prstClr val="black"/>
                </a:solidFill>
              </a:rPr>
              <a:pPr/>
              <a:t>16</a:t>
            </a:fld>
            <a:endParaRPr lang="en-I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374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19" y="1296173"/>
            <a:ext cx="11339513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4159854"/>
            <a:ext cx="11339513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E70E-F72E-43B1-8793-977D89C56C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804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83E70E-F72E-43B1-8793-977D89C56C7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49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1" y="1974511"/>
            <a:ext cx="13040439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1" y="5300193"/>
            <a:ext cx="13040439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>
                    <a:tint val="75000"/>
                  </a:schemeClr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575781" y="7443130"/>
            <a:ext cx="3401854" cy="421669"/>
          </a:xfrm>
          <a:prstGeom prst="rect">
            <a:avLst/>
          </a:prstGeom>
        </p:spPr>
        <p:txBody>
          <a:bodyPr/>
          <a:lstStyle/>
          <a:p>
            <a:fld id="{9478C992-D84A-4E5B-8FF3-725D20E477AE}" type="datetime1">
              <a:rPr lang="en-IN" smtClean="0"/>
              <a:t>01-06-2020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37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108344"/>
            <a:ext cx="6425724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108344"/>
            <a:ext cx="6425724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8DAE9BF8-3712-42D3-B9CE-E8E248C260D6}" type="datetime1">
              <a:rPr lang="en-IN" smtClean="0"/>
              <a:t>01-06-2020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40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421669"/>
            <a:ext cx="13040439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5" y="1941510"/>
            <a:ext cx="6396193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5" y="2893014"/>
            <a:ext cx="6396193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1" y="1941510"/>
            <a:ext cx="6427693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1" y="2893014"/>
            <a:ext cx="6427693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4C48FE52-ECBC-44F5-B817-54A3EA0E4251}" type="datetime1">
              <a:rPr lang="en-IN" smtClean="0"/>
              <a:t>01-06-2020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004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DBB2E2B5-69B5-472F-871D-A62F87F78089}" type="datetime1">
              <a:rPr lang="en-IN" smtClean="0"/>
              <a:t>01-06-2020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91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89701389-26BB-4E01-8FBF-2F6EDAD344DB}" type="datetime1">
              <a:rPr lang="en-IN" smtClean="0"/>
              <a:t>01-06-2020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26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28002"/>
            <a:ext cx="4876383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140340"/>
            <a:ext cx="7654171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376011"/>
            <a:ext cx="4876383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8F2399EF-EC64-4A3B-94D0-74F6EE74A7FC}" type="datetime1">
              <a:rPr lang="en-IN" smtClean="0"/>
              <a:t>01-06-2020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49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28002"/>
            <a:ext cx="4876383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140340"/>
            <a:ext cx="7654171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376011"/>
            <a:ext cx="4876383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51AD9B5E-FA93-420E-B3A8-8FC4C09B0505}" type="datetime1">
              <a:rPr lang="en-IN" smtClean="0"/>
              <a:t>01-06-2020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8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BA41665D-6E89-4825-90DF-386CCC434790}" type="datetime1">
              <a:rPr lang="en-IN" smtClean="0"/>
              <a:t>01-06-2020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10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5" y="421669"/>
            <a:ext cx="3260110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5" y="421669"/>
            <a:ext cx="9591338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E8F9E5FF-8155-4536-B003-5D25527BB1B5}" type="datetime1">
              <a:rPr lang="en-IN" smtClean="0"/>
              <a:t>01-06-2020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675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19" y="1296173"/>
            <a:ext cx="11339513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4159854"/>
            <a:ext cx="11339513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E70E-F72E-43B1-8793-977D89C56C7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397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83E70E-F72E-43B1-8793-977D89C56C7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901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1" y="1974511"/>
            <a:ext cx="13040439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1" y="5300193"/>
            <a:ext cx="13040439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>
                    <a:tint val="75000"/>
                  </a:schemeClr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575781" y="7443130"/>
            <a:ext cx="3401854" cy="421669"/>
          </a:xfrm>
          <a:prstGeom prst="rect">
            <a:avLst/>
          </a:prstGeom>
        </p:spPr>
        <p:txBody>
          <a:bodyPr/>
          <a:lstStyle/>
          <a:p>
            <a:fld id="{9478C992-D84A-4E5B-8FF3-725D20E477AE}" type="datetime1">
              <a:rPr lang="en-IN" smtClean="0">
                <a:solidFill>
                  <a:prstClr val="black"/>
                </a:solidFill>
              </a:rPr>
              <a:pPr/>
              <a:t>01-06-2020</a:t>
            </a:fld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09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108344"/>
            <a:ext cx="6425724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108344"/>
            <a:ext cx="6425724" cy="5025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8DAE9BF8-3712-42D3-B9CE-E8E248C260D6}" type="datetime1">
              <a:rPr lang="en-IN" smtClean="0">
                <a:solidFill>
                  <a:prstClr val="black"/>
                </a:solidFill>
              </a:rPr>
              <a:pPr/>
              <a:t>01-06-2020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2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421669"/>
            <a:ext cx="13040439" cy="153084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5" y="1941510"/>
            <a:ext cx="6396193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5" y="2893014"/>
            <a:ext cx="6396193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1" y="1941510"/>
            <a:ext cx="6427693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1" y="2893014"/>
            <a:ext cx="6427693" cy="425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4C48FE52-ECBC-44F5-B817-54A3EA0E4251}" type="datetime1">
              <a:rPr lang="en-IN" smtClean="0">
                <a:solidFill>
                  <a:prstClr val="black"/>
                </a:solidFill>
              </a:rPr>
              <a:pPr/>
              <a:t>01-06-2020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29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DBB2E2B5-69B5-472F-871D-A62F87F78089}" type="datetime1">
              <a:rPr lang="en-IN" smtClean="0">
                <a:solidFill>
                  <a:prstClr val="black"/>
                </a:solidFill>
              </a:rPr>
              <a:pPr/>
              <a:t>01-06-2020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87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89701389-26BB-4E01-8FBF-2F6EDAD344DB}" type="datetime1">
              <a:rPr lang="en-IN" smtClean="0">
                <a:solidFill>
                  <a:prstClr val="black"/>
                </a:solidFill>
              </a:rPr>
              <a:pPr/>
              <a:t>01-06-2020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545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28002"/>
            <a:ext cx="4876383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140340"/>
            <a:ext cx="7654171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376011"/>
            <a:ext cx="4876383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8F2399EF-EC64-4A3B-94D0-74F6EE74A7FC}" type="datetime1">
              <a:rPr lang="en-IN" smtClean="0">
                <a:solidFill>
                  <a:prstClr val="black"/>
                </a:solidFill>
              </a:rPr>
              <a:pPr/>
              <a:t>01-06-2020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 dirty="0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27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28002"/>
            <a:ext cx="4876383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140340"/>
            <a:ext cx="7654171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2376011"/>
            <a:ext cx="4876383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51AD9B5E-FA93-420E-B3A8-8FC4C09B0505}" type="datetime1">
              <a:rPr lang="en-IN" smtClean="0">
                <a:solidFill>
                  <a:prstClr val="black"/>
                </a:solidFill>
              </a:rPr>
              <a:pPr/>
              <a:t>01-06-2020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4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BA41665D-6E89-4825-90DF-386CCC434790}" type="datetime1">
              <a:rPr lang="en-IN" smtClean="0">
                <a:solidFill>
                  <a:prstClr val="black"/>
                </a:solidFill>
              </a:rPr>
              <a:pPr/>
              <a:t>01-06-2020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02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5" y="421669"/>
            <a:ext cx="3260110" cy="67118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5" y="421669"/>
            <a:ext cx="9591338" cy="6711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9455" y="7340702"/>
            <a:ext cx="3401854" cy="421669"/>
          </a:xfrm>
          <a:prstGeom prst="rect">
            <a:avLst/>
          </a:prstGeom>
        </p:spPr>
        <p:txBody>
          <a:bodyPr/>
          <a:lstStyle/>
          <a:p>
            <a:fld id="{E8F9E5FF-8155-4536-B003-5D25527BB1B5}" type="datetime1">
              <a:rPr lang="en-IN" smtClean="0">
                <a:solidFill>
                  <a:prstClr val="black"/>
                </a:solidFill>
              </a:rPr>
              <a:pPr/>
              <a:t>01-06-2020</a:t>
            </a:fld>
            <a:endParaRPr lang="en-IN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08285" y="7340702"/>
            <a:ext cx="5102781" cy="421669"/>
          </a:xfrm>
          <a:prstGeom prst="rect">
            <a:avLst/>
          </a:prstGeom>
        </p:spPr>
        <p:txBody>
          <a:bodyPr/>
          <a:lstStyle/>
          <a:p>
            <a:endParaRPr lang="en-IN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82BD9-7DAA-4EC3-995F-9B816A84184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960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6E3BA7B0-1BDD-4A74-8ACA-EAC1A0F7981D}"/>
              </a:ext>
            </a:extLst>
          </p:cNvPr>
          <p:cNvSpPr/>
          <p:nvPr userDrawn="1"/>
        </p:nvSpPr>
        <p:spPr>
          <a:xfrm>
            <a:off x="-2" y="7314051"/>
            <a:ext cx="15119350" cy="6059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5" y="682926"/>
            <a:ext cx="13040439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108344"/>
            <a:ext cx="13040439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55728" y="7443131"/>
            <a:ext cx="3401854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E70E-F72E-43B1-8793-977D89C56C76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570863-C584-3847-B1CC-09BCD3C07F19}"/>
              </a:ext>
            </a:extLst>
          </p:cNvPr>
          <p:cNvSpPr/>
          <p:nvPr userDrawn="1"/>
        </p:nvSpPr>
        <p:spPr>
          <a:xfrm>
            <a:off x="2" y="0"/>
            <a:ext cx="15119350" cy="103950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A9E303-7512-6E4C-8E8C-20927A49A0FA}"/>
              </a:ext>
            </a:extLst>
          </p:cNvPr>
          <p:cNvSpPr/>
          <p:nvPr userDrawn="1"/>
        </p:nvSpPr>
        <p:spPr>
          <a:xfrm>
            <a:off x="2" y="1039512"/>
            <a:ext cx="15119350" cy="206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10FC8B-8E63-484A-BE90-C63D746E4877}"/>
              </a:ext>
            </a:extLst>
          </p:cNvPr>
          <p:cNvCxnSpPr>
            <a:cxnSpLocks/>
          </p:cNvCxnSpPr>
          <p:nvPr userDrawn="1"/>
        </p:nvCxnSpPr>
        <p:spPr>
          <a:xfrm>
            <a:off x="4" y="1039506"/>
            <a:ext cx="4927622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A9483E-03DF-439F-8952-7EC21310B002}"/>
              </a:ext>
            </a:extLst>
          </p:cNvPr>
          <p:cNvCxnSpPr>
            <a:cxnSpLocks/>
          </p:cNvCxnSpPr>
          <p:nvPr userDrawn="1"/>
        </p:nvCxnSpPr>
        <p:spPr>
          <a:xfrm>
            <a:off x="4927626" y="1039506"/>
            <a:ext cx="5264097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4EDE8D7-92BE-44FA-9B0D-3AD582FF555C}"/>
              </a:ext>
            </a:extLst>
          </p:cNvPr>
          <p:cNvCxnSpPr>
            <a:cxnSpLocks/>
          </p:cNvCxnSpPr>
          <p:nvPr userDrawn="1"/>
        </p:nvCxnSpPr>
        <p:spPr>
          <a:xfrm>
            <a:off x="9855253" y="1039506"/>
            <a:ext cx="5264097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C36F79D-3761-49A7-8C87-D3F4E738C322}"/>
              </a:ext>
            </a:extLst>
          </p:cNvPr>
          <p:cNvCxnSpPr>
            <a:cxnSpLocks/>
          </p:cNvCxnSpPr>
          <p:nvPr userDrawn="1"/>
        </p:nvCxnSpPr>
        <p:spPr>
          <a:xfrm>
            <a:off x="3" y="7309678"/>
            <a:ext cx="4927622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3AA0FD7-EC3A-4106-88A0-5CF0EF24ABC2}"/>
              </a:ext>
            </a:extLst>
          </p:cNvPr>
          <p:cNvCxnSpPr>
            <a:cxnSpLocks/>
          </p:cNvCxnSpPr>
          <p:nvPr userDrawn="1"/>
        </p:nvCxnSpPr>
        <p:spPr>
          <a:xfrm>
            <a:off x="4927625" y="7309678"/>
            <a:ext cx="5264097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E26433E-EB79-4748-87BA-6FC05811CA31}"/>
              </a:ext>
            </a:extLst>
          </p:cNvPr>
          <p:cNvCxnSpPr>
            <a:cxnSpLocks/>
          </p:cNvCxnSpPr>
          <p:nvPr userDrawn="1"/>
        </p:nvCxnSpPr>
        <p:spPr>
          <a:xfrm>
            <a:off x="9855252" y="7309678"/>
            <a:ext cx="5264097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05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056041" rtl="0" eaLnBrk="1" latinLnBrk="0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494" userDrawn="1">
          <p15:clr>
            <a:srgbClr val="F26B43"/>
          </p15:clr>
        </p15:guide>
        <p15:guide id="2" pos="476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6E3BA7B0-1BDD-4A74-8ACA-EAC1A0F7981D}"/>
              </a:ext>
            </a:extLst>
          </p:cNvPr>
          <p:cNvSpPr/>
          <p:nvPr userDrawn="1"/>
        </p:nvSpPr>
        <p:spPr>
          <a:xfrm>
            <a:off x="-2" y="7314051"/>
            <a:ext cx="15119350" cy="6059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5" y="682926"/>
            <a:ext cx="13040439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108344"/>
            <a:ext cx="13040439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55728" y="7443131"/>
            <a:ext cx="3401854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E70E-F72E-43B1-8793-977D89C56C76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570863-C584-3847-B1CC-09BCD3C07F19}"/>
              </a:ext>
            </a:extLst>
          </p:cNvPr>
          <p:cNvSpPr/>
          <p:nvPr userDrawn="1"/>
        </p:nvSpPr>
        <p:spPr>
          <a:xfrm>
            <a:off x="2" y="0"/>
            <a:ext cx="15119350" cy="103950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A9E303-7512-6E4C-8E8C-20927A49A0FA}"/>
              </a:ext>
            </a:extLst>
          </p:cNvPr>
          <p:cNvSpPr/>
          <p:nvPr userDrawn="1"/>
        </p:nvSpPr>
        <p:spPr>
          <a:xfrm>
            <a:off x="2" y="1039512"/>
            <a:ext cx="15119350" cy="2062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13" dirty="0">
              <a:solidFill>
                <a:prstClr val="white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10FC8B-8E63-484A-BE90-C63D746E4877}"/>
              </a:ext>
            </a:extLst>
          </p:cNvPr>
          <p:cNvCxnSpPr>
            <a:cxnSpLocks/>
          </p:cNvCxnSpPr>
          <p:nvPr userDrawn="1"/>
        </p:nvCxnSpPr>
        <p:spPr>
          <a:xfrm>
            <a:off x="4" y="1039506"/>
            <a:ext cx="4927622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A9483E-03DF-439F-8952-7EC21310B002}"/>
              </a:ext>
            </a:extLst>
          </p:cNvPr>
          <p:cNvCxnSpPr>
            <a:cxnSpLocks/>
          </p:cNvCxnSpPr>
          <p:nvPr userDrawn="1"/>
        </p:nvCxnSpPr>
        <p:spPr>
          <a:xfrm>
            <a:off x="4927626" y="1039506"/>
            <a:ext cx="5264097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4EDE8D7-92BE-44FA-9B0D-3AD582FF555C}"/>
              </a:ext>
            </a:extLst>
          </p:cNvPr>
          <p:cNvCxnSpPr>
            <a:cxnSpLocks/>
          </p:cNvCxnSpPr>
          <p:nvPr userDrawn="1"/>
        </p:nvCxnSpPr>
        <p:spPr>
          <a:xfrm>
            <a:off x="9855253" y="1039506"/>
            <a:ext cx="5264097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C36F79D-3761-49A7-8C87-D3F4E738C322}"/>
              </a:ext>
            </a:extLst>
          </p:cNvPr>
          <p:cNvCxnSpPr>
            <a:cxnSpLocks/>
          </p:cNvCxnSpPr>
          <p:nvPr userDrawn="1"/>
        </p:nvCxnSpPr>
        <p:spPr>
          <a:xfrm>
            <a:off x="3" y="7309678"/>
            <a:ext cx="4927622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3AA0FD7-EC3A-4106-88A0-5CF0EF24ABC2}"/>
              </a:ext>
            </a:extLst>
          </p:cNvPr>
          <p:cNvCxnSpPr>
            <a:cxnSpLocks/>
          </p:cNvCxnSpPr>
          <p:nvPr userDrawn="1"/>
        </p:nvCxnSpPr>
        <p:spPr>
          <a:xfrm>
            <a:off x="4927625" y="7309678"/>
            <a:ext cx="5264097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E26433E-EB79-4748-87BA-6FC05811CA31}"/>
              </a:ext>
            </a:extLst>
          </p:cNvPr>
          <p:cNvCxnSpPr>
            <a:cxnSpLocks/>
          </p:cNvCxnSpPr>
          <p:nvPr userDrawn="1"/>
        </p:nvCxnSpPr>
        <p:spPr>
          <a:xfrm>
            <a:off x="9855252" y="7309678"/>
            <a:ext cx="5264097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5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056041" rtl="0" eaLnBrk="1" latinLnBrk="0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0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0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494" userDrawn="1">
          <p15:clr>
            <a:srgbClr val="F26B43"/>
          </p15:clr>
        </p15:guide>
        <p15:guide id="2" pos="476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</a:t>
            </a:fld>
            <a:endParaRPr lang="en-IN"/>
          </a:p>
        </p:txBody>
      </p:sp>
      <p:sp>
        <p:nvSpPr>
          <p:cNvPr id="8" name="Flowchart: Predefined Process 7"/>
          <p:cNvSpPr/>
          <p:nvPr/>
        </p:nvSpPr>
        <p:spPr>
          <a:xfrm>
            <a:off x="1965278" y="1326656"/>
            <a:ext cx="11327311" cy="718070"/>
          </a:xfrm>
          <a:prstGeom prst="flowChartPredefinedProcess">
            <a:avLst/>
          </a:prstGeom>
          <a:solidFill>
            <a:srgbClr val="DEC8EE"/>
          </a:solidFill>
          <a:ln w="76200"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4000" b="1" dirty="0" smtClean="0">
                <a:ln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Welcome To….</a:t>
            </a:r>
            <a:endParaRPr lang="en-US" sz="4000" b="1" i="1" dirty="0">
              <a:ln/>
              <a:solidFill>
                <a:srgbClr val="C00000"/>
              </a:solidFill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431738" y="2316120"/>
            <a:ext cx="11732896" cy="4872252"/>
            <a:chOff x="2745499" y="2456599"/>
            <a:chExt cx="11732895" cy="4754858"/>
          </a:xfrm>
        </p:grpSpPr>
        <p:pic>
          <p:nvPicPr>
            <p:cNvPr id="14338" name="Picture 2" descr="C:\Users\User\Desktop\New folder\Summer'2020\Pic\1_UAGU532MbhR5cm3symwWqg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5499" y="2456599"/>
              <a:ext cx="9280476" cy="47548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9965107" y="5517873"/>
              <a:ext cx="4513287" cy="10512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>
              <a:spAutoFit/>
            </a:bodyPr>
            <a:lstStyle/>
            <a:p>
              <a:r>
                <a:rPr lang="en-US" sz="3200" dirty="0" smtClean="0">
                  <a:ln>
                    <a:solidFill>
                      <a:prstClr val="black">
                        <a:lumMod val="95000"/>
                        <a:lumOff val="5000"/>
                      </a:prstClr>
                    </a:solidFill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Chapter 02:</a:t>
              </a:r>
            </a:p>
            <a:p>
              <a:r>
                <a:rPr lang="en-US" sz="3200" dirty="0" smtClean="0">
                  <a:ln>
                    <a:solidFill>
                      <a:prstClr val="black">
                        <a:lumMod val="95000"/>
                        <a:lumOff val="5000"/>
                      </a:prstClr>
                    </a:solidFill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Data Presentation (part 1)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490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2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10262574" y="232912"/>
            <a:ext cx="4223016" cy="707886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algn="ctr"/>
            <a:r>
              <a:rPr lang="en-I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Learning outcomes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3353" y="1826985"/>
            <a:ext cx="10345411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600" dirty="0"/>
              <a:t>Know the appropriate tool for data </a:t>
            </a:r>
            <a:r>
              <a:rPr lang="en-US" sz="3600" dirty="0" smtClean="0"/>
              <a:t>presentation</a:t>
            </a:r>
          </a:p>
          <a:p>
            <a:pPr marL="457200" lvl="0" indent="-457200">
              <a:buFont typeface="Wingdings" pitchFamily="2" charset="2"/>
              <a:buChar char="q"/>
            </a:pPr>
            <a:endParaRPr lang="en-US" sz="3600" dirty="0" smtClean="0"/>
          </a:p>
          <a:p>
            <a:pPr marL="457200" indent="-457200">
              <a:buFont typeface="Wingdings" pitchFamily="2" charset="2"/>
              <a:buChar char="q"/>
            </a:pPr>
            <a:r>
              <a:rPr lang="en-US" sz="3600" dirty="0"/>
              <a:t>Exploring fact from data</a:t>
            </a:r>
          </a:p>
          <a:p>
            <a:pPr marL="457200" lvl="0" indent="-457200">
              <a:buFont typeface="Wingdings" pitchFamily="2" charset="2"/>
              <a:buChar char="q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816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3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591167" y="216870"/>
            <a:ext cx="2086085" cy="707886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algn="ctr"/>
            <a:r>
              <a:rPr lang="en-I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Contents</a:t>
            </a:r>
            <a:endParaRPr lang="en-I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8822" y="1993432"/>
            <a:ext cx="10545964" cy="28007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/>
              <a:t>Definition of Frequency Distribution with </a:t>
            </a:r>
            <a:r>
              <a:rPr lang="en-US" sz="3200" dirty="0" smtClean="0"/>
              <a:t>Examples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/>
              <a:t>Construction of Frequency Distribution for quantitative </a:t>
            </a:r>
            <a:r>
              <a:rPr lang="en-US" sz="3200" dirty="0" smtClean="0"/>
              <a:t>data</a:t>
            </a:r>
            <a:endParaRPr lang="en-US" sz="32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q"/>
            </a:pPr>
            <a:r>
              <a:rPr lang="en-US" sz="3200" dirty="0" smtClean="0"/>
              <a:t>Graphical </a:t>
            </a:r>
            <a:r>
              <a:rPr lang="en-US" sz="3200" dirty="0"/>
              <a:t>presentation </a:t>
            </a:r>
            <a:r>
              <a:rPr lang="en-US" sz="3200" dirty="0" smtClean="0"/>
              <a:t>of quantitative </a:t>
            </a:r>
            <a:r>
              <a:rPr lang="en-US" sz="3200" dirty="0" smtClean="0"/>
              <a:t>data</a:t>
            </a:r>
            <a:endParaRPr lang="en-US" sz="3200" dirty="0"/>
          </a:p>
          <a:p>
            <a:pPr marL="342900" lvl="0" indent="-342900">
              <a:buFont typeface="Wingdings" pitchFamily="2" charset="2"/>
              <a:buChar char="q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2396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4</a:t>
            </a:fld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629865" y="374525"/>
            <a:ext cx="4049250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algn="ctr"/>
            <a:r>
              <a:rPr lang="en-I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 of Data Presentation</a:t>
            </a:r>
            <a:endParaRPr lang="en-I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8" name="Diagram group"/>
          <p:cNvGrpSpPr/>
          <p:nvPr/>
        </p:nvGrpSpPr>
        <p:grpSpPr>
          <a:xfrm>
            <a:off x="11043948" y="1217345"/>
            <a:ext cx="3142677" cy="1802238"/>
            <a:chOff x="15684559" y="2120812"/>
            <a:chExt cx="3142677" cy="1802238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grpSp>
          <p:nvGrpSpPr>
            <p:cNvPr id="19" name="Group 18"/>
            <p:cNvGrpSpPr/>
            <p:nvPr/>
          </p:nvGrpSpPr>
          <p:grpSpPr>
            <a:xfrm>
              <a:off x="15684559" y="2120812"/>
              <a:ext cx="3142677" cy="1802238"/>
              <a:chOff x="15684559" y="2120812"/>
              <a:chExt cx="3142677" cy="1802238"/>
            </a:xfrm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</p:grpSpPr>
          <p:sp>
            <p:nvSpPr>
              <p:cNvPr id="20" name="Oval 19"/>
              <p:cNvSpPr/>
              <p:nvPr/>
            </p:nvSpPr>
            <p:spPr>
              <a:xfrm>
                <a:off x="15684559" y="2120812"/>
                <a:ext cx="3142677" cy="1802238"/>
              </a:xfrm>
              <a:prstGeom prst="ellipse">
                <a:avLst/>
              </a:prstGeom>
              <a:ln w="38100">
                <a:solidFill>
                  <a:schemeClr val="tx1"/>
                </a:solidFill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p3d prstMaterial="metal">
                <a:bevelT w="88900" h="88900"/>
              </a:sp3d>
            </p:spPr>
            <p:style>
              <a:lnRef idx="2">
                <a:scrgbClr r="0" g="0" b="0"/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1" name="Oval 4"/>
              <p:cNvSpPr/>
              <p:nvPr/>
            </p:nvSpPr>
            <p:spPr>
              <a:xfrm>
                <a:off x="16144792" y="2426527"/>
                <a:ext cx="2222209" cy="1274374"/>
              </a:xfrm>
              <a:prstGeom prst="rect">
                <a:avLst/>
              </a:prstGeom>
              <a:ln w="38100"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lvl="0" algn="ctr" defTabSz="1244600" rtl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800" kern="1200" dirty="0" smtClean="0"/>
                  <a:t>3. Textual </a:t>
                </a:r>
                <a:r>
                  <a:rPr lang="en-US" sz="2800" kern="1200" baseline="0" dirty="0" smtClean="0"/>
                  <a:t>Presentation of Data.</a:t>
                </a:r>
              </a:p>
            </p:txBody>
          </p:sp>
        </p:grpSp>
      </p:grpSp>
      <p:cxnSp>
        <p:nvCxnSpPr>
          <p:cNvPr id="27" name="Straight Connector 26"/>
          <p:cNvCxnSpPr/>
          <p:nvPr/>
        </p:nvCxnSpPr>
        <p:spPr>
          <a:xfrm>
            <a:off x="6346273" y="977799"/>
            <a:ext cx="0" cy="6465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10673255" y="1056290"/>
            <a:ext cx="0" cy="6227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208868" y="4434959"/>
            <a:ext cx="3298692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/>
              <a:t>U</a:t>
            </a:r>
            <a:r>
              <a:rPr lang="en-US" sz="2400" b="1" dirty="0" smtClean="0"/>
              <a:t>se Words, statements or paragraphs with numbers to present data.</a:t>
            </a:r>
            <a:endParaRPr lang="en-US" sz="2400" b="1" dirty="0"/>
          </a:p>
        </p:txBody>
      </p:sp>
      <p:sp>
        <p:nvSpPr>
          <p:cNvPr id="44" name="Down Arrow 43"/>
          <p:cNvSpPr/>
          <p:nvPr/>
        </p:nvSpPr>
        <p:spPr>
          <a:xfrm>
            <a:off x="12372355" y="3263462"/>
            <a:ext cx="485859" cy="10335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Diagram group"/>
          <p:cNvGrpSpPr/>
          <p:nvPr/>
        </p:nvGrpSpPr>
        <p:grpSpPr>
          <a:xfrm>
            <a:off x="6947141" y="1313053"/>
            <a:ext cx="3166361" cy="1776060"/>
            <a:chOff x="337868" y="506819"/>
            <a:chExt cx="3166361" cy="1776060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grpSp>
          <p:nvGrpSpPr>
            <p:cNvPr id="11" name="Group 10"/>
            <p:cNvGrpSpPr/>
            <p:nvPr/>
          </p:nvGrpSpPr>
          <p:grpSpPr>
            <a:xfrm>
              <a:off x="337868" y="506819"/>
              <a:ext cx="3166361" cy="1776060"/>
              <a:chOff x="337868" y="506819"/>
              <a:chExt cx="3166361" cy="1776060"/>
            </a:xfrm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</p:grpSpPr>
          <p:sp>
            <p:nvSpPr>
              <p:cNvPr id="12" name="Oval 11"/>
              <p:cNvSpPr/>
              <p:nvPr/>
            </p:nvSpPr>
            <p:spPr>
              <a:xfrm>
                <a:off x="337868" y="506819"/>
                <a:ext cx="3166361" cy="1776060"/>
              </a:xfrm>
              <a:prstGeom prst="ellipse">
                <a:avLst/>
              </a:prstGeom>
              <a:ln w="28575">
                <a:solidFill>
                  <a:schemeClr val="tx1"/>
                </a:solidFill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p3d prstMaterial="metal">
                <a:bevelT w="88900" h="88900"/>
              </a:sp3d>
            </p:spPr>
            <p:style>
              <a:lnRef idx="2">
                <a:scrgbClr r="0" g="0" b="0"/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3" name="Oval 4"/>
              <p:cNvSpPr/>
              <p:nvPr/>
            </p:nvSpPr>
            <p:spPr>
              <a:xfrm>
                <a:off x="801571" y="766917"/>
                <a:ext cx="2238955" cy="1255864"/>
              </a:xfrm>
              <a:prstGeom prst="rect">
                <a:avLst/>
              </a:prstGeom>
              <a:ln w="28575"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lvl="0" algn="ctr" defTabSz="1244600" rtl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800" dirty="0"/>
                  <a:t>2</a:t>
                </a:r>
                <a:r>
                  <a:rPr lang="en-US" sz="2800" kern="1200" dirty="0" smtClean="0"/>
                  <a:t>. Tabular</a:t>
                </a:r>
                <a:r>
                  <a:rPr lang="en-US" sz="2800" kern="1200" baseline="0" dirty="0" smtClean="0"/>
                  <a:t> Presentation of Data.</a:t>
                </a:r>
                <a:endParaRPr lang="en-US" sz="2800" kern="1200" dirty="0"/>
              </a:p>
            </p:txBody>
          </p:sp>
        </p:grpSp>
      </p:grpSp>
      <p:sp>
        <p:nvSpPr>
          <p:cNvPr id="4" name="Down Arrow 3"/>
          <p:cNvSpPr/>
          <p:nvPr/>
        </p:nvSpPr>
        <p:spPr>
          <a:xfrm>
            <a:off x="8231579" y="3394730"/>
            <a:ext cx="441445" cy="9523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7077346" y="4566227"/>
            <a:ext cx="2749909" cy="7571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/>
              <a:t>Frequency Distribution</a:t>
            </a:r>
          </a:p>
        </p:txBody>
      </p:sp>
      <p:grpSp>
        <p:nvGrpSpPr>
          <p:cNvPr id="14" name="Diagram group"/>
          <p:cNvGrpSpPr/>
          <p:nvPr/>
        </p:nvGrpSpPr>
        <p:grpSpPr>
          <a:xfrm>
            <a:off x="1244061" y="1217345"/>
            <a:ext cx="3218689" cy="1753286"/>
            <a:chOff x="5280982" y="348716"/>
            <a:chExt cx="3218689" cy="1753286"/>
          </a:xfrm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</p:grpSpPr>
        <p:grpSp>
          <p:nvGrpSpPr>
            <p:cNvPr id="15" name="Group 14"/>
            <p:cNvGrpSpPr/>
            <p:nvPr/>
          </p:nvGrpSpPr>
          <p:grpSpPr>
            <a:xfrm>
              <a:off x="5280982" y="348716"/>
              <a:ext cx="3218689" cy="1753286"/>
              <a:chOff x="5280982" y="348716"/>
              <a:chExt cx="3218689" cy="1753286"/>
            </a:xfrm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</p:grpSpPr>
          <p:sp>
            <p:nvSpPr>
              <p:cNvPr id="16" name="Oval 15"/>
              <p:cNvSpPr/>
              <p:nvPr/>
            </p:nvSpPr>
            <p:spPr>
              <a:xfrm>
                <a:off x="5280982" y="348716"/>
                <a:ext cx="3218689" cy="1753286"/>
              </a:xfrm>
              <a:prstGeom prst="ellipse">
                <a:avLst/>
              </a:prstGeom>
              <a:ln w="28575">
                <a:solidFill>
                  <a:schemeClr val="tx1"/>
                </a:solidFill>
              </a:ln>
              <a:effectLst>
                <a:outerShdw blurRad="149987" dist="250190" dir="8460000" algn="ctr">
                  <a:srgbClr val="000000">
                    <a:alpha val="28000"/>
                  </a:srgbClr>
                </a:outerShdw>
              </a:effectLst>
              <a:sp3d prstMaterial="metal">
                <a:bevelT w="88900" h="88900"/>
              </a:sp3d>
            </p:spPr>
            <p:style>
              <a:lnRef idx="2">
                <a:scrgbClr r="0" g="0" b="0"/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" name="Oval 4"/>
              <p:cNvSpPr/>
              <p:nvPr/>
            </p:nvSpPr>
            <p:spPr>
              <a:xfrm>
                <a:off x="5752348" y="605479"/>
                <a:ext cx="2275957" cy="1239760"/>
              </a:xfrm>
              <a:prstGeom prst="rect">
                <a:avLst/>
              </a:prstGeom>
              <a:ln w="28575"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/>
              <a:p>
                <a:pPr lvl="0" algn="ctr" defTabSz="1244600" rtl="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800" dirty="0"/>
                  <a:t>1</a:t>
                </a:r>
                <a:r>
                  <a:rPr lang="en-US" sz="2800" kern="1200" dirty="0" smtClean="0"/>
                  <a:t>. Graphical</a:t>
                </a:r>
                <a:r>
                  <a:rPr lang="en-US" sz="2800" kern="1200" baseline="0" dirty="0" smtClean="0"/>
                  <a:t> Presentation of Data.</a:t>
                </a:r>
              </a:p>
            </p:txBody>
          </p:sp>
        </p:grpSp>
      </p:grpSp>
      <p:sp>
        <p:nvSpPr>
          <p:cNvPr id="22" name="Rectangle 21"/>
          <p:cNvSpPr/>
          <p:nvPr/>
        </p:nvSpPr>
        <p:spPr>
          <a:xfrm>
            <a:off x="102371" y="3109716"/>
            <a:ext cx="2134888" cy="8464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Qualitative Variable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84733" y="3039258"/>
            <a:ext cx="2719755" cy="93108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Quantitative 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371" y="4471989"/>
            <a:ext cx="2134888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Bar chart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Pie Chart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83259" y="4471989"/>
            <a:ext cx="2921229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Histogram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Frequency Polygon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err="1" smtClean="0"/>
              <a:t>Ogive</a:t>
            </a:r>
            <a:r>
              <a:rPr lang="en-US" sz="2400" b="1" dirty="0" smtClean="0"/>
              <a:t> curve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Line graph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Boxplot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Scatter Diagram</a:t>
            </a:r>
            <a:endParaRPr lang="en-US" sz="2400" b="1" dirty="0"/>
          </a:p>
        </p:txBody>
      </p:sp>
      <p:cxnSp>
        <p:nvCxnSpPr>
          <p:cNvPr id="40" name="Straight Arrow Connector 39"/>
          <p:cNvCxnSpPr>
            <a:endCxn id="22" idx="0"/>
          </p:cNvCxnSpPr>
          <p:nvPr/>
        </p:nvCxnSpPr>
        <p:spPr>
          <a:xfrm flipH="1">
            <a:off x="1169815" y="2734777"/>
            <a:ext cx="545612" cy="374939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991384" y="2713868"/>
            <a:ext cx="471366" cy="281007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own Arrow 46"/>
          <p:cNvSpPr/>
          <p:nvPr/>
        </p:nvSpPr>
        <p:spPr>
          <a:xfrm>
            <a:off x="4557342" y="3956186"/>
            <a:ext cx="181860" cy="5016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wn Arrow 47"/>
          <p:cNvSpPr/>
          <p:nvPr/>
        </p:nvSpPr>
        <p:spPr>
          <a:xfrm>
            <a:off x="1062201" y="3970343"/>
            <a:ext cx="181860" cy="4874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8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" grpId="0" animBg="1"/>
      <p:bldP spid="45" grpId="0" animBg="1"/>
      <p:bldP spid="22" grpId="0" animBg="1"/>
      <p:bldP spid="23" grpId="0" animBg="1"/>
      <p:bldP spid="24" grpId="0" animBg="1"/>
      <p:bldP spid="25" grpId="0" animBg="1"/>
      <p:bldP spid="47" grpId="0" animBg="1"/>
      <p:bldP spid="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5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599589" y="388173"/>
            <a:ext cx="5803897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Frequency distribution with </a:t>
            </a:r>
            <a:r>
              <a:rPr lang="en-US" sz="2800" b="1" dirty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Examples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89" y="1305682"/>
            <a:ext cx="13520901" cy="1191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9589" y="2715192"/>
            <a:ext cx="55698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/>
              <a:t>Examples of Frequency Distribution:</a:t>
            </a:r>
            <a:endParaRPr lang="en-US" sz="2800" b="1" dirty="0"/>
          </a:p>
        </p:txBody>
      </p:sp>
      <p:pic>
        <p:nvPicPr>
          <p:cNvPr id="15365" name="Picture 5" descr="C:\Users\User\Desktop\New folder\Summer'2020\Pic\frequency-distribution-for-qualitative-data-1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42"/>
          <a:stretch/>
        </p:blipFill>
        <p:spPr bwMode="auto">
          <a:xfrm>
            <a:off x="9811216" y="4331231"/>
            <a:ext cx="4596850" cy="2457267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711634" y="3717802"/>
            <a:ext cx="5691852" cy="3304341"/>
            <a:chOff x="1020467" y="3268737"/>
            <a:chExt cx="4947384" cy="3091120"/>
          </a:xfrm>
        </p:grpSpPr>
        <p:pic>
          <p:nvPicPr>
            <p:cNvPr id="15366" name="Picture 6" descr="C:\Users\User\Desktop\New folder\Summer'2020\Pic\biostatstics-type-and-presentation-of-data-17-728.jp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467" y="3268737"/>
              <a:ext cx="4947384" cy="3091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/>
            <p:cNvCxnSpPr/>
            <p:nvPr/>
          </p:nvCxnSpPr>
          <p:spPr>
            <a:xfrm>
              <a:off x="1310185" y="6359857"/>
              <a:ext cx="4080681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711634" y="3432705"/>
            <a:ext cx="2452210" cy="39594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/>
            <a:r>
              <a:rPr lang="en-US" b="1" dirty="0" smtClean="0">
                <a:solidFill>
                  <a:schemeClr val="bg1"/>
                </a:solidFill>
              </a:rPr>
              <a:t>for Quantitative data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811216" y="3432705"/>
            <a:ext cx="2292679" cy="395942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 lvl="0"/>
            <a:r>
              <a:rPr lang="en-US" b="1" dirty="0" smtClean="0">
                <a:solidFill>
                  <a:schemeClr val="bg1"/>
                </a:solidFill>
              </a:rPr>
              <a:t>for Qualitative data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811216" y="3828647"/>
            <a:ext cx="36538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/>
              <a:t>Distribution of Smartphone User</a:t>
            </a:r>
          </a:p>
        </p:txBody>
      </p:sp>
    </p:spTree>
    <p:extLst>
      <p:ext uri="{BB962C8B-B14F-4D97-AF65-F5344CB8AC3E}">
        <p14:creationId xmlns:p14="http://schemas.microsoft.com/office/powerpoint/2010/main" val="97135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 animBg="1"/>
      <p:bldP spid="17" grpId="0" animBg="1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6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95139" y="3359854"/>
            <a:ext cx="11929071" cy="120032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390" tIns="72390" rIns="72390" bIns="72390" numCol="1" spcCol="1270" anchor="ctr" anchorCtr="0">
            <a:noAutofit/>
          </a:bodyPr>
          <a:lstStyle/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9048183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Construction of frequency distribution for quantitative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68" y="1201497"/>
            <a:ext cx="12842542" cy="2267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68" y="3690730"/>
            <a:ext cx="12767455" cy="1502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651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7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95139" y="3359854"/>
            <a:ext cx="11929071" cy="120032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390" tIns="72390" rIns="72390" bIns="72390" numCol="1" spcCol="1270" anchor="ctr" anchorCtr="0">
            <a:noAutofit/>
          </a:bodyPr>
          <a:lstStyle/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756755" y="388173"/>
            <a:ext cx="9048183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Construction of frequency distribution for quantitative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54" y="1667898"/>
            <a:ext cx="10106863" cy="212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48" y="6162816"/>
            <a:ext cx="10393469" cy="307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07" y="6668186"/>
            <a:ext cx="10434410" cy="614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C:\Users\User\Desktop\New folder\Summer'2020\Pic\Temp\Untitledfre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69" y="4362724"/>
            <a:ext cx="8583613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1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8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95139" y="3359854"/>
            <a:ext cx="11929071" cy="120032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390" tIns="72390" rIns="72390" bIns="72390" numCol="1" spcCol="1270" anchor="ctr" anchorCtr="0">
            <a:noAutofit/>
          </a:bodyPr>
          <a:lstStyle/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9048183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Construction of frequency distribution for quantitative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66" y="1382356"/>
            <a:ext cx="10809968" cy="4040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C:\Users\User\Desktop\New folder\Summer'2020\Pic\Temp\Untitledfre i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2558" y="3218250"/>
            <a:ext cx="4583852" cy="233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10026869" y="2686471"/>
            <a:ext cx="3848298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</a:rPr>
              <a:t>Example: Inclusive frequency table 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7565" y="3529646"/>
            <a:ext cx="1734201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Exclusive frequency table 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589406" y="3852019"/>
            <a:ext cx="630621" cy="20005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wn Arrow 5"/>
          <p:cNvSpPr/>
          <p:nvPr/>
        </p:nvSpPr>
        <p:spPr>
          <a:xfrm>
            <a:off x="11790862" y="3087074"/>
            <a:ext cx="223598" cy="2174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/>
          <p:cNvSpPr/>
          <p:nvPr/>
        </p:nvSpPr>
        <p:spPr>
          <a:xfrm>
            <a:off x="13779666" y="2175642"/>
            <a:ext cx="1153487" cy="4587765"/>
          </a:xfrm>
          <a:prstGeom prst="righ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/>
          <p:cNvSpPr/>
          <p:nvPr/>
        </p:nvSpPr>
        <p:spPr>
          <a:xfrm>
            <a:off x="9222828" y="2254472"/>
            <a:ext cx="1072055" cy="4461641"/>
          </a:xfrm>
          <a:prstGeom prst="leftBrace">
            <a:avLst>
              <a:gd name="adj1" fmla="val 8333"/>
              <a:gd name="adj2" fmla="val 49656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324415" y="1740568"/>
            <a:ext cx="3484783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800" b="1" dirty="0" smtClean="0"/>
              <a:t>This table is just for understanding, not necessary for this math </a:t>
            </a:r>
            <a:endParaRPr lang="en-US" sz="1800" b="1" dirty="0"/>
          </a:p>
        </p:txBody>
      </p:sp>
      <p:sp>
        <p:nvSpPr>
          <p:cNvPr id="12" name="Oval 11"/>
          <p:cNvSpPr/>
          <p:nvPr/>
        </p:nvSpPr>
        <p:spPr>
          <a:xfrm>
            <a:off x="3358054" y="2766020"/>
            <a:ext cx="299545" cy="3261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918953" y="2783366"/>
            <a:ext cx="1382814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Lower limit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2301768" y="2929071"/>
            <a:ext cx="1056286" cy="5435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762698" y="2762130"/>
            <a:ext cx="299545" cy="3261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Elbow Connector 17"/>
          <p:cNvCxnSpPr/>
          <p:nvPr/>
        </p:nvCxnSpPr>
        <p:spPr>
          <a:xfrm rot="16200000" flipV="1">
            <a:off x="2952315" y="1926044"/>
            <a:ext cx="257063" cy="1558153"/>
          </a:xfrm>
          <a:prstGeom prst="bentConnector2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11643" y="2305011"/>
            <a:ext cx="1390124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Upper limit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 rot="10800000" flipV="1">
            <a:off x="432344" y="5488707"/>
            <a:ext cx="3075481" cy="1003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Class interval= </a:t>
            </a:r>
          </a:p>
          <a:p>
            <a:r>
              <a:rPr lang="en-US" b="1" dirty="0" smtClean="0"/>
              <a:t>Upper limit-Lower limit=</a:t>
            </a:r>
          </a:p>
          <a:p>
            <a:r>
              <a:rPr lang="en-US" b="1" dirty="0" smtClean="0"/>
              <a:t>15-10=5</a:t>
            </a:r>
            <a:endParaRPr lang="en-US" b="1" dirty="0"/>
          </a:p>
        </p:txBody>
      </p:sp>
      <p:sp>
        <p:nvSpPr>
          <p:cNvPr id="31" name="Down Arrow 30"/>
          <p:cNvSpPr/>
          <p:nvPr/>
        </p:nvSpPr>
        <p:spPr>
          <a:xfrm>
            <a:off x="1150882" y="4560183"/>
            <a:ext cx="236486" cy="86315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 rot="10800000" flipV="1">
            <a:off x="10529067" y="5933673"/>
            <a:ext cx="3075481" cy="1003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Class interval= </a:t>
            </a:r>
          </a:p>
          <a:p>
            <a:r>
              <a:rPr lang="en-US" b="1" dirty="0" smtClean="0"/>
              <a:t>Upper limit-Lower limit+1=</a:t>
            </a:r>
          </a:p>
          <a:p>
            <a:r>
              <a:rPr lang="en-US" b="1" dirty="0" smtClean="0"/>
              <a:t>19-15+1=5</a:t>
            </a:r>
            <a:endParaRPr lang="en-US" b="1" dirty="0"/>
          </a:p>
        </p:txBody>
      </p:sp>
      <p:sp>
        <p:nvSpPr>
          <p:cNvPr id="2048" name="Down Arrow 2047"/>
          <p:cNvSpPr/>
          <p:nvPr/>
        </p:nvSpPr>
        <p:spPr>
          <a:xfrm>
            <a:off x="11888714" y="5565150"/>
            <a:ext cx="251492" cy="32010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238448" y="2175643"/>
            <a:ext cx="1741950" cy="2950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964960" y="2261741"/>
            <a:ext cx="1761958" cy="28648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7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5" grpId="0" animBg="1"/>
      <p:bldP spid="6" grpId="0" animBg="1"/>
      <p:bldP spid="7" grpId="0" animBg="1"/>
      <p:bldP spid="10" grpId="0" animBg="1"/>
      <p:bldP spid="14" grpId="0" animBg="1"/>
      <p:bldP spid="12" grpId="0" animBg="1"/>
      <p:bldP spid="16" grpId="0" animBg="1"/>
      <p:bldP spid="19" grpId="0" animBg="1"/>
      <p:bldP spid="25" grpId="0" animBg="1"/>
      <p:bldP spid="32" grpId="0" build="p" animBg="1"/>
      <p:bldP spid="31" grpId="0" animBg="1"/>
      <p:bldP spid="35" grpId="0" build="p" animBg="1"/>
      <p:bldP spid="2048" grpId="0" animBg="1"/>
      <p:bldP spid="4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9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8964313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Calculate of </a:t>
            </a:r>
            <a:r>
              <a:rPr lang="en-US" sz="2800" b="1" dirty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Relative, Percentage and </a:t>
            </a:r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Cumulative frequency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349998"/>
              </p:ext>
            </p:extLst>
          </p:nvPr>
        </p:nvGraphicFramePr>
        <p:xfrm>
          <a:off x="406834" y="2336197"/>
          <a:ext cx="10972800" cy="472754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37468304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83881018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74832549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23018417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3578886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96381475"/>
                    </a:ext>
                  </a:extLst>
                </a:gridCol>
              </a:tblGrid>
              <a:tr h="74417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Study Hour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Frequency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Relative Frequency </a:t>
                      </a:r>
                      <a:br>
                        <a:rPr lang="en-US" sz="2000" b="1" dirty="0">
                          <a:effectLst/>
                        </a:rPr>
                      </a:br>
                      <a:r>
                        <a:rPr lang="en-US" sz="2000" b="1" dirty="0">
                          <a:effectLst/>
                        </a:rPr>
                        <a:t>(f</a:t>
                      </a:r>
                      <a:r>
                        <a:rPr lang="en-US" sz="2000" b="1" baseline="-25000" dirty="0">
                          <a:effectLst/>
                        </a:rPr>
                        <a:t>i</a:t>
                      </a:r>
                      <a:r>
                        <a:rPr lang="en-US" sz="2000" b="1" dirty="0">
                          <a:effectLst/>
                        </a:rPr>
                        <a:t> / n)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Percentage Frequency (RF*100%)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Cumulative Frequency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137028"/>
                  </a:ext>
                </a:extLst>
              </a:tr>
              <a:tr h="69153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Less than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More than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0516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10 – 15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7/30 = 0.233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23.3%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7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30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578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15 – 20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12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0.400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40.0%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19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23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0171622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20 – 25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7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0.233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23.3%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26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11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5323053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25 – 30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0.100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10.0%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29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4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2922468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30 – 35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1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0.033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3.3%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30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1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267688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Total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30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</a:rPr>
                        <a:t> </a:t>
                      </a:r>
                      <a:endParaRPr lang="en-US" sz="2000" b="1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Arial Black" panose="020B0A04020102020204" pitchFamily="34" charset="0"/>
                        <a:ea typeface="Calibri" panose="020F0502020204030204" pitchFamily="34" charset="0"/>
                        <a:cs typeface="Vrinda" panose="020B0502040204020203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08257869"/>
                  </a:ext>
                </a:extLst>
              </a:tr>
            </a:tbl>
          </a:graphicData>
        </a:graphic>
      </p:graphicFrame>
      <p:sp>
        <p:nvSpPr>
          <p:cNvPr id="21" name="Rectangle 20"/>
          <p:cNvSpPr/>
          <p:nvPr/>
        </p:nvSpPr>
        <p:spPr>
          <a:xfrm>
            <a:off x="4065814" y="2141473"/>
            <a:ext cx="1827420" cy="1630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5895304" y="2141473"/>
            <a:ext cx="1827420" cy="1630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7724794" y="2295267"/>
            <a:ext cx="3819506" cy="14766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554284" y="3069771"/>
            <a:ext cx="1990016" cy="7021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065814" y="3771900"/>
            <a:ext cx="1827420" cy="3291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5893234" y="3771900"/>
            <a:ext cx="1827420" cy="3291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7720654" y="3771900"/>
            <a:ext cx="1827420" cy="3291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9548074" y="3771900"/>
            <a:ext cx="1996226" cy="3291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634364" y="1218236"/>
            <a:ext cx="63711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Relative frequency = </a:t>
            </a:r>
            <a:r>
              <a:rPr lang="en-US" sz="2000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Class Frequency / Total Frequency  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634364" y="1772140"/>
            <a:ext cx="49418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Percentage </a:t>
            </a:r>
            <a:r>
              <a:rPr lang="en-US" sz="1800" b="1" dirty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frequency = </a:t>
            </a:r>
            <a:r>
              <a:rPr lang="en-US" sz="1800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Relative </a:t>
            </a:r>
            <a:r>
              <a:rPr lang="en-US" sz="1800" dirty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Frequency </a:t>
            </a:r>
            <a:r>
              <a:rPr lang="en-US" sz="1800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*100%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>
            <a:off x="12003491" y="2684716"/>
            <a:ext cx="2262735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Less than Cumulative </a:t>
            </a:r>
            <a:br>
              <a:rPr lang="en-US" sz="1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</a:br>
            <a:r>
              <a:rPr lang="en-US" sz="1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frequency = </a:t>
            </a:r>
          </a:p>
          <a:p>
            <a:endParaRPr lang="en-US" sz="1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  <a:p>
            <a:r>
              <a:rPr lang="en-US" sz="1800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Pre-class </a:t>
            </a:r>
            <a:r>
              <a:rPr lang="en-US" sz="1800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frequency + </a:t>
            </a:r>
          </a:p>
          <a:p>
            <a:r>
              <a:rPr lang="en-US" sz="1800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Class Frequency</a:t>
            </a:r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>
            <a:off x="11976272" y="4616932"/>
            <a:ext cx="2453942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More than Cumulative </a:t>
            </a:r>
            <a:br>
              <a:rPr lang="en-US" sz="1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</a:br>
            <a:r>
              <a:rPr lang="en-US" sz="1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frequency = </a:t>
            </a:r>
          </a:p>
          <a:p>
            <a:endParaRPr lang="en-US" sz="1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  <a:p>
            <a:r>
              <a:rPr lang="en-US" sz="180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Post-class </a:t>
            </a:r>
            <a:r>
              <a:rPr lang="en-US" sz="1800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frequency + </a:t>
            </a:r>
          </a:p>
          <a:p>
            <a:r>
              <a:rPr lang="en-US" sz="1800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Class Frequency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87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4" grpId="0" animBg="1"/>
      <p:bldP spid="45" grpId="0" animBg="1"/>
      <p:bldP spid="46" grpId="0" animBg="1"/>
      <p:bldP spid="22" grpId="0" animBg="1"/>
      <p:bldP spid="47" grpId="0" animBg="1"/>
      <p:bldP spid="48" grpId="0" animBg="1"/>
      <p:bldP spid="49" grpId="0" animBg="1"/>
      <p:bldP spid="23" grpId="0"/>
      <p:bldP spid="24" grpId="0"/>
      <p:bldP spid="52" grpId="0"/>
      <p:bldP spid="5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10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95139" y="3359854"/>
            <a:ext cx="11929071" cy="120032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390" tIns="72390" rIns="72390" bIns="72390" numCol="1" spcCol="1270" anchor="ctr" anchorCtr="0">
            <a:noAutofit/>
          </a:bodyPr>
          <a:lstStyle/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10459466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Graphical presentation of frequency distribution for quantitative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6303" y="1575570"/>
            <a:ext cx="5523428" cy="3231654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2800" b="1" dirty="0" smtClean="0"/>
              <a:t>Three types of graphical presentation for quantitative data are:</a:t>
            </a:r>
          </a:p>
          <a:p>
            <a:pPr lvl="0"/>
            <a:endParaRPr lang="en-US" sz="2400" dirty="0" smtClean="0"/>
          </a:p>
          <a:p>
            <a:pPr lvl="0"/>
            <a:r>
              <a:rPr lang="en-US" sz="2400" dirty="0" smtClean="0"/>
              <a:t>1.Histogram</a:t>
            </a:r>
          </a:p>
          <a:p>
            <a:pPr lvl="0"/>
            <a:r>
              <a:rPr lang="en-US" sz="2400" dirty="0" smtClean="0"/>
              <a:t>2.Frequency Polygon</a:t>
            </a:r>
          </a:p>
          <a:p>
            <a:pPr lvl="0"/>
            <a:r>
              <a:rPr lang="en-US" sz="2400" dirty="0" smtClean="0"/>
              <a:t>3. </a:t>
            </a:r>
            <a:r>
              <a:rPr lang="en-US" sz="2400" dirty="0" err="1" smtClean="0"/>
              <a:t>Ogive</a:t>
            </a:r>
            <a:r>
              <a:rPr lang="en-US" sz="2400" dirty="0" smtClean="0"/>
              <a:t> Curve/ Cumulative Frequency Curve</a:t>
            </a:r>
            <a:endParaRPr lang="en-US" sz="2400" dirty="0"/>
          </a:p>
        </p:txBody>
      </p:sp>
      <p:grpSp>
        <p:nvGrpSpPr>
          <p:cNvPr id="5" name="Group 4"/>
          <p:cNvGrpSpPr/>
          <p:nvPr/>
        </p:nvGrpSpPr>
        <p:grpSpPr>
          <a:xfrm>
            <a:off x="7022650" y="1257761"/>
            <a:ext cx="6501560" cy="5520392"/>
            <a:chOff x="6910583" y="1257761"/>
            <a:chExt cx="6613627" cy="5520392"/>
          </a:xfrm>
        </p:grpSpPr>
        <p:pic>
          <p:nvPicPr>
            <p:cNvPr id="19459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0583" y="1257761"/>
              <a:ext cx="4486275" cy="3581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6910583" y="4839161"/>
              <a:ext cx="6613627" cy="19389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en-US" sz="2400" b="1" dirty="0" smtClean="0"/>
                <a:t>Draw the following graphs for this temperature data.</a:t>
              </a:r>
            </a:p>
            <a:p>
              <a:pPr marL="342900" lvl="0" indent="-342900">
                <a:buFont typeface="Arial" pitchFamily="34" charset="0"/>
                <a:buChar char="•"/>
              </a:pPr>
              <a:r>
                <a:rPr lang="en-US" sz="2400" b="1" dirty="0" smtClean="0"/>
                <a:t> Histogram</a:t>
              </a:r>
            </a:p>
            <a:p>
              <a:pPr marL="342900" lvl="0" indent="-342900">
                <a:buFont typeface="Arial" pitchFamily="34" charset="0"/>
                <a:buChar char="•"/>
              </a:pPr>
              <a:r>
                <a:rPr lang="en-US" sz="2400" b="1" dirty="0" smtClean="0"/>
                <a:t>Frequency Polygon</a:t>
              </a:r>
            </a:p>
            <a:p>
              <a:pPr marL="342900" lvl="0" indent="-342900">
                <a:buFont typeface="Arial" pitchFamily="34" charset="0"/>
                <a:buChar char="•"/>
              </a:pPr>
              <a:r>
                <a:rPr lang="en-US" sz="2400" b="1" dirty="0" err="1" smtClean="0"/>
                <a:t>Ogive</a:t>
              </a:r>
              <a:r>
                <a:rPr lang="en-US" sz="2400" b="1" dirty="0" smtClean="0"/>
                <a:t> </a:t>
              </a:r>
              <a:r>
                <a:rPr lang="en-US" sz="2400" b="1" dirty="0"/>
                <a:t>Curve/ Cumulative Frequency Curve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402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11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10459466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Graphical presentation of frequency distribution for quantitative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0489" y="1297140"/>
            <a:ext cx="13100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From the calculation of the following table we will learn how to draw all the 3 mentioned graphs. </a:t>
            </a: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11454734" y="2028357"/>
            <a:ext cx="2123659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 smtClean="0"/>
              <a:t>1. Histogram: </a:t>
            </a:r>
          </a:p>
          <a:p>
            <a:r>
              <a:rPr lang="en-US" sz="2400" b="1" dirty="0" smtClean="0">
                <a:solidFill>
                  <a:srgbClr val="C00000"/>
                </a:solidFill>
              </a:rPr>
              <a:t>Col-1&amp; 2.</a:t>
            </a:r>
            <a:endParaRPr lang="en-US" sz="2400" dirty="0">
              <a:solidFill>
                <a:srgbClr val="C00000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17954" y="2151755"/>
            <a:ext cx="9737067" cy="4418897"/>
            <a:chOff x="2774878" y="2059135"/>
            <a:chExt cx="9737067" cy="4418897"/>
          </a:xfrm>
        </p:grpSpPr>
        <p:pic>
          <p:nvPicPr>
            <p:cNvPr id="20483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4878" y="2467758"/>
              <a:ext cx="9737067" cy="4010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5848046" y="2062557"/>
              <a:ext cx="673582" cy="3693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800" b="1" dirty="0" smtClean="0">
                  <a:solidFill>
                    <a:srgbClr val="C00000"/>
                  </a:solidFill>
                </a:rPr>
                <a:t>Col-3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08129" y="2059135"/>
              <a:ext cx="673582" cy="3693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800" b="1" dirty="0" smtClean="0">
                  <a:solidFill>
                    <a:srgbClr val="C00000"/>
                  </a:solidFill>
                </a:rPr>
                <a:t>Col-2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529702" y="2062557"/>
              <a:ext cx="673582" cy="3693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800" b="1" dirty="0" smtClean="0">
                  <a:solidFill>
                    <a:srgbClr val="C00000"/>
                  </a:solidFill>
                </a:rPr>
                <a:t>Col-4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9489880" y="2059135"/>
              <a:ext cx="673582" cy="3693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800" b="1" dirty="0" smtClean="0">
                  <a:solidFill>
                    <a:srgbClr val="C00000"/>
                  </a:solidFill>
                </a:rPr>
                <a:t>Col-5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0879430" y="2062557"/>
              <a:ext cx="673582" cy="3693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800" b="1" dirty="0" smtClean="0">
                  <a:solidFill>
                    <a:srgbClr val="C00000"/>
                  </a:solidFill>
                </a:rPr>
                <a:t>Col-6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041784" y="2062557"/>
              <a:ext cx="673582" cy="36933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sz="1800" b="1" dirty="0" smtClean="0">
                  <a:solidFill>
                    <a:srgbClr val="C00000"/>
                  </a:solidFill>
                </a:rPr>
                <a:t>Col-1</a:t>
              </a:r>
              <a:endParaRPr 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11454734" y="3284344"/>
            <a:ext cx="3062185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/>
              <a:t>2</a:t>
            </a:r>
            <a:r>
              <a:rPr lang="en-US" sz="2400" b="1" dirty="0" smtClean="0"/>
              <a:t>. Frequency polygon: </a:t>
            </a:r>
          </a:p>
          <a:p>
            <a:r>
              <a:rPr lang="en-US" sz="2400" b="1" dirty="0" smtClean="0">
                <a:solidFill>
                  <a:srgbClr val="C00000"/>
                </a:solidFill>
              </a:rPr>
              <a:t>Col-1, 2 &amp; 5.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454734" y="4689180"/>
            <a:ext cx="3551100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400" b="1" dirty="0"/>
              <a:t>3</a:t>
            </a:r>
            <a:r>
              <a:rPr lang="en-US" sz="2400" b="1" dirty="0" smtClean="0"/>
              <a:t>. Less than Ogive curve: </a:t>
            </a:r>
          </a:p>
          <a:p>
            <a:r>
              <a:rPr lang="en-US" sz="2400" b="1" dirty="0" smtClean="0">
                <a:solidFill>
                  <a:srgbClr val="C00000"/>
                </a:solidFill>
              </a:rPr>
              <a:t>Col-1(upper limits)&amp; col-6.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768950" y="3149176"/>
            <a:ext cx="706236" cy="3015141"/>
          </a:xfrm>
          <a:prstGeom prst="ellipse">
            <a:avLst/>
          </a:prstGeom>
          <a:noFill/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>
            <a:stCxn id="7" idx="5"/>
          </p:cNvCxnSpPr>
          <p:nvPr/>
        </p:nvCxnSpPr>
        <p:spPr>
          <a:xfrm>
            <a:off x="2371760" y="5722760"/>
            <a:ext cx="716236" cy="10406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146605" y="6570652"/>
            <a:ext cx="1463862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upper </a:t>
            </a:r>
            <a:r>
              <a:rPr lang="en-US" sz="2000" b="1" dirty="0">
                <a:solidFill>
                  <a:srgbClr val="C00000"/>
                </a:solidFill>
              </a:rPr>
              <a:t>limits</a:t>
            </a: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031742" y="3180141"/>
            <a:ext cx="706236" cy="3015141"/>
          </a:xfrm>
          <a:prstGeom prst="ellipse">
            <a:avLst/>
          </a:prstGeom>
          <a:noFill/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882869" y="6050328"/>
            <a:ext cx="501991" cy="52032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2156" y="6586418"/>
            <a:ext cx="1485407" cy="4001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Lower </a:t>
            </a:r>
            <a:r>
              <a:rPr lang="en-US" sz="2000" b="1" dirty="0">
                <a:solidFill>
                  <a:srgbClr val="C00000"/>
                </a:solidFill>
              </a:rPr>
              <a:t>limits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41957" y="2028357"/>
            <a:ext cx="4236735" cy="51888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2583004" y="2085253"/>
            <a:ext cx="1583140" cy="4021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768334" y="2060261"/>
            <a:ext cx="1259417" cy="4021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778692" y="2000013"/>
            <a:ext cx="1429436" cy="4164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5959068" y="1939765"/>
            <a:ext cx="1429436" cy="4167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7139444" y="1879517"/>
            <a:ext cx="1710642" cy="42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8850086" y="2060261"/>
            <a:ext cx="1526500" cy="40219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5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build="p" animBg="1"/>
      <p:bldP spid="15" grpId="0" uiExpand="1" build="p" animBg="1"/>
      <p:bldP spid="16" grpId="0" build="p" animBg="1"/>
      <p:bldP spid="7" grpId="0" animBg="1"/>
      <p:bldP spid="19" grpId="0" animBg="1"/>
      <p:bldP spid="21" grpId="0" animBg="1"/>
      <p:bldP spid="24" grpId="0" animBg="1"/>
      <p:bldP spid="8" grpId="0" animBg="1"/>
      <p:bldP spid="55" grpId="0" animBg="1"/>
      <p:bldP spid="59" grpId="0" animBg="1"/>
      <p:bldP spid="6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12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95139" y="3359854"/>
            <a:ext cx="11929071" cy="120032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390" tIns="72390" rIns="72390" bIns="72390" numCol="1" spcCol="1270" anchor="ctr" anchorCtr="0">
            <a:noAutofit/>
          </a:bodyPr>
          <a:lstStyle/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10459466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Graphical presentation of frequency distribution for quantitative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421" y="2161920"/>
            <a:ext cx="6465599" cy="4238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C:\Users\User\Desktop\New folder\Summer'2020\Pic\Temp\hist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207" y="1644568"/>
            <a:ext cx="3921069" cy="4991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9209314" y="2161921"/>
            <a:ext cx="587829" cy="29325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797142" y="2314320"/>
            <a:ext cx="653143" cy="27801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389123" y="2314320"/>
            <a:ext cx="651067" cy="2780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1038115" y="3359854"/>
            <a:ext cx="620488" cy="173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628020" y="3359854"/>
            <a:ext cx="657292" cy="1734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2246433" y="3359854"/>
            <a:ext cx="661440" cy="173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2909948" y="3359854"/>
            <a:ext cx="620486" cy="17346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6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13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95139" y="3359854"/>
            <a:ext cx="11929071" cy="120032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2390" tIns="72390" rIns="72390" bIns="72390" numCol="1" spcCol="1270" anchor="ctr" anchorCtr="0">
            <a:noAutofit/>
          </a:bodyPr>
          <a:lstStyle/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  <a:p>
            <a:pPr lvl="0" algn="ctr" defTabSz="8445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1900" kern="12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10459466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Graphical presentation of frequency distribution for quantitative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pic>
        <p:nvPicPr>
          <p:cNvPr id="2150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7221" y="1862376"/>
            <a:ext cx="6858000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756755" y="1404945"/>
            <a:ext cx="5835892" cy="5110145"/>
            <a:chOff x="756755" y="1404945"/>
            <a:chExt cx="5835892" cy="5110145"/>
          </a:xfrm>
        </p:grpSpPr>
        <p:pic>
          <p:nvPicPr>
            <p:cNvPr id="2050" name="Picture 2" descr="C:\Users\User\Desktop\New folder\Summer'2020\Pic\Temp\poly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35934" y="1404945"/>
              <a:ext cx="2056713" cy="5110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C:\Users\User\Desktop\New folder\Summer'2020\Pic\Temp\histo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755" y="1464076"/>
              <a:ext cx="3921069" cy="49918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Rectangle 3"/>
          <p:cNvSpPr/>
          <p:nvPr/>
        </p:nvSpPr>
        <p:spPr>
          <a:xfrm>
            <a:off x="4645740" y="2935705"/>
            <a:ext cx="1914823" cy="42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645740" y="3330849"/>
            <a:ext cx="1914823" cy="42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645740" y="3725993"/>
            <a:ext cx="1914823" cy="42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645740" y="4185305"/>
            <a:ext cx="1914823" cy="42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645740" y="4644617"/>
            <a:ext cx="1914823" cy="42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4645740" y="5103929"/>
            <a:ext cx="1914823" cy="42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645740" y="5563241"/>
            <a:ext cx="1914823" cy="42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645740" y="6022553"/>
            <a:ext cx="1914823" cy="4241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9277372" y="4676701"/>
            <a:ext cx="171429" cy="21207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9894993" y="3832030"/>
            <a:ext cx="171429" cy="21207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0544698" y="2408871"/>
            <a:ext cx="171429" cy="21207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1216221" y="3118775"/>
            <a:ext cx="171429" cy="21207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1887744" y="4044104"/>
            <a:ext cx="171429" cy="21207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2553492" y="4817681"/>
            <a:ext cx="171429" cy="21207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13347574" y="4809661"/>
            <a:ext cx="171429" cy="21207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438147" y="2197768"/>
            <a:ext cx="3449597" cy="2870998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710737" y="3542923"/>
            <a:ext cx="2277979" cy="1478812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1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5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14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10459466" cy="52322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/>
            <a:r>
              <a:rPr lang="en-US" sz="2800" b="1" dirty="0" smtClean="0">
                <a:ln/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</a:rPr>
              <a:t>Graphical presentation of frequency distribution for quantitative data</a:t>
            </a:r>
            <a:endParaRPr lang="en-US" sz="2800" b="1" dirty="0">
              <a:ln/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8931" y="2095854"/>
            <a:ext cx="6754579" cy="408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756755" y="1617991"/>
            <a:ext cx="5772813" cy="5018459"/>
            <a:chOff x="756755" y="1617991"/>
            <a:chExt cx="5772813" cy="5018459"/>
          </a:xfrm>
        </p:grpSpPr>
        <p:pic>
          <p:nvPicPr>
            <p:cNvPr id="5" name="Picture 2" descr="C:\Users\User\Desktop\New folder\Summer'2020\Pic\Temp\histo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755" y="1617991"/>
              <a:ext cx="3921069" cy="49918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4" name="Picture 2" descr="C:\Users\User\Desktop\New folder\Summer'2020\Pic\Temp\ogive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2185" y="1617991"/>
              <a:ext cx="2007383" cy="50184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Rectangle 7"/>
          <p:cNvSpPr/>
          <p:nvPr/>
        </p:nvSpPr>
        <p:spPr>
          <a:xfrm>
            <a:off x="10294999" y="4245998"/>
            <a:ext cx="582386" cy="707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996039" y="3546285"/>
            <a:ext cx="582386" cy="707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1641420" y="3262687"/>
            <a:ext cx="582386" cy="707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2342460" y="3160645"/>
            <a:ext cx="582386" cy="707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985636" y="4692597"/>
            <a:ext cx="582386" cy="707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9593959" y="4542848"/>
            <a:ext cx="582386" cy="7076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9475305" y="5250514"/>
            <a:ext cx="225286" cy="1007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10171235" y="4920536"/>
            <a:ext cx="225286" cy="1007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0796240" y="4195641"/>
            <a:ext cx="225286" cy="1007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11497280" y="3566163"/>
            <a:ext cx="225286" cy="1007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12186701" y="3334250"/>
            <a:ext cx="225286" cy="1007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2832852" y="3212330"/>
            <a:ext cx="225286" cy="1007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8817026" y="5320751"/>
            <a:ext cx="225286" cy="1007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2769087" y="3313044"/>
            <a:ext cx="289051" cy="20872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/>
          <p:cNvSpPr/>
          <p:nvPr/>
        </p:nvSpPr>
        <p:spPr>
          <a:xfrm>
            <a:off x="12138472" y="3434964"/>
            <a:ext cx="273515" cy="19957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11605948" y="3666877"/>
            <a:ext cx="235272" cy="172512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10864908" y="4296355"/>
            <a:ext cx="156618" cy="11039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10165548" y="5021249"/>
            <a:ext cx="173650" cy="4017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277726" y="3160644"/>
            <a:ext cx="4064734" cy="150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8347001" y="3311346"/>
            <a:ext cx="3253055" cy="99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8277727" y="3532656"/>
            <a:ext cx="2743800" cy="111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 flipV="1">
            <a:off x="8256032" y="4156836"/>
            <a:ext cx="2573077" cy="109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flipV="1">
            <a:off x="8314069" y="4953663"/>
            <a:ext cx="1117038" cy="65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 flipV="1">
            <a:off x="8291316" y="5250513"/>
            <a:ext cx="636997" cy="78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581572" y="3144602"/>
            <a:ext cx="1909544" cy="40168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573426" y="3547942"/>
            <a:ext cx="1909544" cy="40168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565280" y="3951282"/>
            <a:ext cx="1909544" cy="40168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573176" y="4354622"/>
            <a:ext cx="1909544" cy="40168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4565030" y="4757962"/>
            <a:ext cx="1909544" cy="40168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4605510" y="5222109"/>
            <a:ext cx="1909544" cy="40168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4613906" y="5686256"/>
            <a:ext cx="1909544" cy="40168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4622302" y="6150403"/>
            <a:ext cx="1909544" cy="401683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7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9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5955728" y="7443131"/>
            <a:ext cx="3401854" cy="421669"/>
          </a:xfrm>
        </p:spPr>
        <p:txBody>
          <a:bodyPr/>
          <a:lstStyle/>
          <a:p>
            <a:fld id="{49F82BD9-7DAA-4EC3-995F-9B816A84184C}" type="slidenum">
              <a:rPr lang="en-IN" smtClean="0"/>
              <a:t>15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56755" y="388173"/>
            <a:ext cx="2836546" cy="535531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none">
            <a:sp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en-US" sz="32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/>
              </a:rPr>
              <a:t>Exercise to solve</a:t>
            </a:r>
            <a:endParaRPr lang="en-US" sz="32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6755" y="1560787"/>
            <a:ext cx="11808362" cy="267765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2800" dirty="0"/>
              <a:t>The number of walking shoes sold in  20 different shops are given below:</a:t>
            </a:r>
          </a:p>
          <a:p>
            <a:r>
              <a:rPr lang="en-US" sz="2800" dirty="0"/>
              <a:t>45, 70, 70, 55, 75, 73, 70, 65, 68, 60, 74, 83, 80, 58, 68, 85, 90, 64, 75, 82</a:t>
            </a:r>
          </a:p>
          <a:p>
            <a:pPr marL="1344963" lvl="2" indent="-342900">
              <a:buFont typeface="Arial" pitchFamily="34" charset="0"/>
              <a:buChar char="•"/>
            </a:pPr>
            <a:r>
              <a:rPr lang="en-US" sz="2800" dirty="0"/>
              <a:t>Construct a frequency distribution table using appropriate class interval.</a:t>
            </a:r>
          </a:p>
          <a:p>
            <a:pPr marL="1344963" lvl="2" indent="-342900">
              <a:buFont typeface="Arial" pitchFamily="34" charset="0"/>
              <a:buChar char="•"/>
            </a:pPr>
            <a:r>
              <a:rPr lang="en-US" sz="2800" dirty="0"/>
              <a:t>Draw </a:t>
            </a:r>
            <a:r>
              <a:rPr lang="en-US" sz="2800" dirty="0" smtClean="0"/>
              <a:t>Histogram, frequency polygon and </a:t>
            </a:r>
            <a:r>
              <a:rPr lang="en-US" sz="2800" dirty="0" err="1"/>
              <a:t>ogive</a:t>
            </a:r>
            <a:r>
              <a:rPr lang="en-US" sz="2800" dirty="0"/>
              <a:t> curve.</a:t>
            </a:r>
          </a:p>
          <a:p>
            <a:pPr marL="1344963" lvl="2" indent="-342900">
              <a:buFont typeface="Arial" pitchFamily="34" charset="0"/>
              <a:buChar char="•"/>
            </a:pPr>
            <a:r>
              <a:rPr lang="en-US" sz="2800" dirty="0"/>
              <a:t>How many shops were able to sold more than 70 shoes?</a:t>
            </a:r>
          </a:p>
        </p:txBody>
      </p:sp>
    </p:spTree>
    <p:extLst>
      <p:ext uri="{BB962C8B-B14F-4D97-AF65-F5344CB8AC3E}">
        <p14:creationId xmlns:p14="http://schemas.microsoft.com/office/powerpoint/2010/main" val="243062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678040" y="7340701"/>
            <a:ext cx="3401854" cy="421669"/>
          </a:xfrm>
          <a:prstGeom prst="ellipse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defRPr/>
            </a:pPr>
            <a:fld id="{49F82BD9-7DAA-4EC3-995F-9B816A84184C}" type="slidenum">
              <a:rPr lang="en-US">
                <a:solidFill>
                  <a:prstClr val="black">
                    <a:tint val="75000"/>
                  </a:prstClr>
                </a:solidFill>
              </a:rPr>
              <a:pPr defTabSz="914400">
                <a:lnSpc>
                  <a:spcPct val="90000"/>
                </a:lnSpc>
                <a:spcAft>
                  <a:spcPts val="600"/>
                </a:spcAft>
                <a:defRPr/>
              </a:pPr>
              <a:t>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 descr="C:\Users\User\Desktop\New folder\Summer'2020\bigstock-Thank-You-20253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804" y="2272261"/>
            <a:ext cx="6526456" cy="399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39" y="1135680"/>
            <a:ext cx="6360543" cy="6267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urved Right Arrow 6"/>
          <p:cNvSpPr/>
          <p:nvPr/>
        </p:nvSpPr>
        <p:spPr>
          <a:xfrm>
            <a:off x="6714698" y="2866030"/>
            <a:ext cx="1146412" cy="2210938"/>
          </a:xfrm>
          <a:prstGeom prst="curved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146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7C64C5810D5B340B5AF730A05A47286" ma:contentTypeVersion="8" ma:contentTypeDescription="Ein neues Dokument erstellen." ma:contentTypeScope="" ma:versionID="683c182e13f78e36779d649cd0a7292b">
  <xsd:schema xmlns:xsd="http://www.w3.org/2001/XMLSchema" xmlns:xs="http://www.w3.org/2001/XMLSchema" xmlns:p="http://schemas.microsoft.com/office/2006/metadata/properties" xmlns:ns3="01e2b7a1-b8e0-4120-b79e-cd741afd5999" targetNamespace="http://schemas.microsoft.com/office/2006/metadata/properties" ma:root="true" ma:fieldsID="6da0001eca0b83fb1f54f6d1020b5c7c" ns3:_="">
    <xsd:import namespace="01e2b7a1-b8e0-4120-b79e-cd741afd59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2b7a1-b8e0-4120-b79e-cd741afd59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EFAAD97-E65A-45F3-B3F1-A1E228F66B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2b7a1-b8e0-4120-b79e-cd741afd59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D278ADD-8DA4-42BC-AFD5-B010DB7F14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882CEC-27A7-4760-B194-0F488A305EF3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01e2b7a1-b8e0-4120-b79e-cd741afd599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4372</TotalTime>
  <Words>535</Words>
  <Application>Microsoft Office PowerPoint</Application>
  <PresentationFormat>Custom</PresentationFormat>
  <Paragraphs>167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Black</vt:lpstr>
      <vt:lpstr>Calibri</vt:lpstr>
      <vt:lpstr>Calibri Light</vt:lpstr>
      <vt:lpstr>Vrinda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IBRAHIM</dc:creator>
  <cp:lastModifiedBy>Windows User</cp:lastModifiedBy>
  <cp:revision>195</cp:revision>
  <dcterms:created xsi:type="dcterms:W3CDTF">2020-05-04T18:24:57Z</dcterms:created>
  <dcterms:modified xsi:type="dcterms:W3CDTF">2020-06-01T07:31:08Z</dcterms:modified>
</cp:coreProperties>
</file>