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4"/>
  </p:sldMasterIdLst>
  <p:notesMasterIdLst>
    <p:notesMasterId r:id="rId23"/>
  </p:notesMasterIdLst>
  <p:sldIdLst>
    <p:sldId id="256" r:id="rId5"/>
    <p:sldId id="291" r:id="rId6"/>
    <p:sldId id="293" r:id="rId7"/>
    <p:sldId id="274" r:id="rId8"/>
    <p:sldId id="273" r:id="rId9"/>
    <p:sldId id="276" r:id="rId10"/>
    <p:sldId id="295" r:id="rId11"/>
    <p:sldId id="277" r:id="rId12"/>
    <p:sldId id="298" r:id="rId13"/>
    <p:sldId id="278" r:id="rId14"/>
    <p:sldId id="279" r:id="rId15"/>
    <p:sldId id="294" r:id="rId16"/>
    <p:sldId id="280" r:id="rId17"/>
    <p:sldId id="281" r:id="rId18"/>
    <p:sldId id="282" r:id="rId19"/>
    <p:sldId id="287" r:id="rId20"/>
    <p:sldId id="305" r:id="rId21"/>
    <p:sldId id="301" r:id="rId22"/>
  </p:sldIdLst>
  <p:sldSz cx="14173200" cy="82296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4" userDrawn="1">
          <p15:clr>
            <a:srgbClr val="A4A3A4"/>
          </p15:clr>
        </p15:guide>
        <p15:guide id="2" pos="44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73"/>
    <a:srgbClr val="DEC8EE"/>
    <a:srgbClr val="B889DB"/>
    <a:srgbClr val="8439BD"/>
    <a:srgbClr val="A568D2"/>
    <a:srgbClr val="934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9288" autoAdjust="0"/>
  </p:normalViewPr>
  <p:slideViewPr>
    <p:cSldViewPr snapToGrid="0">
      <p:cViewPr varScale="1">
        <p:scale>
          <a:sx n="61" d="100"/>
          <a:sy n="61" d="100"/>
        </p:scale>
        <p:origin x="720" y="84"/>
      </p:cViewPr>
      <p:guideLst>
        <p:guide orient="horz" pos="2564"/>
        <p:guide pos="44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/>
            </a:pPr>
            <a:r>
              <a:rPr lang="en-US" sz="1400"/>
              <a:t>Glucose Level  (Mg/dl) compared to age </a:t>
            </a:r>
          </a:p>
        </c:rich>
      </c:tx>
      <c:layout>
        <c:manualLayout>
          <c:xMode val="edge"/>
          <c:yMode val="edge"/>
          <c:x val="0.23885586963243516"/>
          <c:y val="2.3297488984713316E-2"/>
        </c:manualLayout>
      </c:layout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Sheet1!$D$3:$D$4</c:f>
              <c:strCache>
                <c:ptCount val="1"/>
                <c:pt idx="0">
                  <c:v>Glucose Level  (Mg/dl) milligrams per deciliter)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Sheet1!$C$5:$C$9</c:f>
              <c:numCache>
                <c:formatCode>General</c:formatCode>
                <c:ptCount val="5"/>
                <c:pt idx="0">
                  <c:v>43</c:v>
                </c:pt>
                <c:pt idx="1">
                  <c:v>21</c:v>
                </c:pt>
                <c:pt idx="2">
                  <c:v>25</c:v>
                </c:pt>
                <c:pt idx="3">
                  <c:v>42</c:v>
                </c:pt>
                <c:pt idx="4">
                  <c:v>57</c:v>
                </c:pt>
              </c:numCache>
            </c:numRef>
          </c:xVal>
          <c:yVal>
            <c:numRef>
              <c:f>Sheet1!$D$5:$D$9</c:f>
              <c:numCache>
                <c:formatCode>General</c:formatCode>
                <c:ptCount val="5"/>
                <c:pt idx="0">
                  <c:v>99</c:v>
                </c:pt>
                <c:pt idx="1">
                  <c:v>65</c:v>
                </c:pt>
                <c:pt idx="2">
                  <c:v>79</c:v>
                </c:pt>
                <c:pt idx="3">
                  <c:v>75</c:v>
                </c:pt>
                <c:pt idx="4">
                  <c:v>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63D-4194-94CA-1720062E92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8909952"/>
        <c:axId val="138916224"/>
      </c:scatterChart>
      <c:valAx>
        <c:axId val="1389099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 dirty="0"/>
                  <a:t>Age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100" b="1"/>
            </a:pPr>
            <a:endParaRPr lang="en-US"/>
          </a:p>
        </c:txPr>
        <c:crossAx val="138916224"/>
        <c:crosses val="autoZero"/>
        <c:crossBetween val="midCat"/>
      </c:valAx>
      <c:valAx>
        <c:axId val="13891622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 dirty="0"/>
                  <a:t>Glucose</a:t>
                </a:r>
                <a:r>
                  <a:rPr lang="en-US" sz="1400" baseline="0" dirty="0"/>
                  <a:t> Level</a:t>
                </a:r>
                <a:endParaRPr lang="en-US" sz="1400" dirty="0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100" b="1"/>
            </a:pPr>
            <a:endParaRPr lang="en-US"/>
          </a:p>
        </c:txPr>
        <c:crossAx val="138909952"/>
        <c:crosses val="autoZero"/>
        <c:crossBetween val="midCat"/>
      </c:valAx>
    </c:plotArea>
    <c:legend>
      <c:legendPos val="r"/>
      <c:overlay val="0"/>
      <c:txPr>
        <a:bodyPr/>
        <a:lstStyle/>
        <a:p>
          <a:pPr>
            <a:defRPr sz="1200" b="1"/>
          </a:pPr>
          <a:endParaRPr lang="en-US"/>
        </a:p>
      </c:txPr>
    </c:legend>
    <c:plotVisOnly val="1"/>
    <c:dispBlanksAs val="gap"/>
    <c:showDLblsOverMax val="0"/>
  </c:chart>
  <c:spPr>
    <a:ln>
      <a:solidFill>
        <a:schemeClr val="tx1"/>
      </a:solidFill>
    </a:ln>
  </c:sp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5" y="1"/>
            <a:ext cx="3962400" cy="344091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r">
              <a:defRPr sz="1200"/>
            </a:lvl1pPr>
          </a:lstStyle>
          <a:p>
            <a:fld id="{631EF024-19AE-40D1-A564-21E423BF1498}" type="datetimeFigureOut">
              <a:rPr lang="en-IN" smtClean="0"/>
              <a:t>11-07-2020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8100" y="857250"/>
            <a:ext cx="3987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9" rIns="91436" bIns="4571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36" tIns="45719" rIns="91436" bIns="457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5" y="6513910"/>
            <a:ext cx="3962400" cy="344090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r">
              <a:defRPr sz="1200"/>
            </a:lvl1pPr>
          </a:lstStyle>
          <a:p>
            <a:fld id="{CC3427E7-5989-485B-B90B-4098793D5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86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1pPr>
    <a:lvl2pPr marL="501031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2pPr>
    <a:lvl3pPr marL="1002063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3pPr>
    <a:lvl4pPr marL="1503095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4pPr>
    <a:lvl5pPr marL="2004126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5pPr>
    <a:lvl6pPr marL="2505158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6pPr>
    <a:lvl7pPr marL="3006189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7pPr>
    <a:lvl8pPr marL="3507220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8pPr>
    <a:lvl9pPr marL="4008252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350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600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600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6076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38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5851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5851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006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5851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71718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26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26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455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44299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248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9608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857250"/>
            <a:ext cx="3987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3427E7-5989-485B-B90B-4098793D52E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960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1650" y="1346836"/>
            <a:ext cx="10629900" cy="2865120"/>
          </a:xfrm>
        </p:spPr>
        <p:txBody>
          <a:bodyPr anchor="b"/>
          <a:lstStyle>
            <a:lvl1pPr algn="ctr">
              <a:defRPr sz="69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1650" y="4322446"/>
            <a:ext cx="10629900" cy="1986914"/>
          </a:xfrm>
        </p:spPr>
        <p:txBody>
          <a:bodyPr/>
          <a:lstStyle>
            <a:lvl1pPr marL="0" indent="0" algn="ctr">
              <a:buNone/>
              <a:defRPr sz="2790"/>
            </a:lvl1pPr>
            <a:lvl2pPr marL="531495" indent="0" algn="ctr">
              <a:buNone/>
              <a:defRPr sz="2325"/>
            </a:lvl2pPr>
            <a:lvl3pPr marL="1062990" indent="0" algn="ctr">
              <a:buNone/>
              <a:defRPr sz="2093"/>
            </a:lvl3pPr>
            <a:lvl4pPr marL="1594485" indent="0" algn="ctr">
              <a:buNone/>
              <a:defRPr sz="1860"/>
            </a:lvl4pPr>
            <a:lvl5pPr marL="2125980" indent="0" algn="ctr">
              <a:buNone/>
              <a:defRPr sz="1860"/>
            </a:lvl5pPr>
            <a:lvl6pPr marL="2657475" indent="0" algn="ctr">
              <a:buNone/>
              <a:defRPr sz="1860"/>
            </a:lvl6pPr>
            <a:lvl7pPr marL="3188970" indent="0" algn="ctr">
              <a:buNone/>
              <a:defRPr sz="1860"/>
            </a:lvl7pPr>
            <a:lvl8pPr marL="3720465" indent="0" algn="ctr">
              <a:buNone/>
              <a:defRPr sz="1860"/>
            </a:lvl8pPr>
            <a:lvl9pPr marL="4251960" indent="0" algn="ctr">
              <a:buNone/>
              <a:defRPr sz="18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E70E-F72E-43B1-8793-977D89C56C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8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E70E-F72E-43B1-8793-977D89C56C7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537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026" y="2051686"/>
            <a:ext cx="12224385" cy="3423284"/>
          </a:xfrm>
        </p:spPr>
        <p:txBody>
          <a:bodyPr anchor="b"/>
          <a:lstStyle>
            <a:lvl1pPr>
              <a:defRPr sz="69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7026" y="5507356"/>
            <a:ext cx="12224385" cy="1800224"/>
          </a:xfrm>
        </p:spPr>
        <p:txBody>
          <a:bodyPr/>
          <a:lstStyle>
            <a:lvl1pPr marL="0" indent="0">
              <a:buNone/>
              <a:defRPr sz="2790">
                <a:solidFill>
                  <a:schemeClr val="tx1">
                    <a:tint val="75000"/>
                  </a:schemeClr>
                </a:solidFill>
              </a:defRPr>
            </a:lvl1pPr>
            <a:lvl2pPr marL="531495" indent="0">
              <a:buNone/>
              <a:defRPr sz="2325">
                <a:solidFill>
                  <a:schemeClr val="tx1">
                    <a:tint val="75000"/>
                  </a:schemeClr>
                </a:solidFill>
              </a:defRPr>
            </a:lvl2pPr>
            <a:lvl3pPr marL="1062990" indent="0">
              <a:buNone/>
              <a:defRPr sz="2093">
                <a:solidFill>
                  <a:schemeClr val="tx1">
                    <a:tint val="75000"/>
                  </a:schemeClr>
                </a:solidFill>
              </a:defRPr>
            </a:lvl3pPr>
            <a:lvl4pPr marL="1594485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4pPr>
            <a:lvl5pPr marL="2125980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5pPr>
            <a:lvl6pPr marL="2657475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6pPr>
            <a:lvl7pPr marL="3188970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7pPr>
            <a:lvl8pPr marL="3720465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8pPr>
            <a:lvl9pPr marL="4251960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8C992-D84A-4E5B-8FF3-725D20E477AE}" type="datetime1">
              <a:rPr lang="en-IN" smtClean="0"/>
              <a:t>11-07-2020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81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4408" y="2190750"/>
            <a:ext cx="602361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75183" y="2190750"/>
            <a:ext cx="602361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9BF8-3712-42D3-B9CE-E8E248C260D6}" type="datetime1">
              <a:rPr lang="en-IN" smtClean="0"/>
              <a:t>11-07-2020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30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254" y="438150"/>
            <a:ext cx="12224385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6254" y="2017396"/>
            <a:ext cx="5995927" cy="988694"/>
          </a:xfrm>
        </p:spPr>
        <p:txBody>
          <a:bodyPr anchor="b"/>
          <a:lstStyle>
            <a:lvl1pPr marL="0" indent="0">
              <a:buNone/>
              <a:defRPr sz="2790" b="1"/>
            </a:lvl1pPr>
            <a:lvl2pPr marL="531495" indent="0">
              <a:buNone/>
              <a:defRPr sz="2325" b="1"/>
            </a:lvl2pPr>
            <a:lvl3pPr marL="1062990" indent="0">
              <a:buNone/>
              <a:defRPr sz="2093" b="1"/>
            </a:lvl3pPr>
            <a:lvl4pPr marL="1594485" indent="0">
              <a:buNone/>
              <a:defRPr sz="1860" b="1"/>
            </a:lvl4pPr>
            <a:lvl5pPr marL="2125980" indent="0">
              <a:buNone/>
              <a:defRPr sz="1860" b="1"/>
            </a:lvl5pPr>
            <a:lvl6pPr marL="2657475" indent="0">
              <a:buNone/>
              <a:defRPr sz="1860" b="1"/>
            </a:lvl6pPr>
            <a:lvl7pPr marL="3188970" indent="0">
              <a:buNone/>
              <a:defRPr sz="1860" b="1"/>
            </a:lvl7pPr>
            <a:lvl8pPr marL="3720465" indent="0">
              <a:buNone/>
              <a:defRPr sz="1860" b="1"/>
            </a:lvl8pPr>
            <a:lvl9pPr marL="4251960" indent="0">
              <a:buNone/>
              <a:defRPr sz="18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6254" y="3006090"/>
            <a:ext cx="5995927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75183" y="2017396"/>
            <a:ext cx="6025456" cy="988694"/>
          </a:xfrm>
        </p:spPr>
        <p:txBody>
          <a:bodyPr anchor="b"/>
          <a:lstStyle>
            <a:lvl1pPr marL="0" indent="0">
              <a:buNone/>
              <a:defRPr sz="2790" b="1"/>
            </a:lvl1pPr>
            <a:lvl2pPr marL="531495" indent="0">
              <a:buNone/>
              <a:defRPr sz="2325" b="1"/>
            </a:lvl2pPr>
            <a:lvl3pPr marL="1062990" indent="0">
              <a:buNone/>
              <a:defRPr sz="2093" b="1"/>
            </a:lvl3pPr>
            <a:lvl4pPr marL="1594485" indent="0">
              <a:buNone/>
              <a:defRPr sz="1860" b="1"/>
            </a:lvl4pPr>
            <a:lvl5pPr marL="2125980" indent="0">
              <a:buNone/>
              <a:defRPr sz="1860" b="1"/>
            </a:lvl5pPr>
            <a:lvl6pPr marL="2657475" indent="0">
              <a:buNone/>
              <a:defRPr sz="1860" b="1"/>
            </a:lvl6pPr>
            <a:lvl7pPr marL="3188970" indent="0">
              <a:buNone/>
              <a:defRPr sz="1860" b="1"/>
            </a:lvl7pPr>
            <a:lvl8pPr marL="3720465" indent="0">
              <a:buNone/>
              <a:defRPr sz="1860" b="1"/>
            </a:lvl8pPr>
            <a:lvl9pPr marL="4251960" indent="0">
              <a:buNone/>
              <a:defRPr sz="18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75183" y="3006090"/>
            <a:ext cx="6025456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8FE52-ECBC-44F5-B817-54A3EA0E4251}" type="datetime1">
              <a:rPr lang="en-IN" smtClean="0"/>
              <a:t>11-07-2020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38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2E2B5-69B5-472F-871D-A62F87F78089}" type="datetime1">
              <a:rPr lang="en-IN" smtClean="0"/>
              <a:t>11-07-2020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693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1389-26BB-4E01-8FBF-2F6EDAD344DB}" type="datetime1">
              <a:rPr lang="en-IN" smtClean="0"/>
              <a:t>11-07-2020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90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254" y="548640"/>
            <a:ext cx="4571226" cy="1920240"/>
          </a:xfrm>
        </p:spPr>
        <p:txBody>
          <a:bodyPr anchor="b"/>
          <a:lstStyle>
            <a:lvl1pPr>
              <a:defRPr sz="3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25456" y="1184911"/>
            <a:ext cx="7175183" cy="5848350"/>
          </a:xfrm>
        </p:spPr>
        <p:txBody>
          <a:bodyPr/>
          <a:lstStyle>
            <a:lvl1pPr>
              <a:defRPr sz="3720"/>
            </a:lvl1pPr>
            <a:lvl2pPr>
              <a:defRPr sz="3255"/>
            </a:lvl2pPr>
            <a:lvl3pPr>
              <a:defRPr sz="2790"/>
            </a:lvl3pPr>
            <a:lvl4pPr>
              <a:defRPr sz="2325"/>
            </a:lvl4pPr>
            <a:lvl5pPr>
              <a:defRPr sz="2325"/>
            </a:lvl5pPr>
            <a:lvl6pPr>
              <a:defRPr sz="2325"/>
            </a:lvl6pPr>
            <a:lvl7pPr>
              <a:defRPr sz="2325"/>
            </a:lvl7pPr>
            <a:lvl8pPr>
              <a:defRPr sz="2325"/>
            </a:lvl8pPr>
            <a:lvl9pPr>
              <a:defRPr sz="23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6254" y="2468880"/>
            <a:ext cx="4571226" cy="4573906"/>
          </a:xfrm>
        </p:spPr>
        <p:txBody>
          <a:bodyPr/>
          <a:lstStyle>
            <a:lvl1pPr marL="0" indent="0">
              <a:buNone/>
              <a:defRPr sz="1860"/>
            </a:lvl1pPr>
            <a:lvl2pPr marL="531495" indent="0">
              <a:buNone/>
              <a:defRPr sz="1627"/>
            </a:lvl2pPr>
            <a:lvl3pPr marL="1062990" indent="0">
              <a:buNone/>
              <a:defRPr sz="1395"/>
            </a:lvl3pPr>
            <a:lvl4pPr marL="1594485" indent="0">
              <a:buNone/>
              <a:defRPr sz="1163"/>
            </a:lvl4pPr>
            <a:lvl5pPr marL="2125980" indent="0">
              <a:buNone/>
              <a:defRPr sz="1163"/>
            </a:lvl5pPr>
            <a:lvl6pPr marL="2657475" indent="0">
              <a:buNone/>
              <a:defRPr sz="1163"/>
            </a:lvl6pPr>
            <a:lvl7pPr marL="3188970" indent="0">
              <a:buNone/>
              <a:defRPr sz="1163"/>
            </a:lvl7pPr>
            <a:lvl8pPr marL="3720465" indent="0">
              <a:buNone/>
              <a:defRPr sz="1163"/>
            </a:lvl8pPr>
            <a:lvl9pPr marL="4251960" indent="0">
              <a:buNone/>
              <a:defRPr sz="11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99EF-EC64-4A3B-94D0-74F6EE74A7FC}" type="datetime1">
              <a:rPr lang="en-IN" smtClean="0"/>
              <a:t>11-07-2020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54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254" y="548640"/>
            <a:ext cx="4571226" cy="1920240"/>
          </a:xfrm>
        </p:spPr>
        <p:txBody>
          <a:bodyPr anchor="b"/>
          <a:lstStyle>
            <a:lvl1pPr>
              <a:defRPr sz="3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25456" y="1184911"/>
            <a:ext cx="7175183" cy="5848350"/>
          </a:xfrm>
        </p:spPr>
        <p:txBody>
          <a:bodyPr anchor="t"/>
          <a:lstStyle>
            <a:lvl1pPr marL="0" indent="0">
              <a:buNone/>
              <a:defRPr sz="3720"/>
            </a:lvl1pPr>
            <a:lvl2pPr marL="531495" indent="0">
              <a:buNone/>
              <a:defRPr sz="3255"/>
            </a:lvl2pPr>
            <a:lvl3pPr marL="1062990" indent="0">
              <a:buNone/>
              <a:defRPr sz="2790"/>
            </a:lvl3pPr>
            <a:lvl4pPr marL="1594485" indent="0">
              <a:buNone/>
              <a:defRPr sz="2325"/>
            </a:lvl4pPr>
            <a:lvl5pPr marL="2125980" indent="0">
              <a:buNone/>
              <a:defRPr sz="2325"/>
            </a:lvl5pPr>
            <a:lvl6pPr marL="2657475" indent="0">
              <a:buNone/>
              <a:defRPr sz="2325"/>
            </a:lvl6pPr>
            <a:lvl7pPr marL="3188970" indent="0">
              <a:buNone/>
              <a:defRPr sz="2325"/>
            </a:lvl7pPr>
            <a:lvl8pPr marL="3720465" indent="0">
              <a:buNone/>
              <a:defRPr sz="2325"/>
            </a:lvl8pPr>
            <a:lvl9pPr marL="4251960" indent="0">
              <a:buNone/>
              <a:defRPr sz="23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6254" y="2468880"/>
            <a:ext cx="4571226" cy="4573906"/>
          </a:xfrm>
        </p:spPr>
        <p:txBody>
          <a:bodyPr/>
          <a:lstStyle>
            <a:lvl1pPr marL="0" indent="0">
              <a:buNone/>
              <a:defRPr sz="1860"/>
            </a:lvl1pPr>
            <a:lvl2pPr marL="531495" indent="0">
              <a:buNone/>
              <a:defRPr sz="1627"/>
            </a:lvl2pPr>
            <a:lvl3pPr marL="1062990" indent="0">
              <a:buNone/>
              <a:defRPr sz="1395"/>
            </a:lvl3pPr>
            <a:lvl4pPr marL="1594485" indent="0">
              <a:buNone/>
              <a:defRPr sz="1163"/>
            </a:lvl4pPr>
            <a:lvl5pPr marL="2125980" indent="0">
              <a:buNone/>
              <a:defRPr sz="1163"/>
            </a:lvl5pPr>
            <a:lvl6pPr marL="2657475" indent="0">
              <a:buNone/>
              <a:defRPr sz="1163"/>
            </a:lvl6pPr>
            <a:lvl7pPr marL="3188970" indent="0">
              <a:buNone/>
              <a:defRPr sz="1163"/>
            </a:lvl7pPr>
            <a:lvl8pPr marL="3720465" indent="0">
              <a:buNone/>
              <a:defRPr sz="1163"/>
            </a:lvl8pPr>
            <a:lvl9pPr marL="4251960" indent="0">
              <a:buNone/>
              <a:defRPr sz="11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9B5E-FA93-420E-B3A8-8FC4C09B0505}" type="datetime1">
              <a:rPr lang="en-IN" smtClean="0"/>
              <a:t>11-07-2020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69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665D-6E89-4825-90DF-386CCC434790}" type="datetime1">
              <a:rPr lang="en-IN" smtClean="0"/>
              <a:t>11-07-2020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55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2696" y="438150"/>
            <a:ext cx="3056096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4407" y="438150"/>
            <a:ext cx="8991124" cy="697420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E5FF-8155-4536-B003-5D25527BB1B5}" type="datetime1">
              <a:rPr lang="en-IN" smtClean="0"/>
              <a:t>11-07-2020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63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83E70E-F72E-43B1-8793-977D89C56C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49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4405" y="728082"/>
            <a:ext cx="12224385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408" y="2190750"/>
            <a:ext cx="12224385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4408" y="7627621"/>
            <a:ext cx="318897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94873" y="7627621"/>
            <a:ext cx="478345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09823" y="7627621"/>
            <a:ext cx="318897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E70E-F72E-43B1-8793-977D89C56C76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7D1B38-9589-4C32-B5D9-55974AC87856}"/>
              </a:ext>
            </a:extLst>
          </p:cNvPr>
          <p:cNvSpPr/>
          <p:nvPr userDrawn="1"/>
        </p:nvSpPr>
        <p:spPr>
          <a:xfrm>
            <a:off x="-2" y="7599928"/>
            <a:ext cx="14173200" cy="6296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8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CCD358-549C-42D8-8FFE-6AA6BF8EC85B}"/>
              </a:ext>
            </a:extLst>
          </p:cNvPr>
          <p:cNvSpPr/>
          <p:nvPr userDrawn="1"/>
        </p:nvSpPr>
        <p:spPr>
          <a:xfrm>
            <a:off x="2" y="0"/>
            <a:ext cx="14173200" cy="10801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8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139E1-DA96-4AD1-95C1-44226E05F96C}"/>
              </a:ext>
            </a:extLst>
          </p:cNvPr>
          <p:cNvSpPr/>
          <p:nvPr userDrawn="1"/>
        </p:nvSpPr>
        <p:spPr>
          <a:xfrm>
            <a:off x="2" y="1080143"/>
            <a:ext cx="14173200" cy="214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8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2C64D8-4F82-490D-8D95-C307DDC82212}"/>
              </a:ext>
            </a:extLst>
          </p:cNvPr>
          <p:cNvCxnSpPr>
            <a:cxnSpLocks/>
          </p:cNvCxnSpPr>
          <p:nvPr userDrawn="1"/>
        </p:nvCxnSpPr>
        <p:spPr>
          <a:xfrm>
            <a:off x="4" y="1080136"/>
            <a:ext cx="4619258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AE58CB-63F5-4FCE-8C7D-F848F9DC489F}"/>
              </a:ext>
            </a:extLst>
          </p:cNvPr>
          <p:cNvCxnSpPr>
            <a:cxnSpLocks/>
          </p:cNvCxnSpPr>
          <p:nvPr userDrawn="1"/>
        </p:nvCxnSpPr>
        <p:spPr>
          <a:xfrm>
            <a:off x="4619262" y="1080136"/>
            <a:ext cx="4934676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07A33D-BC8F-440E-9321-C8B579F49FE2}"/>
              </a:ext>
            </a:extLst>
          </p:cNvPr>
          <p:cNvCxnSpPr>
            <a:cxnSpLocks/>
          </p:cNvCxnSpPr>
          <p:nvPr userDrawn="1"/>
        </p:nvCxnSpPr>
        <p:spPr>
          <a:xfrm>
            <a:off x="9238524" y="1080136"/>
            <a:ext cx="493467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13A5E9-9D72-4ADF-B339-1E086A7329D5}"/>
              </a:ext>
            </a:extLst>
          </p:cNvPr>
          <p:cNvCxnSpPr>
            <a:cxnSpLocks/>
          </p:cNvCxnSpPr>
          <p:nvPr userDrawn="1"/>
        </p:nvCxnSpPr>
        <p:spPr>
          <a:xfrm>
            <a:off x="3" y="7595384"/>
            <a:ext cx="4619258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27C404-5DF7-405C-BC49-06E706975C25}"/>
              </a:ext>
            </a:extLst>
          </p:cNvPr>
          <p:cNvCxnSpPr>
            <a:cxnSpLocks/>
          </p:cNvCxnSpPr>
          <p:nvPr userDrawn="1"/>
        </p:nvCxnSpPr>
        <p:spPr>
          <a:xfrm>
            <a:off x="4619261" y="7595384"/>
            <a:ext cx="4934676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4D12CD-8E20-4F9A-9488-7D82ECEBA5BB}"/>
              </a:ext>
            </a:extLst>
          </p:cNvPr>
          <p:cNvCxnSpPr>
            <a:cxnSpLocks/>
          </p:cNvCxnSpPr>
          <p:nvPr userDrawn="1"/>
        </p:nvCxnSpPr>
        <p:spPr>
          <a:xfrm>
            <a:off x="9238523" y="7595384"/>
            <a:ext cx="493467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770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54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062990" rtl="0" eaLnBrk="1" latinLnBrk="0" hangingPunct="1">
        <a:lnSpc>
          <a:spcPct val="90000"/>
        </a:lnSpc>
        <a:spcBef>
          <a:spcPct val="0"/>
        </a:spcBef>
        <a:buNone/>
        <a:defRPr sz="51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5748" indent="-265748" algn="l" defTabSz="1062990" rtl="0" eaLnBrk="1" latinLnBrk="0" hangingPunct="1">
        <a:lnSpc>
          <a:spcPct val="90000"/>
        </a:lnSpc>
        <a:spcBef>
          <a:spcPts val="1163"/>
        </a:spcBef>
        <a:buFont typeface="Arial" panose="020B0604020202020204" pitchFamily="34" charset="0"/>
        <a:buChar char="•"/>
        <a:defRPr sz="3255" kern="1200">
          <a:solidFill>
            <a:schemeClr val="tx1"/>
          </a:solidFill>
          <a:latin typeface="+mn-lt"/>
          <a:ea typeface="+mn-ea"/>
          <a:cs typeface="+mn-cs"/>
        </a:defRPr>
      </a:lvl1pPr>
      <a:lvl2pPr marL="797243" indent="-265748" algn="l" defTabSz="1062990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790" kern="1200">
          <a:solidFill>
            <a:schemeClr val="tx1"/>
          </a:solidFill>
          <a:latin typeface="+mn-lt"/>
          <a:ea typeface="+mn-ea"/>
          <a:cs typeface="+mn-cs"/>
        </a:defRPr>
      </a:lvl2pPr>
      <a:lvl3pPr marL="1328738" indent="-265748" algn="l" defTabSz="1062990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325" kern="1200">
          <a:solidFill>
            <a:schemeClr val="tx1"/>
          </a:solidFill>
          <a:latin typeface="+mn-lt"/>
          <a:ea typeface="+mn-ea"/>
          <a:cs typeface="+mn-cs"/>
        </a:defRPr>
      </a:lvl3pPr>
      <a:lvl4pPr marL="1860233" indent="-265748" algn="l" defTabSz="1062990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4pPr>
      <a:lvl5pPr marL="2391728" indent="-265748" algn="l" defTabSz="1062990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5pPr>
      <a:lvl6pPr marL="2923223" indent="-265748" algn="l" defTabSz="1062990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6pPr>
      <a:lvl7pPr marL="3454718" indent="-265748" algn="l" defTabSz="1062990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7pPr>
      <a:lvl8pPr marL="3986213" indent="-265748" algn="l" defTabSz="1062990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8pPr>
      <a:lvl9pPr marL="4517708" indent="-265748" algn="l" defTabSz="1062990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2990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1pPr>
      <a:lvl2pPr marL="531495" algn="l" defTabSz="1062990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2pPr>
      <a:lvl3pPr marL="1062990" algn="l" defTabSz="1062990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3pPr>
      <a:lvl4pPr marL="1594485" algn="l" defTabSz="1062990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4pPr>
      <a:lvl5pPr marL="2125980" algn="l" defTabSz="1062990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5pPr>
      <a:lvl6pPr marL="2657475" algn="l" defTabSz="1062990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6pPr>
      <a:lvl7pPr marL="3188970" algn="l" defTabSz="1062990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7pPr>
      <a:lvl8pPr marL="3720465" algn="l" defTabSz="1062990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8pPr>
      <a:lvl9pPr marL="4251960" algn="l" defTabSz="1062990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591" userDrawn="1">
          <p15:clr>
            <a:srgbClr val="F26B43"/>
          </p15:clr>
        </p15:guide>
        <p15:guide id="2" pos="44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emf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Word_Document.docx"/><Relationship Id="rId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1557A916-FDD1-44A1-A7A1-70009FD6BE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1732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39BEDD-2C1D-4BA2-A1EF-16958C0FFFCF}"/>
              </a:ext>
            </a:extLst>
          </p:cNvPr>
          <p:cNvSpPr/>
          <p:nvPr/>
        </p:nvSpPr>
        <p:spPr>
          <a:xfrm>
            <a:off x="7404875" y="1858434"/>
            <a:ext cx="6235837" cy="2352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1" kern="1200" smtClean="0">
                <a:ln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Chapter Seven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1" kern="1200" smtClean="0">
                <a:ln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Correlation </a:t>
            </a:r>
            <a:r>
              <a:rPr lang="en-US" sz="4700" b="1" kern="1200" dirty="0" smtClean="0">
                <a:ln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Analysis (part-1)</a:t>
            </a:r>
            <a:endParaRPr lang="en-US" sz="4700" b="1" kern="1200" dirty="0">
              <a:ln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030" name="Picture 6" descr="Abstract business statistic vector ... | Stock vector | Colourbox">
            <a:extLst>
              <a:ext uri="{FF2B5EF4-FFF2-40B4-BE49-F238E27FC236}">
                <a16:creationId xmlns:a16="http://schemas.microsoft.com/office/drawing/2014/main" id="{51EA5C82-0EB4-4B9E-A92D-CB52988CBF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58"/>
          <a:stretch/>
        </p:blipFill>
        <p:spPr bwMode="auto">
          <a:xfrm>
            <a:off x="20" y="1"/>
            <a:ext cx="9002320" cy="8229600"/>
          </a:xfrm>
          <a:custGeom>
            <a:avLst/>
            <a:gdLst/>
            <a:ahLst/>
            <a:cxnLst/>
            <a:rect l="l" t="t" r="r" b="b"/>
            <a:pathLst>
              <a:path w="7743949" h="6858000">
                <a:moveTo>
                  <a:pt x="956085" y="2071857"/>
                </a:moveTo>
                <a:cubicBezTo>
                  <a:pt x="956085" y="2071857"/>
                  <a:pt x="956085" y="2071857"/>
                  <a:pt x="4999548" y="2071857"/>
                </a:cubicBezTo>
                <a:cubicBezTo>
                  <a:pt x="5252811" y="2071857"/>
                  <a:pt x="5497339" y="2211072"/>
                  <a:pt x="5619604" y="2437296"/>
                </a:cubicBezTo>
                <a:cubicBezTo>
                  <a:pt x="5619604" y="2437296"/>
                  <a:pt x="5619604" y="2437296"/>
                  <a:pt x="7645701" y="5926372"/>
                </a:cubicBezTo>
                <a:cubicBezTo>
                  <a:pt x="7776699" y="6143896"/>
                  <a:pt x="7776699" y="6422327"/>
                  <a:pt x="7645701" y="6639850"/>
                </a:cubicBezTo>
                <a:cubicBezTo>
                  <a:pt x="7645701" y="6639850"/>
                  <a:pt x="7645701" y="6639850"/>
                  <a:pt x="7538856" y="6823844"/>
                </a:cubicBezTo>
                <a:lnTo>
                  <a:pt x="7519022" y="6858000"/>
                </a:lnTo>
                <a:lnTo>
                  <a:pt x="0" y="6858000"/>
                </a:lnTo>
                <a:lnTo>
                  <a:pt x="0" y="3003362"/>
                </a:lnTo>
                <a:lnTo>
                  <a:pt x="144017" y="2754282"/>
                </a:lnTo>
                <a:cubicBezTo>
                  <a:pt x="203181" y="2651956"/>
                  <a:pt x="264254" y="2546330"/>
                  <a:pt x="327296" y="2437296"/>
                </a:cubicBezTo>
                <a:cubicBezTo>
                  <a:pt x="458294" y="2211072"/>
                  <a:pt x="694090" y="2071857"/>
                  <a:pt x="956085" y="2071857"/>
                </a:cubicBezTo>
                <a:close/>
                <a:moveTo>
                  <a:pt x="0" y="0"/>
                </a:moveTo>
                <a:lnTo>
                  <a:pt x="6600525" y="0"/>
                </a:lnTo>
                <a:lnTo>
                  <a:pt x="6486618" y="196155"/>
                </a:lnTo>
                <a:cubicBezTo>
                  <a:pt x="6261242" y="584267"/>
                  <a:pt x="5994130" y="1044253"/>
                  <a:pt x="5677553" y="1589421"/>
                </a:cubicBezTo>
                <a:cubicBezTo>
                  <a:pt x="5555288" y="1815646"/>
                  <a:pt x="5310759" y="1954861"/>
                  <a:pt x="5057496" y="1954861"/>
                </a:cubicBezTo>
                <a:cubicBezTo>
                  <a:pt x="5057496" y="1954861"/>
                  <a:pt x="5057496" y="1954861"/>
                  <a:pt x="1014033" y="1954861"/>
                </a:cubicBezTo>
                <a:cubicBezTo>
                  <a:pt x="752038" y="1954861"/>
                  <a:pt x="516243" y="1815646"/>
                  <a:pt x="385244" y="1589421"/>
                </a:cubicBezTo>
                <a:cubicBezTo>
                  <a:pt x="385244" y="1589421"/>
                  <a:pt x="385244" y="1589421"/>
                  <a:pt x="69234" y="1042874"/>
                </a:cubicBezTo>
                <a:lnTo>
                  <a:pt x="0" y="92313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9154706" y="5689914"/>
            <a:ext cx="4288569" cy="2634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5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lowchart: Document 36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878" y="0"/>
            <a:ext cx="3775829" cy="4080511"/>
          </a:xfrm>
          <a:prstGeom prst="flowChartDocument">
            <a:avLst/>
          </a:prstGeom>
          <a:solidFill>
            <a:srgbClr val="3A66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4F9EA7A2-0805-4A84-8943-2CB4584ABDB7}"/>
              </a:ext>
            </a:extLst>
          </p:cNvPr>
          <p:cNvSpPr txBox="1"/>
          <p:nvPr/>
        </p:nvSpPr>
        <p:spPr>
          <a:xfrm>
            <a:off x="617517" y="205394"/>
            <a:ext cx="4013860" cy="284537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Objectives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C194B895-F95E-403E-958D-783DDB2D78D1}"/>
              </a:ext>
            </a:extLst>
          </p:cNvPr>
          <p:cNvSpPr txBox="1">
            <a:spLocks/>
          </p:cNvSpPr>
          <p:nvPr/>
        </p:nvSpPr>
        <p:spPr>
          <a:xfrm>
            <a:off x="7343764" y="7633600"/>
            <a:ext cx="353481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39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IN" sz="139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39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4DD779-7F05-4F16-9518-6AF36A9F478A}"/>
              </a:ext>
            </a:extLst>
          </p:cNvPr>
          <p:cNvSpPr/>
          <p:nvPr/>
        </p:nvSpPr>
        <p:spPr>
          <a:xfrm>
            <a:off x="4836587" y="1904602"/>
            <a:ext cx="89497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400" b="1" smtClean="0"/>
              <a:t>Find out </a:t>
            </a:r>
            <a:r>
              <a:rPr lang="en-US" sz="2400" b="1" dirty="0" smtClean="0"/>
              <a:t>Whether there is any relation between or among of the variables.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400" b="1" dirty="0" smtClean="0"/>
              <a:t> Strength of the relationship.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7008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lowchart: Document 36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878" y="0"/>
            <a:ext cx="3775829" cy="4080511"/>
          </a:xfrm>
          <a:prstGeom prst="flowChartDocument">
            <a:avLst/>
          </a:prstGeom>
          <a:solidFill>
            <a:srgbClr val="3A66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4F9EA7A2-0805-4A84-8943-2CB4584ABDB7}"/>
              </a:ext>
            </a:extLst>
          </p:cNvPr>
          <p:cNvSpPr txBox="1"/>
          <p:nvPr/>
        </p:nvSpPr>
        <p:spPr>
          <a:xfrm>
            <a:off x="617517" y="205394"/>
            <a:ext cx="4013860" cy="284537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OUTLINE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C194B895-F95E-403E-958D-783DDB2D78D1}"/>
              </a:ext>
            </a:extLst>
          </p:cNvPr>
          <p:cNvSpPr txBox="1">
            <a:spLocks/>
          </p:cNvSpPr>
          <p:nvPr/>
        </p:nvSpPr>
        <p:spPr>
          <a:xfrm>
            <a:off x="7343764" y="7633600"/>
            <a:ext cx="353481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39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IN" sz="139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39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4DD779-7F05-4F16-9518-6AF36A9F478A}"/>
              </a:ext>
            </a:extLst>
          </p:cNvPr>
          <p:cNvSpPr/>
          <p:nvPr/>
        </p:nvSpPr>
        <p:spPr>
          <a:xfrm>
            <a:off x="4836587" y="1904602"/>
            <a:ext cx="836645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800" b="1" dirty="0"/>
              <a:t>Define correlation</a:t>
            </a:r>
            <a:endParaRPr lang="en-US" sz="28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800" b="1" dirty="0"/>
              <a:t>Types of correlation &amp; its </a:t>
            </a:r>
            <a:r>
              <a:rPr lang="en-US" sz="2800" b="1" dirty="0" smtClean="0"/>
              <a:t>interpretation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b="1" dirty="0" smtClean="0"/>
              <a:t>Measuring correlation by drawing Scatter </a:t>
            </a:r>
            <a:r>
              <a:rPr lang="en-US" sz="2800" b="1" dirty="0"/>
              <a:t>plot </a:t>
            </a:r>
            <a:r>
              <a:rPr lang="en-US" sz="2800" b="1" dirty="0" smtClean="0"/>
              <a:t>and interpretation.</a:t>
            </a:r>
            <a:endParaRPr lang="en-US" sz="28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167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>
            <a:extLst>
              <a:ext uri="{FF2B5EF4-FFF2-40B4-BE49-F238E27FC236}">
                <a16:creationId xmlns:a16="http://schemas.microsoft.com/office/drawing/2014/main" id="{4F9EA7A2-0805-4A84-8943-2CB4584ABDB7}"/>
              </a:ext>
            </a:extLst>
          </p:cNvPr>
          <p:cNvSpPr txBox="1"/>
          <p:nvPr/>
        </p:nvSpPr>
        <p:spPr>
          <a:xfrm>
            <a:off x="617517" y="205394"/>
            <a:ext cx="4013860" cy="284537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C194B895-F95E-403E-958D-783DDB2D78D1}"/>
              </a:ext>
            </a:extLst>
          </p:cNvPr>
          <p:cNvSpPr txBox="1">
            <a:spLocks/>
          </p:cNvSpPr>
          <p:nvPr/>
        </p:nvSpPr>
        <p:spPr>
          <a:xfrm>
            <a:off x="7343764" y="7633600"/>
            <a:ext cx="353481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39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82BD9-7DAA-4EC3-995F-9B816A84184C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CDA5A22D-59AF-4B47-A9C3-F7D87C725C9B}"/>
              </a:ext>
            </a:extLst>
          </p:cNvPr>
          <p:cNvSpPr txBox="1">
            <a:spLocks/>
          </p:cNvSpPr>
          <p:nvPr/>
        </p:nvSpPr>
        <p:spPr>
          <a:xfrm>
            <a:off x="764631" y="1501959"/>
            <a:ext cx="12578021" cy="5335425"/>
          </a:xfrm>
          <a:prstGeom prst="rect">
            <a:avLst/>
          </a:prstGeom>
        </p:spPr>
        <p:txBody>
          <a:bodyPr>
            <a:normAutofit/>
          </a:bodyPr>
          <a:lstStyle>
            <a:lvl1pPr marL="265748" indent="-265748" algn="l" defTabSz="1062990" rtl="0" eaLnBrk="1" latinLnBrk="0" hangingPunct="1">
              <a:lnSpc>
                <a:spcPct val="90000"/>
              </a:lnSpc>
              <a:spcBef>
                <a:spcPts val="1163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7243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7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8738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60233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0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1728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0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23223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0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54718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0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86213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0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17708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0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Correlation: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Correlation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a measure of relationship between two or more variables.</a:t>
            </a:r>
          </a:p>
          <a:p>
            <a:pPr marL="82296" indent="0">
              <a:buFont typeface="Arial" panose="020B0604020202020204" pitchFamily="34" charset="0"/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Example: </a:t>
            </a:r>
          </a:p>
          <a:p>
            <a:pPr marL="82296" indent="0">
              <a:buFont typeface="Arial" panose="020B0604020202020204" pitchFamily="34" charset="0"/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Font typeface="Arial" panose="020B0604020202020204" pitchFamily="34" charset="0"/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Font typeface="Arial" panose="020B0604020202020204" pitchFamily="34" charset="0"/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ctr">
              <a:buFont typeface="Arial" panose="020B0604020202020204" pitchFamily="34" charset="0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613791" lvl="1" indent="0" algn="ctr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       </a:t>
            </a:r>
            <a:r>
              <a:rPr lang="en-US" sz="1935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935" dirty="0" smtClean="0">
                <a:latin typeface="Times New Roman" pitchFamily="18" charset="0"/>
                <a:cs typeface="Times New Roman" pitchFamily="18" charset="0"/>
              </a:rPr>
              <a:t>                    0</a:t>
            </a:r>
            <a:r>
              <a:rPr lang="en-US" sz="1935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sz="1135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lnSpc>
                <a:spcPct val="125000"/>
              </a:lnSpc>
              <a:buFont typeface="Arial" panose="020B0604020202020204" pitchFamily="34" charset="0"/>
              <a:buNone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15">
            <a:extLst>
              <a:ext uri="{FF2B5EF4-FFF2-40B4-BE49-F238E27FC236}">
                <a16:creationId xmlns:a16="http://schemas.microsoft.com/office/drawing/2014/main" id="{3F1E2ADE-33A5-4296-AF0F-94AE94401F3A}"/>
              </a:ext>
            </a:extLst>
          </p:cNvPr>
          <p:cNvSpPr/>
          <p:nvPr/>
        </p:nvSpPr>
        <p:spPr>
          <a:xfrm>
            <a:off x="5457179" y="3049051"/>
            <a:ext cx="2895600" cy="94999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82296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lnSpc>
                <a:spcPct val="125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Advertisement            X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marL="82296" indent="0">
              <a:lnSpc>
                <a:spcPct val="15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Sales                             Y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ctr"/>
            <a:endParaRPr lang="en-US" dirty="0"/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7A061EA6-9329-4ECE-AEC4-ABACFE6B5D21}"/>
              </a:ext>
            </a:extLst>
          </p:cNvPr>
          <p:cNvSpPr/>
          <p:nvPr/>
        </p:nvSpPr>
        <p:spPr>
          <a:xfrm>
            <a:off x="9020384" y="3064347"/>
            <a:ext cx="2895600" cy="94999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82296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lnSpc>
                <a:spcPct val="125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Price                       X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 marL="82296" indent="0">
              <a:lnSpc>
                <a:spcPct val="15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Demand                  Y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DAF261-48C6-4FE5-8840-D707699F984F}"/>
              </a:ext>
            </a:extLst>
          </p:cNvPr>
          <p:cNvCxnSpPr>
            <a:cxnSpLocks/>
          </p:cNvCxnSpPr>
          <p:nvPr/>
        </p:nvCxnSpPr>
        <p:spPr>
          <a:xfrm>
            <a:off x="5648310" y="4840414"/>
            <a:ext cx="6646127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51C613-0BC4-4705-94EF-4BAA8A601A1B}"/>
              </a:ext>
            </a:extLst>
          </p:cNvPr>
          <p:cNvSpPr txBox="1"/>
          <p:nvPr/>
        </p:nvSpPr>
        <p:spPr>
          <a:xfrm>
            <a:off x="11445013" y="5418259"/>
            <a:ext cx="189763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2296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1  	  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marL="82296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1	 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1  </a:t>
            </a:r>
          </a:p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43C095-3819-4E0A-9E40-D43CDAE4F059}"/>
              </a:ext>
            </a:extLst>
          </p:cNvPr>
          <p:cNvCxnSpPr/>
          <p:nvPr/>
        </p:nvCxnSpPr>
        <p:spPr>
          <a:xfrm flipV="1">
            <a:off x="11972905" y="5563543"/>
            <a:ext cx="0" cy="22860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92C350-1E14-4628-85A7-F29D6DE48387}"/>
              </a:ext>
            </a:extLst>
          </p:cNvPr>
          <p:cNvCxnSpPr/>
          <p:nvPr/>
        </p:nvCxnSpPr>
        <p:spPr>
          <a:xfrm flipV="1">
            <a:off x="13115905" y="5584809"/>
            <a:ext cx="0" cy="22860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283DB7-1C35-42A3-BB5F-F1F6B4BF37DA}"/>
              </a:ext>
            </a:extLst>
          </p:cNvPr>
          <p:cNvCxnSpPr/>
          <p:nvPr/>
        </p:nvCxnSpPr>
        <p:spPr>
          <a:xfrm>
            <a:off x="11979993" y="5964925"/>
            <a:ext cx="0" cy="22860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C9A385-0C86-4585-848E-A50AC4985D19}"/>
              </a:ext>
            </a:extLst>
          </p:cNvPr>
          <p:cNvCxnSpPr/>
          <p:nvPr/>
        </p:nvCxnSpPr>
        <p:spPr>
          <a:xfrm>
            <a:off x="13115905" y="5964441"/>
            <a:ext cx="0" cy="22860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8313776-B9DE-4FB6-807C-F6F85B5846A8}"/>
              </a:ext>
            </a:extLst>
          </p:cNvPr>
          <p:cNvSpPr txBox="1"/>
          <p:nvPr/>
        </p:nvSpPr>
        <p:spPr>
          <a:xfrm>
            <a:off x="5007045" y="5481451"/>
            <a:ext cx="189763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2296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2  	  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 marL="82296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2	           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2 </a:t>
            </a:r>
          </a:p>
          <a:p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6CEC578-6E91-4DEB-A291-FCE227617D8A}"/>
              </a:ext>
            </a:extLst>
          </p:cNvPr>
          <p:cNvCxnSpPr/>
          <p:nvPr/>
        </p:nvCxnSpPr>
        <p:spPr>
          <a:xfrm flipV="1">
            <a:off x="5534942" y="5626735"/>
            <a:ext cx="0" cy="22860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62D6838-9598-40B9-A041-9EFE935D306D}"/>
              </a:ext>
            </a:extLst>
          </p:cNvPr>
          <p:cNvCxnSpPr/>
          <p:nvPr/>
        </p:nvCxnSpPr>
        <p:spPr>
          <a:xfrm flipV="1">
            <a:off x="6639688" y="5968932"/>
            <a:ext cx="0" cy="22860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3EA9026-35F2-4561-8EEF-E62B2BDD0D49}"/>
              </a:ext>
            </a:extLst>
          </p:cNvPr>
          <p:cNvCxnSpPr/>
          <p:nvPr/>
        </p:nvCxnSpPr>
        <p:spPr>
          <a:xfrm>
            <a:off x="5542030" y="6028117"/>
            <a:ext cx="0" cy="22860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FEA86CB-9533-4114-875F-6F40A279B98A}"/>
              </a:ext>
            </a:extLst>
          </p:cNvPr>
          <p:cNvCxnSpPr/>
          <p:nvPr/>
        </p:nvCxnSpPr>
        <p:spPr>
          <a:xfrm>
            <a:off x="6639688" y="5623246"/>
            <a:ext cx="0" cy="22860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04AB38F-46F6-4BF3-B7B7-A1774C0C8BE1}"/>
              </a:ext>
            </a:extLst>
          </p:cNvPr>
          <p:cNvCxnSpPr/>
          <p:nvPr/>
        </p:nvCxnSpPr>
        <p:spPr>
          <a:xfrm>
            <a:off x="7263616" y="3341206"/>
            <a:ext cx="381000" cy="0"/>
          </a:xfrm>
          <a:prstGeom prst="straightConnector1">
            <a:avLst/>
          </a:prstGeom>
          <a:ln w="3175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1F2F75-141D-45B0-8A32-003F5DAC2BDA}"/>
              </a:ext>
            </a:extLst>
          </p:cNvPr>
          <p:cNvCxnSpPr/>
          <p:nvPr/>
        </p:nvCxnSpPr>
        <p:spPr>
          <a:xfrm>
            <a:off x="7266459" y="3732868"/>
            <a:ext cx="381000" cy="0"/>
          </a:xfrm>
          <a:prstGeom prst="straightConnector1">
            <a:avLst/>
          </a:prstGeom>
          <a:ln w="3175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85F1A60-91F5-4D6C-81C3-C5A2FA0E07C2}"/>
              </a:ext>
            </a:extLst>
          </p:cNvPr>
          <p:cNvCxnSpPr/>
          <p:nvPr/>
        </p:nvCxnSpPr>
        <p:spPr>
          <a:xfrm>
            <a:off x="10462312" y="3343908"/>
            <a:ext cx="381000" cy="0"/>
          </a:xfrm>
          <a:prstGeom prst="straightConnector1">
            <a:avLst/>
          </a:prstGeom>
          <a:ln w="3175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C3ADFC-4194-4CCB-AEF4-618E936F17AF}"/>
              </a:ext>
            </a:extLst>
          </p:cNvPr>
          <p:cNvCxnSpPr/>
          <p:nvPr/>
        </p:nvCxnSpPr>
        <p:spPr>
          <a:xfrm>
            <a:off x="10482217" y="3732868"/>
            <a:ext cx="381000" cy="0"/>
          </a:xfrm>
          <a:prstGeom prst="straightConnector1">
            <a:avLst/>
          </a:prstGeom>
          <a:ln w="3175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12062" y="345051"/>
            <a:ext cx="5182301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CORRELATION with Examples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789099" y="4956594"/>
            <a:ext cx="7264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003800" y="5879698"/>
            <a:ext cx="2008105" cy="369332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 linear relation </a:t>
            </a:r>
            <a:endParaRPr lang="en-US" dirty="0"/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8831886" y="5582118"/>
            <a:ext cx="1" cy="3178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17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/>
      <p:bldP spid="20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>
            <a:extLst>
              <a:ext uri="{FF2B5EF4-FFF2-40B4-BE49-F238E27FC236}">
                <a16:creationId xmlns:a16="http://schemas.microsoft.com/office/drawing/2014/main" id="{1A59D83B-FD54-4833-9524-14736C243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14732" y="1143647"/>
            <a:ext cx="9514813" cy="627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fld id="{49F82BD9-7DAA-4EC3-995F-9B816A84184C}" type="slidenum">
              <a:rPr lang="en-US" sz="1200"/>
              <a:pPr algn="l" defTabSz="914400">
                <a:spcAft>
                  <a:spcPts val="600"/>
                </a:spcAft>
              </a:pPr>
              <a:t>5</a:t>
            </a:fld>
            <a:endParaRPr lang="en-US" sz="1200"/>
          </a:p>
        </p:txBody>
      </p:sp>
      <p:sp>
        <p:nvSpPr>
          <p:cNvPr id="6" name="Rectangle 5"/>
          <p:cNvSpPr/>
          <p:nvPr/>
        </p:nvSpPr>
        <p:spPr>
          <a:xfrm>
            <a:off x="712062" y="345051"/>
            <a:ext cx="5182301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CORRELATION</a:t>
            </a:r>
          </a:p>
        </p:txBody>
      </p:sp>
    </p:spTree>
    <p:extLst>
      <p:ext uri="{BB962C8B-B14F-4D97-AF65-F5344CB8AC3E}">
        <p14:creationId xmlns:p14="http://schemas.microsoft.com/office/powerpoint/2010/main" val="312948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>
            <a:extLst>
              <a:ext uri="{FF2B5EF4-FFF2-40B4-BE49-F238E27FC236}">
                <a16:creationId xmlns:a16="http://schemas.microsoft.com/office/drawing/2014/main" id="{4F9EA7A2-0805-4A84-8943-2CB4584ABDB7}"/>
              </a:ext>
            </a:extLst>
          </p:cNvPr>
          <p:cNvSpPr txBox="1"/>
          <p:nvPr/>
        </p:nvSpPr>
        <p:spPr>
          <a:xfrm>
            <a:off x="1069145" y="205394"/>
            <a:ext cx="3562232" cy="246746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85F2189-B4E1-4BB9-863C-E9A9B8929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17" y="1190903"/>
            <a:ext cx="7350367" cy="3009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C:\Users\User\Desktop\New folder\Summer'2020\Pic\1200-611181-65234949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1369" y="1190903"/>
            <a:ext cx="4994031" cy="312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12062" y="345051"/>
            <a:ext cx="5182301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CORRELATION</a:t>
            </a:r>
          </a:p>
        </p:txBody>
      </p:sp>
      <p:pic>
        <p:nvPicPr>
          <p:cNvPr id="4099" name="Picture 3" descr="C:\Users\User\Desktop\New folder\Summer'2020\Pic\correlation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976" y="3884043"/>
            <a:ext cx="3309922" cy="364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User\Desktop\New folder\Summer'2020\Pic\correlation_plot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1369" y="4470316"/>
            <a:ext cx="4495498" cy="286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7118252" y="5707160"/>
            <a:ext cx="1193117" cy="3908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4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>
            <a:extLst>
              <a:ext uri="{FF2B5EF4-FFF2-40B4-BE49-F238E27FC236}">
                <a16:creationId xmlns:a16="http://schemas.microsoft.com/office/drawing/2014/main" id="{4F9EA7A2-0805-4A84-8943-2CB4584ABDB7}"/>
              </a:ext>
            </a:extLst>
          </p:cNvPr>
          <p:cNvSpPr txBox="1"/>
          <p:nvPr/>
        </p:nvSpPr>
        <p:spPr>
          <a:xfrm>
            <a:off x="617517" y="205394"/>
            <a:ext cx="4013860" cy="284537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99258" y="1796896"/>
            <a:ext cx="9507782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Examples of positive correlation in real life: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/>
              <a:t>With </a:t>
            </a:r>
            <a:r>
              <a:rPr lang="en-US" sz="2400" dirty="0"/>
              <a:t>the growth of the company, the market value of company stocks </a:t>
            </a:r>
            <a:r>
              <a:rPr lang="en-US" sz="2400" dirty="0" smtClean="0"/>
              <a:t>increase.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/>
              <a:t>If I walk more, I will burn more </a:t>
            </a:r>
            <a:r>
              <a:rPr lang="en-US" sz="2400" dirty="0" smtClean="0"/>
              <a:t>calories.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/>
              <a:t>When </a:t>
            </a:r>
            <a:r>
              <a:rPr lang="en-US" sz="2400" dirty="0"/>
              <a:t>demand increases, price of the product increases (at same supply level</a:t>
            </a:r>
            <a:r>
              <a:rPr lang="en-US" sz="2400" dirty="0" smtClean="0"/>
              <a:t>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When you study more, you score high in the exams</a:t>
            </a:r>
            <a:r>
              <a:rPr lang="en-US" sz="2400" dirty="0" smtClean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When you pay more to your employees, they’re motivated to perform better</a:t>
            </a:r>
            <a:r>
              <a:rPr lang="en-US" sz="2400" dirty="0" smtClean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With increase in consumption of junk food, there is increase in obesity</a:t>
            </a:r>
            <a:r>
              <a:rPr lang="en-US" sz="2400" dirty="0" smtClean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When you meditate more, your concentration level increases</a:t>
            </a:r>
            <a:r>
              <a:rPr lang="en-US" sz="2400" dirty="0" smtClean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Couples who spend more time together have a healthier and long-lasting relationship.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062" y="345051"/>
            <a:ext cx="5182301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CORRELATION</a:t>
            </a:r>
          </a:p>
        </p:txBody>
      </p:sp>
    </p:spTree>
    <p:extLst>
      <p:ext uri="{BB962C8B-B14F-4D97-AF65-F5344CB8AC3E}">
        <p14:creationId xmlns:p14="http://schemas.microsoft.com/office/powerpoint/2010/main" val="124524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F90C6DA-A4B8-4207-9EF3-D7D6DF37B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18" y="1335466"/>
            <a:ext cx="6487207" cy="287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 descr="C:\Users\User\Desktop\New folder\Summer'2020\Pic\negative-correlation-in-psychology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038" y="1758338"/>
            <a:ext cx="4330426" cy="411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User\Desktop\New folder\Summer'2020\Pic\1200-612433-52054230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418" y="4502916"/>
            <a:ext cx="5264152" cy="283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970521" y="4453052"/>
            <a:ext cx="13548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2062" y="345051"/>
            <a:ext cx="5182301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CORRELATION</a:t>
            </a:r>
          </a:p>
        </p:txBody>
      </p:sp>
    </p:spTree>
    <p:extLst>
      <p:ext uri="{BB962C8B-B14F-4D97-AF65-F5344CB8AC3E}">
        <p14:creationId xmlns:p14="http://schemas.microsoft.com/office/powerpoint/2010/main" val="128820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97731" y="1815172"/>
            <a:ext cx="950778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Examples of Negative correlation in real </a:t>
            </a:r>
            <a:r>
              <a:rPr lang="en-US" sz="2800" b="1" dirty="0" smtClean="0"/>
              <a:t>life</a:t>
            </a:r>
            <a:endParaRPr lang="en-US" sz="2400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/>
              <a:t>More absenteeism in school activities, less GPA</a:t>
            </a:r>
            <a:r>
              <a:rPr lang="en-US" sz="2400" dirty="0" smtClean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/>
              <a:t>More vaccinations, less </a:t>
            </a:r>
            <a:r>
              <a:rPr lang="en-US" sz="2400" dirty="0" smtClean="0"/>
              <a:t>illness.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More expenditure, less money</a:t>
            </a:r>
            <a:r>
              <a:rPr lang="en-US" sz="2400" dirty="0" smtClean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More time for fun, less grades</a:t>
            </a:r>
            <a:r>
              <a:rPr lang="en-US" sz="2400" dirty="0" smtClean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More time at work, less time at home.</a:t>
            </a:r>
            <a:endParaRPr lang="en-US" sz="2400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 smtClean="0"/>
              <a:t>The volume of perfect gas increases and the pressure decreases.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/>
              <a:t> The price of a commodity decreases and the supply increases.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712062" y="345051"/>
            <a:ext cx="5182301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CORRELATION</a:t>
            </a:r>
          </a:p>
        </p:txBody>
      </p:sp>
    </p:spTree>
    <p:extLst>
      <p:ext uri="{BB962C8B-B14F-4D97-AF65-F5344CB8AC3E}">
        <p14:creationId xmlns:p14="http://schemas.microsoft.com/office/powerpoint/2010/main" val="207467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FA2D8A5-A55A-4D22-A4B4-5C8B8E803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98" y="1280862"/>
            <a:ext cx="7821611" cy="295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273D243A-C1F3-4021-A920-645CEFEA5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99" y="4472242"/>
            <a:ext cx="8657184" cy="2582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712062" y="345051"/>
            <a:ext cx="5182301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CORRELATION</a:t>
            </a:r>
          </a:p>
        </p:txBody>
      </p:sp>
    </p:spTree>
    <p:extLst>
      <p:ext uri="{BB962C8B-B14F-4D97-AF65-F5344CB8AC3E}">
        <p14:creationId xmlns:p14="http://schemas.microsoft.com/office/powerpoint/2010/main" val="416127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35" y="5345723"/>
            <a:ext cx="6897306" cy="1983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20" y="1347769"/>
            <a:ext cx="6587817" cy="3832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 descr="C:\Users\User\Desktop\New folder\Summer'2020\Pic\mpc-006-0203-partial-and-multiple-correlation-7-638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297" y="1888200"/>
            <a:ext cx="5117607" cy="2697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712062" y="345051"/>
            <a:ext cx="5182301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CORRELATION</a:t>
            </a:r>
          </a:p>
        </p:txBody>
      </p:sp>
    </p:spTree>
    <p:extLst>
      <p:ext uri="{BB962C8B-B14F-4D97-AF65-F5344CB8AC3E}">
        <p14:creationId xmlns:p14="http://schemas.microsoft.com/office/powerpoint/2010/main" val="153507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44AA6B-D273-4E78-9FC0-D93C9599B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12" y="1382106"/>
            <a:ext cx="6930881" cy="2736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6B97B287-185C-401E-A784-447222356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12" y="4965075"/>
            <a:ext cx="6413048" cy="198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8271451" y="2169399"/>
            <a:ext cx="431913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Another examples: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/>
              <a:t>Relationship among Demand, Supply and Product quality.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/>
              <a:t>Relationship among Expenditure, Income and Family size.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712062" y="345051"/>
            <a:ext cx="5182301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CORRELATION</a:t>
            </a:r>
          </a:p>
        </p:txBody>
      </p:sp>
    </p:spTree>
    <p:extLst>
      <p:ext uri="{BB962C8B-B14F-4D97-AF65-F5344CB8AC3E}">
        <p14:creationId xmlns:p14="http://schemas.microsoft.com/office/powerpoint/2010/main" val="149549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1BA9663-BFF6-44FD-9BFB-7F930A187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28" y="1136318"/>
            <a:ext cx="6597776" cy="3180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 descr="C:\Users\User\Desktop\New folder\Summer'2020\Pic\Positive-and-Negative-correlation-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373" y="4316491"/>
            <a:ext cx="6351504" cy="2590745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658" y="4642337"/>
            <a:ext cx="11403430" cy="2588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712062" y="345051"/>
            <a:ext cx="5182301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CORRELATION</a:t>
            </a:r>
          </a:p>
        </p:txBody>
      </p:sp>
    </p:spTree>
    <p:extLst>
      <p:ext uri="{BB962C8B-B14F-4D97-AF65-F5344CB8AC3E}">
        <p14:creationId xmlns:p14="http://schemas.microsoft.com/office/powerpoint/2010/main" val="86514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216617A-A3CF-44B7-ACAF-12459CA67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19" y="1116962"/>
            <a:ext cx="6307348" cy="283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 descr="C:\Users\User\Desktop\New folder\Summer'2020\Pic\curvvef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605" y="1382958"/>
            <a:ext cx="4544284" cy="355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05811" y="4925193"/>
            <a:ext cx="10174935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Examples:</a:t>
            </a:r>
          </a:p>
          <a:p>
            <a:pPr algn="just"/>
            <a:r>
              <a:rPr lang="en-US" sz="2400" dirty="0" smtClean="0"/>
              <a:t>Nonlinear </a:t>
            </a:r>
            <a:r>
              <a:rPr lang="en-US" sz="2400" dirty="0"/>
              <a:t>relationships also appear in real world situations, such as in the relationship between the value of a motorcycle and the amount of time you owned the motorcycle, or in the amount of time it takes to do a job in relation to the number of people there to help. 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062" y="345051"/>
            <a:ext cx="5182301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CORRELATION</a:t>
            </a:r>
          </a:p>
        </p:txBody>
      </p:sp>
    </p:spTree>
    <p:extLst>
      <p:ext uri="{BB962C8B-B14F-4D97-AF65-F5344CB8AC3E}">
        <p14:creationId xmlns:p14="http://schemas.microsoft.com/office/powerpoint/2010/main" val="107447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C85FA357-0EAF-430F-9608-5BD8455C2376}"/>
              </a:ext>
            </a:extLst>
          </p:cNvPr>
          <p:cNvSpPr txBox="1">
            <a:spLocks/>
          </p:cNvSpPr>
          <p:nvPr/>
        </p:nvSpPr>
        <p:spPr>
          <a:xfrm>
            <a:off x="2383118" y="2637669"/>
            <a:ext cx="7098507" cy="2820596"/>
          </a:xfrm>
          <a:prstGeom prst="rect">
            <a:avLst/>
          </a:prstGeom>
        </p:spPr>
        <p:txBody>
          <a:bodyPr>
            <a:normAutofit/>
          </a:bodyPr>
          <a:lstStyle>
            <a:lvl1pPr marL="265748" indent="-265748" algn="l" defTabSz="1062990" rtl="0" eaLnBrk="1" latinLnBrk="0" hangingPunct="1">
              <a:lnSpc>
                <a:spcPct val="90000"/>
              </a:lnSpc>
              <a:spcBef>
                <a:spcPts val="1163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7243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7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8738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60233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0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1728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0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23223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0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54718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0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86213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0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17708" indent="-265748" algn="l" defTabSz="1062990" rtl="0" eaLnBrk="1" latinLnBrk="0" hangingPunct="1">
              <a:lnSpc>
                <a:spcPct val="90000"/>
              </a:lnSpc>
              <a:spcBef>
                <a:spcPts val="581"/>
              </a:spcBef>
              <a:buFont typeface="Arial" panose="020B0604020202020204" pitchFamily="34" charset="0"/>
              <a:buChar char="•"/>
              <a:defRPr sz="20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6646" indent="-514350"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Scatter Diagram Method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Karl Pearson’s Correlation Coefficient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Spearman’s Rank Correlation Coefficient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Methods of Least Squares </a:t>
            </a:r>
          </a:p>
          <a:p>
            <a:endParaRPr lang="en-US" sz="30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Font typeface="Arial" panose="020B0604020202020204" pitchFamily="34" charset="0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AA2A89-81DE-49D3-9131-25D46D1C59D0}"/>
              </a:ext>
            </a:extLst>
          </p:cNvPr>
          <p:cNvSpPr/>
          <p:nvPr/>
        </p:nvSpPr>
        <p:spPr>
          <a:xfrm>
            <a:off x="9712386" y="2409066"/>
            <a:ext cx="1873405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82296" indent="0" algn="ctr">
              <a:buNone/>
            </a:pPr>
            <a:r>
              <a:rPr lang="en-US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We will practice the </a:t>
            </a:r>
            <a:r>
              <a:rPr lang="en-US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maths</a:t>
            </a:r>
            <a:r>
              <a:rPr lang="en-US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of these two techniques</a:t>
            </a:r>
            <a:r>
              <a:rPr lang="en-US" sz="16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.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6677A97F-0EAD-4091-A6DE-3D16827E661F}"/>
              </a:ext>
            </a:extLst>
          </p:cNvPr>
          <p:cNvSpPr/>
          <p:nvPr/>
        </p:nvSpPr>
        <p:spPr>
          <a:xfrm>
            <a:off x="8610966" y="2468781"/>
            <a:ext cx="609600" cy="1143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0611" y="315017"/>
            <a:ext cx="6880860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STUDYING CORRELATION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0611" y="1406951"/>
            <a:ext cx="1052439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 dirty="0" smtClean="0"/>
              <a:t>Correlation can be studied by the following methods: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931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C:\Users\ibrahim\Desktop\scatter-plots-shape.bmp">
            <a:extLst>
              <a:ext uri="{FF2B5EF4-FFF2-40B4-BE49-F238E27FC236}">
                <a16:creationId xmlns:a16="http://schemas.microsoft.com/office/drawing/2014/main" id="{DF145E52-35D6-4D69-B872-A26FBD03B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009" y="2263364"/>
            <a:ext cx="6458415" cy="4968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300215-59CF-4C60-8987-F2D6F93A4AED}"/>
              </a:ext>
            </a:extLst>
          </p:cNvPr>
          <p:cNvSpPr txBox="1"/>
          <p:nvPr/>
        </p:nvSpPr>
        <p:spPr>
          <a:xfrm>
            <a:off x="464234" y="1524700"/>
            <a:ext cx="42626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1. Scatter Diagram Method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00215-59CF-4C60-8987-F2D6F93A4AED}"/>
              </a:ext>
            </a:extLst>
          </p:cNvPr>
          <p:cNvSpPr txBox="1"/>
          <p:nvPr/>
        </p:nvSpPr>
        <p:spPr>
          <a:xfrm>
            <a:off x="464234" y="322814"/>
            <a:ext cx="5725551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Scatter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Diagram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47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2702028" y="7627620"/>
            <a:ext cx="727077" cy="4381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9F82BD9-7DAA-4EC3-995F-9B816A84184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6636393"/>
              </p:ext>
            </p:extLst>
          </p:nvPr>
        </p:nvGraphicFramePr>
        <p:xfrm>
          <a:off x="7944858" y="1430585"/>
          <a:ext cx="5711482" cy="4360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020015"/>
              </p:ext>
            </p:extLst>
          </p:nvPr>
        </p:nvGraphicFramePr>
        <p:xfrm>
          <a:off x="401136" y="1700165"/>
          <a:ext cx="7803938" cy="2414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Document" r:id="rId5" imgW="6105346" imgH="1891176" progId="Word.Document.12">
                  <p:embed/>
                </p:oleObj>
              </mc:Choice>
              <mc:Fallback>
                <p:oleObj name="Document" r:id="rId5" imgW="6105346" imgH="18911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1136" y="1700165"/>
                        <a:ext cx="7803938" cy="2414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387069" y="4023604"/>
            <a:ext cx="4578826" cy="7078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Draw Scatter </a:t>
            </a:r>
            <a:r>
              <a:rPr lang="en-US" sz="2000" dirty="0" smtClean="0"/>
              <a:t>diagram and comment on the correlation.</a:t>
            </a:r>
            <a:endParaRPr lang="en-US" sz="2000" dirty="0"/>
          </a:p>
        </p:txBody>
      </p:sp>
      <p:sp>
        <p:nvSpPr>
          <p:cNvPr id="11" name="Right Arrow 10"/>
          <p:cNvSpPr/>
          <p:nvPr/>
        </p:nvSpPr>
        <p:spPr>
          <a:xfrm>
            <a:off x="5440837" y="5137813"/>
            <a:ext cx="1786597" cy="4360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8595" y="5163234"/>
            <a:ext cx="4677300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 smtClean="0"/>
              <a:t>Steps to draw Scatter diagram: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Considering one variable in X-axis and another variable in the Y-axis, find intersect points for each of the subjects.</a:t>
            </a:r>
            <a:endParaRPr lang="en-US" sz="2000" dirty="0"/>
          </a:p>
        </p:txBody>
      </p:sp>
      <p:sp>
        <p:nvSpPr>
          <p:cNvPr id="13" name="Rectangle 12"/>
          <p:cNvSpPr/>
          <p:nvPr/>
        </p:nvSpPr>
        <p:spPr>
          <a:xfrm>
            <a:off x="288595" y="258466"/>
            <a:ext cx="7656263" cy="5847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Procedure of drawing Scatter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Diagram</a:t>
            </a:r>
            <a:endParaRPr lang="en-US" sz="3200" dirty="0"/>
          </a:p>
        </p:txBody>
      </p:sp>
      <p:sp>
        <p:nvSpPr>
          <p:cNvPr id="14" name="Rectangle 13"/>
          <p:cNvSpPr/>
          <p:nvPr/>
        </p:nvSpPr>
        <p:spPr>
          <a:xfrm>
            <a:off x="7944858" y="6162760"/>
            <a:ext cx="579927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Comment: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ith the increase of age, Glucose level is also increased, so there is a positive correlation between the variables.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20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Chart bld="category"/>
        </p:bldSub>
      </p:bldGraphic>
      <p:bldP spid="9" grpId="0" animBg="1"/>
      <p:bldP spid="11" grpId="0" animBg="1"/>
      <p:bldP spid="12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18</a:t>
            </a:fld>
            <a:endParaRPr lang="en-IN"/>
          </a:p>
        </p:txBody>
      </p:sp>
      <p:pic>
        <p:nvPicPr>
          <p:cNvPr id="3074" name="Picture 2" descr="C:\Users\User\Desktop\New folder\Summer'2020\Pic\imag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145" y="1826859"/>
            <a:ext cx="7975023" cy="448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869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7C64C5810D5B340B5AF730A05A47286" ma:contentTypeVersion="8" ma:contentTypeDescription="Ein neues Dokument erstellen." ma:contentTypeScope="" ma:versionID="683c182e13f78e36779d649cd0a7292b">
  <xsd:schema xmlns:xsd="http://www.w3.org/2001/XMLSchema" xmlns:xs="http://www.w3.org/2001/XMLSchema" xmlns:p="http://schemas.microsoft.com/office/2006/metadata/properties" xmlns:ns3="01e2b7a1-b8e0-4120-b79e-cd741afd5999" targetNamespace="http://schemas.microsoft.com/office/2006/metadata/properties" ma:root="true" ma:fieldsID="6da0001eca0b83fb1f54f6d1020b5c7c" ns3:_="">
    <xsd:import namespace="01e2b7a1-b8e0-4120-b79e-cd741afd59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2b7a1-b8e0-4120-b79e-cd741afd59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D278ADD-8DA4-42BC-AFD5-B010DB7F14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FAAD97-E65A-45F3-B3F1-A1E228F66B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2b7a1-b8e0-4120-b79e-cd741afd59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D882CEC-27A7-4760-B194-0F488A305EF3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01e2b7a1-b8e0-4120-b79e-cd741afd5999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533</Words>
  <Application>Microsoft Office PowerPoint</Application>
  <PresentationFormat>Custom</PresentationFormat>
  <Paragraphs>118</Paragraphs>
  <Slides>18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IBRAHIM</dc:creator>
  <cp:lastModifiedBy>Windows User</cp:lastModifiedBy>
  <cp:revision>81</cp:revision>
  <dcterms:created xsi:type="dcterms:W3CDTF">2020-05-06T13:37:08Z</dcterms:created>
  <dcterms:modified xsi:type="dcterms:W3CDTF">2020-07-11T06:57:59Z</dcterms:modified>
</cp:coreProperties>
</file>