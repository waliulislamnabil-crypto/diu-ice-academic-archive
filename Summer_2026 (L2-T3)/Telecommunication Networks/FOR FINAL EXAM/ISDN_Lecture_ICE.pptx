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4774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Today's lecture: ISDN — Integrated Services Digital Network. Ask: how many networks did we historically need for voice, data and video? ISDN was the first attempt to merge them into ONE end-to-end digital network. Duration: ~50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through the five objectives quickly (1 minute). Emphasise that the exam-relevant items are: channel structures (BRI/PRI numbers), reference model, and service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teaching point: the core network was ALREADY digital (64 kbps PCM after Nyquist sampling at 8 kHz × 8 bits). The bottleneck was the analog local loop. ISDN = digitising the last mile so one line integrates all services. Ask students to recall PCM from earlier lectures.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teaching point: the core network was ALREADY digital (64 kbps PCM after Nyquist sampling at 8 kHz × 8 bits). The bottleneck was the analog local loop. ISDN = digitising the last mile so one line integrates all services. Ask students to recall PCM from earlier lectures.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031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ITU-T style definition, then unpack the four pillars. Stress 'Integrated Services' = many services, one network, one line. Mention the standards: ITU-T (formerly CCITT) I-series and Q-series recommendations, first published 1984, revised 1988 (Blue Book).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Mnemonic: B = Bearer (user data), D = Delta/Data-signalling (control). Why 64 kbps? PCM voice: 8000 samples/s × 8 bits = 64 kbps — the fundamental building block of digital telephony. H channels: H0 = 6×B = 384 kbps; H11 = 24×B = 1.536 Mbps (US T1 payload); H12 = 30×B = 1.920 Mbps (Europe E1 payload). Signalling is OUT-OF-BAND: control travels on D, never stealing capacity from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 = 2B+D. Work the arithmetic on the board: 2(64)+16 = 144 kbps usable; the I.430 frame adds 48 kbps of framing/synchronisation → 192 kbps gross line rate. Uses the EXISTING copper pair (up to ~5.5 km with 2B1Q line coding on the U interface). Up to 8 devices can share the S/T bus (passive bus). Good exam question: why is D only 16 kbps at BRI? Because signalling traffic is bursty and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 targets organisations, delivered over T1/E1. Bangladesh follows the European E1 standard: 30B+D = 30×64 + 64 = 1.984 Mbps + 64 kbps framing (slot 0) = 2.048 Mbps. US: 23×64+64 = 1.536 Mbps + 8 kbps framing = 1.544 Mbps. Note D is 64 kbps here (not 16) — more calls to manage. One D channel can even control several PRIs (NFAS). Quick quiz: how many simultaneous voice calls on one E1 PRI? Answer: 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FUNCTIONAL groups — roles, not necessarily separate boxes (one product can combine NT1+NT2). TE1 speaks ISDN natively; TE2 does not and needs a TA. NT1 belongs to layer 1 only (line coding, timing, power feeding); NT2 adds layers 2–3 intelligence (a PBX). In North America the customer owns NT1; in Europe the operator provides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this chain on the board and have students memorise it: TE2 –R– TA –S– NT2 –T– NT1 –U– Exchange. Memory aid: the letters run R→S→T→U moving toward the network. S and T are electrically identical (hence 'S/T interface' on equipment). U is where the 2B1Q-coded 2-wire loop begins. Classic exam question: 'Draw the ISDN reference model and explain each reference point.'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Analogy: a bearer service is the delivery truck (just moves bits, layers 1–3); a teleservice is the whole courier company including packaging (layers 1–7, terminal included); supplementary services are the add-ons like tracking and signature-on-delivery. CLIP/caller-ID — now universal — was popularised by the ISDN D-channel signalling.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 call: user lifts handset → TE sends Q.931 SETUP over D channel (inside LAPD frames) → network routes via SS7 → far end ALERTING → CONNECT → then the B channel carries speech. Q.921/LAPD is HDLC-derived (compare with LAPB from X.25). Emphasise: ISDN standardises all 3 layers on D, but only layer 1 on B — that's what makes B channels service-transparent.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B-ISDN was the ITU's answer to N-ISDN's speed ceiling: keep the 'one integrated network' vision but move to fibre + ATM cell switching. ATM = Asynchronous Transfer Mode, 53-byte cells (48 payload + 5 header), designed for guaranteed QoS. Historically important: ATM dominated telecom backbones in the 90s (and early DSL DSLAMs), but IP/Ethernet won the converged-network war. One-line takeaway: N-ISDN digitised the loop; B-ISDN previewed today's fibre multimedia networks.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Discussion prompt (2 min, pairs): 'If ISDN was so well engineered, why did it fail commercially?' Guide them to: standards took a decade (joke expansion: 'It Still Does Nothing'); per-minute pricing vs flat-rate DSL; and 128 kbps vs multi-Mbps ADSL on the SAME copper pair. Good engineering ≠ market success — timing and economics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ISDN is legacy technology, but its DNA is everywhere: (1) DSL literally means Digital Subscriber Line — the term and 2B1Q line-coding research came from ISDN; (2) Q.931 messages map to SIP methods (SETUP↔INVITE, DISCONNECT↔BYE) — useful when students later meet VoIP; (3) E1 PRI trunks still connect many PBXs in Bangladesh today. Mention local context: BTCL's network followed the E1/European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slide — read each row aloud and cold-call students to expand one item each. The three numbers they must never forget: 64 kbps (the B channel / PCM voice rate), 144 kbps (BRI user rate) and 2.048 Mbps (E1 PRI).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Q2 and Q3 as homework (numerical + diagram). Q6 is a good viva/discussion question. Announce next lecture topic (e.g. DSL family / SS7 signalling), which builds directly on today's concepts.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685800"/>
            <a:ext cx="822960" cy="822960"/>
          </a:xfrm>
          <a:prstGeom prst="ellipse">
            <a:avLst/>
          </a:prstGeom>
          <a:solidFill>
            <a:srgbClr val="16405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490" y="89977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916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ISDN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Services Digital Network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160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digital pipe for voice, data and video over the telephone network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Telecommunication Engineering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&amp; Communication Engineering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Daffodil International University (DIU)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lecture you will be able to…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in Telecommunication  ·  Dept. of ICE, DIU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16152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1339779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1704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ISDN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069080" y="117043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concept, motivation and design goals of the Integrated Services Digital Network.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1929384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7" y="2053011"/>
            <a:ext cx="228234" cy="2282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188366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channels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069080" y="1883664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B, D and H channels and compute the capacity of BRI and PRI access.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2642616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7" y="2766243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34440" y="259689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architecture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069080" y="2596896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functional groups (TE1, TE2, TA, NT1, NT2) and reference points (R, S, T, U).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" y="3355848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267" y="3479475"/>
            <a:ext cx="228234" cy="2282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34440" y="33101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services &amp; protocols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4069080" y="3310128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bearer, tele- and supplementary services; outline the D-channel protocol stack.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548640" y="4069080"/>
            <a:ext cx="475488" cy="47548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267" y="4192707"/>
            <a:ext cx="228234" cy="22823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40233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ISDN today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4069080" y="402336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B-ISDN, the strengths and limits of ISDN, and why DSL/fibre replaced it.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ISDN: The Analog PSTN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in Telecommunication  ·  Dept. of ICE, DIU</a:t>
            </a:r>
            <a:endParaRPr lang="en-US" sz="900" dirty="0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4238DB67-476A-46DF-AF59-057C059BB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777240"/>
            <a:ext cx="618926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Suppose your home telephone line can simultaneously: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Make a voice call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Send a fax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Browse the Internet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Conduct a video conference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an ordinary analog telephone line do this?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F2D5A8-F4EF-4829-AAA1-7342E84CC819}"/>
              </a:ext>
            </a:extLst>
          </p:cNvPr>
          <p:cNvSpPr txBox="1"/>
          <p:nvPr/>
        </p:nvSpPr>
        <p:spPr>
          <a:xfrm>
            <a:off x="457200" y="2427059"/>
            <a:ext cx="8031707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  <a:r>
              <a:rPr lang="en-US" sz="16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No.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telephone systems were designed mainly for voice communication.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demand for: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Fax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conferencing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transfer 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the need for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digital communication network.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network is called </a:t>
            </a:r>
            <a:r>
              <a:rPr lang="en-US" sz="1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ISDN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ISDN: The Analog PSTN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telephone network needed to go digital end-to-end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in Telecommunication  ·  Dept. of ICE, DIU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rgbClr val="EAF3F7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PSTN (1960s–80s)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783080"/>
            <a:ext cx="3520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loop (subscriber line) carried analog signals only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one service: 3.1 kHz voice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needed modems — limited to ~9.6–56 kbps</a:t>
            </a:r>
            <a:endParaRPr lang="en-US" sz="125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Low data rate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Noise and distortion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Separate network for voice and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2"/>
                </a:solidFill>
              </a:rPr>
              <a:t>Slow modem speed </a:t>
            </a:r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065A82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417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239" y="1548079"/>
            <a:ext cx="241402" cy="24140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23560" y="1463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idea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983480" y="214884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1980s, switches and trunks were already digital (PCM, 64 kbps). Only the last mile remained analog.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83480" y="310896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extends digital transmission all the way to the subscriber — “end-to-end digital connectivity.”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2163940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ISDN?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and design goals (ITU-T, 1984 — I-series recommendations)- </a:t>
            </a:r>
            <a:r>
              <a:rPr lang="en-US" sz="1300" i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converts the old analog telephone network into a digital network capable of carrying multiple services simultaneously.</a:t>
            </a:r>
            <a:endParaRPr lang="en-US" sz="1300" dirty="0">
              <a:solidFill>
                <a:schemeClr val="accent2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in Telecommunication  ·  Dept. of ICE, DIU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0F2C3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07008"/>
            <a:ext cx="7726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Services Digital Network (ISDN) is a set of communication standards that allows the digital transmission of voice, video, data, and other services over traditional telephone networks.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975104" cy="2240280"/>
          </a:xfrm>
          <a:prstGeom prst="roundRect">
            <a:avLst>
              <a:gd name="adj" fmla="val 3704"/>
            </a:avLst>
          </a:prstGeom>
          <a:solidFill>
            <a:srgbClr val="EAF3F7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70432" y="25146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078" y="2657246"/>
            <a:ext cx="263347" cy="26334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" y="31546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85216" y="3493008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data, fax and video on one subscriber line and one number.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542032" y="2331720"/>
            <a:ext cx="1975104" cy="2240280"/>
          </a:xfrm>
          <a:prstGeom prst="roundRect">
            <a:avLst>
              <a:gd name="adj" fmla="val 3704"/>
            </a:avLst>
          </a:prstGeom>
          <a:solidFill>
            <a:srgbClr val="EAF3F7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55264" y="25146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910" y="265724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51760" y="31546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digital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670048" y="3493008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Circuit-switched 64 kbps channels with low noise and fast setup.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26864" y="2331720"/>
            <a:ext cx="1975104" cy="2240280"/>
          </a:xfrm>
          <a:prstGeom prst="roundRect">
            <a:avLst>
              <a:gd name="adj" fmla="val 3704"/>
            </a:avLst>
          </a:prstGeom>
          <a:solidFill>
            <a:srgbClr val="EAF3F7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340096" y="25146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2742" y="2657246"/>
            <a:ext cx="263347" cy="263347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36592" y="31546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interfaces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754880" y="3493008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set of ITU-T standard sockets and protocols worldwide.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711696" y="2331720"/>
            <a:ext cx="1975104" cy="2240280"/>
          </a:xfrm>
          <a:prstGeom prst="roundRect">
            <a:avLst>
              <a:gd name="adj" fmla="val 3704"/>
            </a:avLst>
          </a:prstGeom>
          <a:solidFill>
            <a:srgbClr val="EAF3F7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424928" y="25146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67574" y="265724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21424" y="3154680"/>
            <a:ext cx="1755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Out-of-band signalling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6839712" y="3493008"/>
            <a:ext cx="171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D channel for call control (based on SS7 concepts).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ISDN Channel Types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channels multiplexed on the digital subscriber 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in Telecommunication  ·  Dept. of ICE, DIU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630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channel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057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kbps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571750"/>
            <a:ext cx="2377440" cy="1863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channel — </a:t>
            </a:r>
          </a:p>
          <a:p>
            <a:pPr algn="just"/>
            <a:r>
              <a:rPr lang="en-US" sz="1100" u="sng" dirty="0"/>
              <a:t>Purpose</a:t>
            </a:r>
            <a:r>
              <a:rPr lang="en-US" sz="1100" dirty="0"/>
              <a:t>: Carries user information. </a:t>
            </a:r>
          </a:p>
          <a:p>
            <a:pPr lvl="1" algn="just"/>
            <a:r>
              <a:rPr lang="en-US" sz="1100" u="sng" dirty="0"/>
              <a:t>Can carry: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100" dirty="0"/>
              <a:t>Voice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100" dirty="0"/>
              <a:t>Data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100" dirty="0"/>
              <a:t>Video </a:t>
            </a:r>
          </a:p>
          <a:p>
            <a:pPr algn="just"/>
            <a:r>
              <a:rPr lang="en-US" sz="1100" u="sng" dirty="0">
                <a:solidFill>
                  <a:schemeClr val="accent2"/>
                </a:solidFill>
              </a:rPr>
              <a:t>Speed</a:t>
            </a:r>
            <a:r>
              <a:rPr lang="en-US" sz="1100" dirty="0"/>
              <a:t>: </a:t>
            </a:r>
            <a:r>
              <a:rPr lang="en-US" sz="1100" b="1" dirty="0"/>
              <a:t>64 kbps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4630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channel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83280" y="2057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64 kbps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74720" y="283464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channel — </a:t>
            </a:r>
          </a:p>
          <a:p>
            <a:r>
              <a:rPr lang="en-US" sz="1100" u="sng" dirty="0"/>
              <a:t>Purpose: </a:t>
            </a:r>
            <a:r>
              <a:rPr lang="en-US" sz="1100" dirty="0"/>
              <a:t>Carries signaling information.</a:t>
            </a:r>
          </a:p>
          <a:p>
            <a:r>
              <a:rPr lang="en-US" sz="1100" dirty="0"/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Dialing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Call setup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/>
              <a:t>Call termination</a:t>
            </a:r>
          </a:p>
          <a:p>
            <a:r>
              <a:rPr lang="en-US" sz="1100" u="sng" dirty="0">
                <a:solidFill>
                  <a:schemeClr val="accent2"/>
                </a:solidFill>
              </a:rPr>
              <a:t>Speed</a:t>
            </a:r>
          </a:p>
          <a:p>
            <a:r>
              <a:rPr lang="en-US" sz="1100" b="1" dirty="0"/>
              <a:t>BRI</a:t>
            </a:r>
            <a:r>
              <a:rPr lang="en-US" sz="1100" dirty="0"/>
              <a:t>:</a:t>
            </a:r>
            <a:br>
              <a:rPr lang="en-US" sz="1100" dirty="0"/>
            </a:br>
            <a:r>
              <a:rPr lang="en-US" sz="1100" dirty="0"/>
              <a:t>16 kbps</a:t>
            </a:r>
          </a:p>
          <a:p>
            <a:r>
              <a:rPr lang="en-US" sz="1100" b="1" dirty="0"/>
              <a:t>PRI</a:t>
            </a:r>
            <a:r>
              <a:rPr lang="en-US" sz="1100" dirty="0"/>
              <a:t>:</a:t>
            </a:r>
            <a:br>
              <a:rPr lang="en-US" sz="1100" dirty="0"/>
            </a:br>
            <a:r>
              <a:rPr lang="en-US" sz="1100" dirty="0"/>
              <a:t>64 kbps</a:t>
            </a:r>
          </a:p>
          <a:p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46304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0F2C3F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channel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384 kbps  (H0)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1536 / 1920 kbps  (H11/H12)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63640" y="283464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High-rate channel — an aggregated bundle of B channels for video conferencing, fast fax, high-speed data.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Rate Interface (BRI): 2B + 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residential / small-office access — ITU-T I.430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in Telecommunication  ·  Dept. of ICE, DIU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twisted pair carries three multiplexed channels: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— 64 kbps  (voice / data)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4846320" cy="658368"/>
          </a:xfrm>
          <a:prstGeom prst="roundRect">
            <a:avLst>
              <a:gd name="adj" fmla="val 8333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0428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— 64 kbps  (voice / data)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2A10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0540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16 kbps  (signalling)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talk on B1 while browsing on B2 — or bond both B channels for a 128 kbps data call.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15000" y="1325880"/>
            <a:ext cx="2971800" cy="3246120"/>
          </a:xfrm>
          <a:prstGeom prst="roundRect">
            <a:avLst>
              <a:gd name="adj" fmla="val 2462"/>
            </a:avLst>
          </a:prstGeom>
          <a:solidFill>
            <a:srgbClr val="EAF3F7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Bit-rate arithmetic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43600" y="1874520"/>
            <a:ext cx="2560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rate:  2×64 + 16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144 kbps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+ 48 kbps framing, sync &amp; maintenance overhead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rate = 192 kbps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Rate Interface (PRI)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/ PBX access — ITU-T I.431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in Telecommunication  ·  Dept. of ICE, DIU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2852928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America / Japan (T1)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 / Bangladesh (E1)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23B + 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30B + 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channels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× 64 kbps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× 64 kbps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kbps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kbps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1.544 Mbps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2.048 Mbps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PBX trunks, call centres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PBX trunks, ISPs, video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 rides on the standard digital carrier hierarchy: T1 (24 slots) in North America, E1 (32 slots: 30B + D + framing slot) in Europe and Bangladesh.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ISDN Architecture: Functional Groups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device roles at the customer premises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in Telecommunication  ·  Dept. of ICE, DIU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30759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11430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TE1 — Terminal Equipment 1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343400" y="114300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ISDN device (digital phone, ISDN fax, router with ISDN port). Connects directly to the S bus.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188366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2002536"/>
            <a:ext cx="219456" cy="219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07008" y="183794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TE2 — Terminal Equipment 2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343400" y="183794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Non-ISDN legacy device (analog phone, PC serial port). Cannot connect directly — needs an adapter.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257860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269748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07008" y="253288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— Terminal Adapter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343400" y="25328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TE2's interface (e.g. RS-232, analog) into the ISDN format.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327355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3392424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07008" y="32278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NT2 — Network Termination 2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4343400" y="322783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local switching/concentration: a PBX or LAN router distributing channels to many terminals.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396849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4087368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07008" y="392277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NT1 — Network Termination 1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4343400" y="392277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Physical-layer boundary device: converts the 4-wire customer bus (S/T) to the 2-wire local loop (U).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 Points: R, S, T, 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standardised interfaces between functional groups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in Telecommunication  ·  Dept. of ICE, DIU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1170432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286000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TE2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148840" y="2286000"/>
            <a:ext cx="1170432" cy="777240"/>
          </a:xfrm>
          <a:prstGeom prst="roundRect">
            <a:avLst>
              <a:gd name="adj" fmla="val 8235"/>
            </a:avLst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48840" y="2286000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794760" y="2286000"/>
            <a:ext cx="1170432" cy="77724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94760" y="2286000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40680" y="2286000"/>
            <a:ext cx="1170432" cy="777240"/>
          </a:xfrm>
          <a:prstGeom prst="roundRect">
            <a:avLst>
              <a:gd name="adj" fmla="val 8235"/>
            </a:avLst>
          </a:prstGeom>
          <a:solidFill>
            <a:srgbClr val="065A82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40680" y="2286000"/>
            <a:ext cx="1170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NT1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23760" y="228600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0F2C3F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23760" y="228600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Exchange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673352" y="2674620"/>
            <a:ext cx="475488" cy="0"/>
          </a:xfrm>
          <a:prstGeom prst="line">
            <a:avLst/>
          </a:prstGeom>
          <a:noFill/>
          <a:ln w="31750">
            <a:solidFill>
              <a:srgbClr val="5B73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41932" y="1719072"/>
            <a:ext cx="384048" cy="3840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7" name="Text 15"/>
          <p:cNvSpPr/>
          <p:nvPr/>
        </p:nvSpPr>
        <p:spPr>
          <a:xfrm>
            <a:off x="174193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319272" y="2674620"/>
            <a:ext cx="475488" cy="0"/>
          </a:xfrm>
          <a:prstGeom prst="line">
            <a:avLst/>
          </a:prstGeom>
          <a:noFill/>
          <a:ln w="31750">
            <a:solidFill>
              <a:srgbClr val="5B73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7852" y="1719072"/>
            <a:ext cx="384048" cy="3840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20" name="Text 18"/>
          <p:cNvSpPr/>
          <p:nvPr/>
        </p:nvSpPr>
        <p:spPr>
          <a:xfrm>
            <a:off x="338785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65192" y="2674620"/>
            <a:ext cx="475488" cy="0"/>
          </a:xfrm>
          <a:prstGeom prst="line">
            <a:avLst/>
          </a:prstGeom>
          <a:noFill/>
          <a:ln w="31750">
            <a:solidFill>
              <a:srgbClr val="5B738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33772" y="1719072"/>
            <a:ext cx="384048" cy="3840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23" name="Text 21"/>
          <p:cNvSpPr/>
          <p:nvPr/>
        </p:nvSpPr>
        <p:spPr>
          <a:xfrm>
            <a:off x="503377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11112" y="2674620"/>
            <a:ext cx="475488" cy="0"/>
          </a:xfrm>
          <a:prstGeom prst="line">
            <a:avLst/>
          </a:prstGeom>
          <a:noFill/>
          <a:ln w="31750">
            <a:solidFill>
              <a:srgbClr val="5B738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9692" y="1719072"/>
            <a:ext cx="384048" cy="38404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26" name="Text 24"/>
          <p:cNvSpPr/>
          <p:nvPr/>
        </p:nvSpPr>
        <p:spPr>
          <a:xfrm>
            <a:off x="6679692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3794760" y="1078992"/>
            <a:ext cx="1170432" cy="566928"/>
          </a:xfrm>
          <a:prstGeom prst="roundRect">
            <a:avLst>
              <a:gd name="adj" fmla="val 11290"/>
            </a:avLst>
          </a:prstGeom>
          <a:solidFill>
            <a:srgbClr val="1C7293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794760" y="1078992"/>
            <a:ext cx="1170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TE1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379976" y="1645920"/>
            <a:ext cx="0" cy="640080"/>
          </a:xfrm>
          <a:prstGeom prst="line">
            <a:avLst/>
          </a:prstGeom>
          <a:noFill/>
          <a:ln w="31750">
            <a:solidFill>
              <a:srgbClr val="5B7385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5029200" y="1188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(TE1 attaches directly at 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429000"/>
            <a:ext cx="8138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 between non-ISDN terminal (TE2) and TA (e.g. RS-232, V.35)       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between terminal (TE1/TA) and NT2: the 4-wire user bus             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— between NT2 and NT1 (electrically identical to S → “S/T”)            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— the 2-wire local loop between NT1 and the exchange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ISDN Services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service categories defined in ITU-T I.200 series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in Telecommunication  ·  Dept. of ICE, DIU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services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10312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transport of information between users (layers 1–3)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does not examine or change content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64 kbps circuit-switched voice/data, packet-mode data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41732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Teleservices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02152" y="210312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communication capability including terminal functions (layers 1–7)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+ standardised application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telephony, Group-4 fax, teletex, videotex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51760" cy="33375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5E2EA"/>
            </a:solidFill>
            <a:prstDash val="solid"/>
          </a:ln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41732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0F2C3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services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91072" y="210312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a bearer- or teleservice; never stand alone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calling line ID (CLIP), call waiting, call forwarding, conference calling, closed user group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ISDN Protocol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D-channel signalling stack vs. B-channel transport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in Telecommunication  ·  Dept. of ICE, DIU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channel (signalling)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27048"/>
            <a:ext cx="3749040" cy="969264"/>
          </a:xfrm>
          <a:prstGeom prst="roundRect">
            <a:avLst>
              <a:gd name="adj" fmla="val 4717"/>
            </a:avLst>
          </a:prstGeom>
          <a:solidFill>
            <a:srgbClr val="0F2C3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600200"/>
            <a:ext cx="3419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Q.931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control: SETUP, ALERTING, CONNECT, DISCONNECT, RELEASE messages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87752"/>
            <a:ext cx="3749040" cy="969264"/>
          </a:xfrm>
          <a:prstGeom prst="roundRect">
            <a:avLst>
              <a:gd name="adj" fmla="val 4717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660904"/>
            <a:ext cx="3419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Q.921 (LAPD)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Access Procedure on the D channel: HDLC-based framing, error control, TEI addressing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48456"/>
            <a:ext cx="3749040" cy="969264"/>
          </a:xfrm>
          <a:prstGeom prst="roundRect">
            <a:avLst>
              <a:gd name="adj" fmla="val 4717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721608"/>
            <a:ext cx="3419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I.430 / I.431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Physical: BRI (192 kbps framed) / PRI (T1/E1); line coding, timing, power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channel (user data)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1481328"/>
            <a:ext cx="3840480" cy="1371600"/>
          </a:xfrm>
          <a:prstGeom prst="roundRect">
            <a:avLst>
              <a:gd name="adj" fmla="val 5333"/>
            </a:avLst>
          </a:prstGeom>
          <a:solidFill>
            <a:srgbClr val="EAF3F7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56048" y="1591056"/>
            <a:ext cx="345643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layer 1 is defined by ISDN. Above that, users run anything: PCM voice, PPP, X.25, frame relay, IP…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063240"/>
            <a:ext cx="3840480" cy="1481328"/>
          </a:xfrm>
          <a:prstGeom prst="roundRect">
            <a:avLst>
              <a:gd name="adj" fmla="val 4938"/>
            </a:avLst>
          </a:prstGeom>
          <a:solidFill>
            <a:srgbClr val="0F2C3F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56048" y="3200400"/>
            <a:ext cx="34564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common-channel signalling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and user data travel on separate channels — the same principle as SS7 inside the core network.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Broadband ISDN (B-ISDN)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1990s vision beyond 2 Mbps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in Telecommunication  ·  Dept. of ICE, DIU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EAF3F7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Narrowband ISDN (N-ISDN)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611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Rates: 144 kbps (BRI) – 2 Mbps (PRI)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switching, fixed 64 kbps channels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local loop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voice &amp; modest data — too slow for video &amp; multimedia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065A82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3716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Broadband ISDN (B-ISDN)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783080"/>
            <a:ext cx="3566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rates: 155 / 622 Mbps and beyond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mode: ATM — fast packet switching with fixed 53-byte cells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Transmission: SONET/SDH over optical fibre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A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Legacy: ATM ideas shaped QoS; the market ultimately chose IP + Ethernet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and Limitations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engineering assessment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in Telecommunication  ·  Dept. of ICE, DIU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0F8F2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344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" y="1828800"/>
            <a:ext cx="3611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digital: low noise, low BER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services &amp; devices on one line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call setup (~1–2 s vs ~30 s modem)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Guaranteed, symmetric 64/128 kbps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signalling → caller ID, sub-addressing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77640" cy="3383280"/>
          </a:xfrm>
          <a:prstGeom prst="roundRect">
            <a:avLst>
              <a:gd name="adj" fmla="val 2162"/>
            </a:avLst>
          </a:prstGeom>
          <a:solidFill>
            <a:srgbClr val="FBF1F1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37160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344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965192" y="1828800"/>
            <a:ext cx="3566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ceiling: 128 kbps (BRI) is tiny by broadband standards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Circuit-switched &amp; usage-billed — costly for always-on Internet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terminals, complex provisioning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Arrived slowly — overtaken by DSL, cable and fibre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Decline and Legacy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ISDN went — and what it left behind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in Telecommunication  ·  Dept. of ICE, DIU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7818120" cy="0"/>
          </a:xfrm>
          <a:prstGeom prst="line">
            <a:avLst/>
          </a:prstGeom>
          <a:noFill/>
          <a:ln w="31750">
            <a:solidFill>
              <a:srgbClr val="C7D8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08176" y="1773936"/>
            <a:ext cx="201168" cy="20116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98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1984–88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2148840"/>
            <a:ext cx="1865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ITU-T I-series standards published (Red/Blue Books)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56432" y="1773936"/>
            <a:ext cx="201168" cy="20116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0" name="Text 8"/>
          <p:cNvSpPr/>
          <p:nvPr/>
        </p:nvSpPr>
        <p:spPr>
          <a:xfrm>
            <a:off x="2551176" y="1298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1990s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624328" y="2148840"/>
            <a:ext cx="1865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deployment: SOHO Internet, PBX trunks, broadcast audio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04688" y="1773936"/>
            <a:ext cx="201168" cy="20116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1298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2000s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72584" y="2148840"/>
            <a:ext cx="1865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ADSL &amp; cable deliver Mbps on the same copper — ISDN data fades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52944" y="1773936"/>
            <a:ext cx="201168" cy="201168"/>
          </a:xfrm>
          <a:prstGeom prst="ellipse">
            <a:avLst/>
          </a:prstGeom>
          <a:solidFill>
            <a:srgbClr val="F2A104"/>
          </a:solidFill>
          <a:ln/>
        </p:spPr>
      </p:sp>
      <p:sp>
        <p:nvSpPr>
          <p:cNvPr id="16" name="Text 14"/>
          <p:cNvSpPr/>
          <p:nvPr/>
        </p:nvSpPr>
        <p:spPr>
          <a:xfrm>
            <a:off x="6647688" y="12984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2010s–now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20840" y="2148840"/>
            <a:ext cx="18653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migrate PSTN/ISDN to all-IP (VoIP, SIP trunking); networks switched off across Europe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429000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0F2C3F"/>
          </a:solidFill>
          <a:ln/>
          <a:effectLst>
            <a:outerShdw blurRad="76200" dist="25400" dir="27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3538728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still study it:  </a:t>
            </a:r>
            <a:r>
              <a:rPr lang="en-US" sz="1250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gave us the DSL concept (digital signals on the local loop), Q.931 signalling that lives on in ISUP/SIP interworking and PRI trunks still used by PBXs, and the blueprint for today's integrated all-IP networks.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Summary: Key Points to Remember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7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 in Telecommunication  ·  Dept. of ICE, DIU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EAF3F7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109728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377440" y="109728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digital network integrating voice + data on the existing telephone loop (ITU-T, 1984).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00784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EAF3F7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00784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377440" y="1700784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64 kbps user traffic · D = 16/64 kbps signalling · H = high-rate bundles (384 k / 1536 k / 1920 kbps).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EAF3F7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304288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77440" y="2304288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 = 2B+D = 144 kbps (192 kbps line rate) · PRI = 23B+D (T1, 1.544 Mbps) or 30B+D (E1, 2.048 Mbps).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EAF3F7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907792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model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77440" y="2907792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TE2 –R– TA –S– NT2 –T– NT1 –U– Exchange; TE1 connects directly at 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11296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EAF3F7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511296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377440" y="3511296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channel: I.430/431 → LAPD (Q.921) → Q.931 call control. B channel: layer 1 only.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14800"/>
            <a:ext cx="8229600" cy="530352"/>
          </a:xfrm>
          <a:prstGeom prst="roundRect">
            <a:avLst>
              <a:gd name="adj" fmla="val 10345"/>
            </a:avLst>
          </a:prstGeom>
          <a:solidFill>
            <a:srgbClr val="EAF3F7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4114800"/>
            <a:ext cx="1691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377440" y="4114800"/>
            <a:ext cx="6172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by DSL/fibre/VoIP, but its concepts (digital loop, out-of-band signalling) underpin them.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54126"/>
            <a:ext cx="263347" cy="2633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114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1234440"/>
            <a:ext cx="7955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ISDN and explain the design goals that distinguish it from the analog PSTN.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BRI and PRI: channel structure, bit rates and typical applications. Compute the line rate of an E1 PRI.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ISDN reference model, labelling all functional groups and reference points R, S, T and U.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bearer, tele- and supplementary services, giving two examples of each.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D-channel protocol stack and outline the Q.931 message flow for a voice call.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DC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“ISDN was an engineering success but a market failure.” Discuss.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416052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F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Stallings, ISDN &amp; Broadband ISDN with Frame Relay and ATM  ·  Forouzan, Data Communications &amp; Networking (ISDN chapter)  ·  ITU-T I.120, I.430, Q.931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4360" y="46634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3192</Words>
  <Application>Microsoft Office PowerPoint</Application>
  <PresentationFormat>On-screen Show (16:9)</PresentationFormat>
  <Paragraphs>280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ISDN in Telecommunication</dc:title>
  <dc:subject>PptxGenJS Presentation</dc:subject>
  <dc:creator>Dept. of ICE, DIU</dc:creator>
  <cp:lastModifiedBy>Sakir Islam</cp:lastModifiedBy>
  <cp:revision>3</cp:revision>
  <dcterms:created xsi:type="dcterms:W3CDTF">2026-07-06T04:29:47Z</dcterms:created>
  <dcterms:modified xsi:type="dcterms:W3CDTF">2026-07-06T07:30:08Z</dcterms:modified>
</cp:coreProperties>
</file>