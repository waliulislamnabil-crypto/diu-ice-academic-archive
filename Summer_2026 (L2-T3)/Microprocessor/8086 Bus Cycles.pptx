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8" d="100"/>
          <a:sy n="118" d="100"/>
        </p:scale>
        <p:origin x="-192" y="-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2851530" cy="68587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0" y="6858000"/>
                </a:moveTo>
                <a:lnTo>
                  <a:pt x="182880" y="6858000"/>
                </a:lnTo>
                <a:lnTo>
                  <a:pt x="1828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766E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0" y="714375"/>
            <a:ext cx="1591945" cy="507365"/>
          </a:xfrm>
          <a:custGeom>
            <a:avLst/>
            <a:gdLst/>
            <a:ahLst/>
            <a:cxnLst/>
            <a:rect l="l" t="t" r="r" b="b"/>
            <a:pathLst>
              <a:path w="1591945" h="507365">
                <a:moveTo>
                  <a:pt x="105" y="0"/>
                </a:moveTo>
                <a:lnTo>
                  <a:pt x="0" y="503820"/>
                </a:lnTo>
                <a:lnTo>
                  <a:pt x="1245438" y="507238"/>
                </a:lnTo>
                <a:lnTo>
                  <a:pt x="1345692" y="507238"/>
                </a:lnTo>
                <a:lnTo>
                  <a:pt x="1350391" y="502538"/>
                </a:lnTo>
                <a:lnTo>
                  <a:pt x="1351915" y="500888"/>
                </a:lnTo>
                <a:lnTo>
                  <a:pt x="1353820" y="499363"/>
                </a:lnTo>
                <a:lnTo>
                  <a:pt x="1355344" y="497713"/>
                </a:lnTo>
                <a:lnTo>
                  <a:pt x="1584325" y="268859"/>
                </a:lnTo>
                <a:lnTo>
                  <a:pt x="1589611" y="261695"/>
                </a:lnTo>
                <a:lnTo>
                  <a:pt x="1591373" y="254508"/>
                </a:lnTo>
                <a:lnTo>
                  <a:pt x="1589611" y="247320"/>
                </a:lnTo>
                <a:lnTo>
                  <a:pt x="1584325" y="240157"/>
                </a:lnTo>
                <a:lnTo>
                  <a:pt x="1355344" y="11302"/>
                </a:lnTo>
                <a:lnTo>
                  <a:pt x="1350391" y="11302"/>
                </a:lnTo>
                <a:lnTo>
                  <a:pt x="1350391" y="6476"/>
                </a:lnTo>
                <a:lnTo>
                  <a:pt x="1345692" y="6476"/>
                </a:lnTo>
                <a:lnTo>
                  <a:pt x="1340993" y="1777"/>
                </a:lnTo>
                <a:lnTo>
                  <a:pt x="1245438" y="1777"/>
                </a:lnTo>
                <a:lnTo>
                  <a:pt x="105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98142" y="119252"/>
            <a:ext cx="8395715" cy="1002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Prepared </a:t>
            </a:r>
            <a:r>
              <a:rPr spc="-80" dirty="0"/>
              <a:t>By</a:t>
            </a:r>
            <a:r>
              <a:rPr spc="-155" dirty="0"/>
              <a:t> </a:t>
            </a:r>
            <a:r>
              <a:rPr spc="-15" dirty="0"/>
              <a:t>pdfshare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2/12/2018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2851530" cy="68587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0" y="6858000"/>
                </a:moveTo>
                <a:lnTo>
                  <a:pt x="182880" y="6858000"/>
                </a:lnTo>
                <a:lnTo>
                  <a:pt x="1828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766E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0" y="714375"/>
            <a:ext cx="1591945" cy="507365"/>
          </a:xfrm>
          <a:custGeom>
            <a:avLst/>
            <a:gdLst/>
            <a:ahLst/>
            <a:cxnLst/>
            <a:rect l="l" t="t" r="r" b="b"/>
            <a:pathLst>
              <a:path w="1591945" h="507365">
                <a:moveTo>
                  <a:pt x="105" y="0"/>
                </a:moveTo>
                <a:lnTo>
                  <a:pt x="0" y="503820"/>
                </a:lnTo>
                <a:lnTo>
                  <a:pt x="1245438" y="507238"/>
                </a:lnTo>
                <a:lnTo>
                  <a:pt x="1345692" y="507238"/>
                </a:lnTo>
                <a:lnTo>
                  <a:pt x="1350391" y="502538"/>
                </a:lnTo>
                <a:lnTo>
                  <a:pt x="1351915" y="500888"/>
                </a:lnTo>
                <a:lnTo>
                  <a:pt x="1353820" y="499363"/>
                </a:lnTo>
                <a:lnTo>
                  <a:pt x="1355344" y="497713"/>
                </a:lnTo>
                <a:lnTo>
                  <a:pt x="1584325" y="268859"/>
                </a:lnTo>
                <a:lnTo>
                  <a:pt x="1589611" y="261695"/>
                </a:lnTo>
                <a:lnTo>
                  <a:pt x="1591373" y="254508"/>
                </a:lnTo>
                <a:lnTo>
                  <a:pt x="1589611" y="247320"/>
                </a:lnTo>
                <a:lnTo>
                  <a:pt x="1584325" y="240157"/>
                </a:lnTo>
                <a:lnTo>
                  <a:pt x="1355344" y="11302"/>
                </a:lnTo>
                <a:lnTo>
                  <a:pt x="1350391" y="11302"/>
                </a:lnTo>
                <a:lnTo>
                  <a:pt x="1350391" y="6476"/>
                </a:lnTo>
                <a:lnTo>
                  <a:pt x="1345692" y="6476"/>
                </a:lnTo>
                <a:lnTo>
                  <a:pt x="1340993" y="1777"/>
                </a:lnTo>
                <a:lnTo>
                  <a:pt x="1245438" y="1777"/>
                </a:lnTo>
                <a:lnTo>
                  <a:pt x="105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FF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40404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Prepared </a:t>
            </a:r>
            <a:r>
              <a:rPr spc="-80" dirty="0"/>
              <a:t>By</a:t>
            </a:r>
            <a:r>
              <a:rPr spc="-155" dirty="0"/>
              <a:t> </a:t>
            </a:r>
            <a:r>
              <a:rPr spc="-15" dirty="0"/>
              <a:t>pdfshare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2/12/2018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FF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Prepared </a:t>
            </a:r>
            <a:r>
              <a:rPr spc="-80" dirty="0"/>
              <a:t>By</a:t>
            </a:r>
            <a:r>
              <a:rPr spc="-155" dirty="0"/>
              <a:t> </a:t>
            </a:r>
            <a:r>
              <a:rPr spc="-15" dirty="0"/>
              <a:t>pdfshare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2/12/2018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FF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Prepared </a:t>
            </a:r>
            <a:r>
              <a:rPr spc="-80" dirty="0"/>
              <a:t>By</a:t>
            </a:r>
            <a:r>
              <a:rPr spc="-155" dirty="0"/>
              <a:t> </a:t>
            </a:r>
            <a:r>
              <a:rPr spc="-15" dirty="0"/>
              <a:t>pdfshare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2/12/2018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2851530" cy="68587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0" y="6858000"/>
                </a:moveTo>
                <a:lnTo>
                  <a:pt x="182880" y="6858000"/>
                </a:lnTo>
                <a:lnTo>
                  <a:pt x="1828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766E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0" y="714375"/>
            <a:ext cx="1591945" cy="507365"/>
          </a:xfrm>
          <a:custGeom>
            <a:avLst/>
            <a:gdLst/>
            <a:ahLst/>
            <a:cxnLst/>
            <a:rect l="l" t="t" r="r" b="b"/>
            <a:pathLst>
              <a:path w="1591945" h="507365">
                <a:moveTo>
                  <a:pt x="105" y="0"/>
                </a:moveTo>
                <a:lnTo>
                  <a:pt x="0" y="503820"/>
                </a:lnTo>
                <a:lnTo>
                  <a:pt x="1245438" y="507238"/>
                </a:lnTo>
                <a:lnTo>
                  <a:pt x="1345692" y="507238"/>
                </a:lnTo>
                <a:lnTo>
                  <a:pt x="1350391" y="502538"/>
                </a:lnTo>
                <a:lnTo>
                  <a:pt x="1351915" y="500888"/>
                </a:lnTo>
                <a:lnTo>
                  <a:pt x="1353820" y="499363"/>
                </a:lnTo>
                <a:lnTo>
                  <a:pt x="1355344" y="497713"/>
                </a:lnTo>
                <a:lnTo>
                  <a:pt x="1584325" y="268859"/>
                </a:lnTo>
                <a:lnTo>
                  <a:pt x="1589611" y="261695"/>
                </a:lnTo>
                <a:lnTo>
                  <a:pt x="1591373" y="254508"/>
                </a:lnTo>
                <a:lnTo>
                  <a:pt x="1589611" y="247320"/>
                </a:lnTo>
                <a:lnTo>
                  <a:pt x="1584325" y="240157"/>
                </a:lnTo>
                <a:lnTo>
                  <a:pt x="1355344" y="11302"/>
                </a:lnTo>
                <a:lnTo>
                  <a:pt x="1350391" y="11302"/>
                </a:lnTo>
                <a:lnTo>
                  <a:pt x="1350391" y="6476"/>
                </a:lnTo>
                <a:lnTo>
                  <a:pt x="1345692" y="6476"/>
                </a:lnTo>
                <a:lnTo>
                  <a:pt x="1340993" y="1777"/>
                </a:lnTo>
                <a:lnTo>
                  <a:pt x="1245438" y="1777"/>
                </a:lnTo>
                <a:lnTo>
                  <a:pt x="105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Prepared </a:t>
            </a:r>
            <a:r>
              <a:rPr spc="-80" dirty="0"/>
              <a:t>By</a:t>
            </a:r>
            <a:r>
              <a:rPr spc="-155" dirty="0"/>
              <a:t> </a:t>
            </a:r>
            <a:r>
              <a:rPr spc="-15" dirty="0"/>
              <a:t>pdfshare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2/12/2018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2851530" cy="685875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0" y="6858000"/>
                </a:moveTo>
                <a:lnTo>
                  <a:pt x="182880" y="6858000"/>
                </a:lnTo>
                <a:lnTo>
                  <a:pt x="1828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766E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9452" y="646557"/>
            <a:ext cx="1029309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FF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68270" y="2021880"/>
            <a:ext cx="6377305" cy="1795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40404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68270" y="6234725"/>
            <a:ext cx="1229995" cy="165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88888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Prepared </a:t>
            </a:r>
            <a:r>
              <a:rPr spc="-80" dirty="0"/>
              <a:t>By</a:t>
            </a:r>
            <a:r>
              <a:rPr spc="-155" dirty="0"/>
              <a:t> </a:t>
            </a:r>
            <a:r>
              <a:rPr spc="-15" dirty="0"/>
              <a:t>pdfshare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2/12/2018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323841"/>
            <a:ext cx="1742439" cy="778510"/>
          </a:xfrm>
          <a:custGeom>
            <a:avLst/>
            <a:gdLst/>
            <a:ahLst/>
            <a:cxnLst/>
            <a:rect l="l" t="t" r="r" b="b"/>
            <a:pathLst>
              <a:path w="1742439" h="778510">
                <a:moveTo>
                  <a:pt x="1345946" y="0"/>
                </a:moveTo>
                <a:lnTo>
                  <a:pt x="0" y="0"/>
                </a:lnTo>
                <a:lnTo>
                  <a:pt x="0" y="778509"/>
                </a:lnTo>
                <a:lnTo>
                  <a:pt x="1345946" y="778509"/>
                </a:lnTo>
                <a:lnTo>
                  <a:pt x="1355637" y="777704"/>
                </a:lnTo>
                <a:lnTo>
                  <a:pt x="1363567" y="775588"/>
                </a:lnTo>
                <a:lnTo>
                  <a:pt x="1369734" y="772616"/>
                </a:lnTo>
                <a:lnTo>
                  <a:pt x="1374140" y="769238"/>
                </a:lnTo>
                <a:lnTo>
                  <a:pt x="1374140" y="764539"/>
                </a:lnTo>
                <a:lnTo>
                  <a:pt x="1378839" y="764539"/>
                </a:lnTo>
                <a:lnTo>
                  <a:pt x="1735327" y="408050"/>
                </a:lnTo>
                <a:lnTo>
                  <a:pt x="1740542" y="399460"/>
                </a:lnTo>
                <a:lnTo>
                  <a:pt x="1742281" y="388667"/>
                </a:lnTo>
                <a:lnTo>
                  <a:pt x="1740542" y="376993"/>
                </a:lnTo>
                <a:lnTo>
                  <a:pt x="1735327" y="365759"/>
                </a:lnTo>
                <a:lnTo>
                  <a:pt x="1378839" y="14096"/>
                </a:lnTo>
                <a:lnTo>
                  <a:pt x="1378839" y="9397"/>
                </a:lnTo>
                <a:lnTo>
                  <a:pt x="1374140" y="9397"/>
                </a:lnTo>
                <a:lnTo>
                  <a:pt x="1369734" y="5947"/>
                </a:lnTo>
                <a:lnTo>
                  <a:pt x="1363567" y="2936"/>
                </a:lnTo>
                <a:lnTo>
                  <a:pt x="1355637" y="807"/>
                </a:lnTo>
                <a:lnTo>
                  <a:pt x="1345946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32277" y="2745104"/>
            <a:ext cx="70358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41465" algn="l"/>
              </a:tabLst>
            </a:pPr>
            <a:r>
              <a:rPr spc="-5" dirty="0">
                <a:latin typeface="Times New Roman"/>
                <a:cs typeface="Times New Roman"/>
              </a:rPr>
              <a:t>THE 8086 MICROPR</a:t>
            </a:r>
            <a:r>
              <a:rPr spc="5" dirty="0">
                <a:latin typeface="Times New Roman"/>
                <a:cs typeface="Times New Roman"/>
              </a:rPr>
              <a:t>O</a:t>
            </a:r>
            <a:r>
              <a:rPr spc="-5" dirty="0">
                <a:latin typeface="Times New Roman"/>
                <a:cs typeface="Times New Roman"/>
              </a:rPr>
              <a:t>CESSORS	In</a:t>
            </a:r>
          </a:p>
          <a:p>
            <a:pPr marL="12700">
              <a:lnSpc>
                <a:spcPct val="100000"/>
              </a:lnSpc>
            </a:pPr>
            <a:r>
              <a:rPr spc="-5" dirty="0">
                <a:latin typeface="Times New Roman"/>
                <a:cs typeface="Times New Roman"/>
              </a:rPr>
              <a:t>Minimum </a:t>
            </a:r>
            <a:r>
              <a:rPr dirty="0">
                <a:latin typeface="Times New Roman"/>
                <a:cs typeface="Times New Roman"/>
              </a:rPr>
              <a:t>&amp; </a:t>
            </a:r>
            <a:r>
              <a:rPr spc="-5" dirty="0">
                <a:latin typeface="Times New Roman"/>
                <a:cs typeface="Times New Roman"/>
              </a:rPr>
              <a:t>Maximum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375"/>
            <a:ext cx="1591945" cy="507365"/>
          </a:xfrm>
          <a:custGeom>
            <a:avLst/>
            <a:gdLst/>
            <a:ahLst/>
            <a:cxnLst/>
            <a:rect l="l" t="t" r="r" b="b"/>
            <a:pathLst>
              <a:path w="1591945" h="507365">
                <a:moveTo>
                  <a:pt x="105" y="0"/>
                </a:moveTo>
                <a:lnTo>
                  <a:pt x="0" y="503820"/>
                </a:lnTo>
                <a:lnTo>
                  <a:pt x="1245438" y="507238"/>
                </a:lnTo>
                <a:lnTo>
                  <a:pt x="1345692" y="507238"/>
                </a:lnTo>
                <a:lnTo>
                  <a:pt x="1350391" y="502538"/>
                </a:lnTo>
                <a:lnTo>
                  <a:pt x="1351915" y="500888"/>
                </a:lnTo>
                <a:lnTo>
                  <a:pt x="1353820" y="499363"/>
                </a:lnTo>
                <a:lnTo>
                  <a:pt x="1355344" y="497713"/>
                </a:lnTo>
                <a:lnTo>
                  <a:pt x="1584325" y="268859"/>
                </a:lnTo>
                <a:lnTo>
                  <a:pt x="1589611" y="261695"/>
                </a:lnTo>
                <a:lnTo>
                  <a:pt x="1591373" y="254508"/>
                </a:lnTo>
                <a:lnTo>
                  <a:pt x="1589611" y="247320"/>
                </a:lnTo>
                <a:lnTo>
                  <a:pt x="1584325" y="240157"/>
                </a:lnTo>
                <a:lnTo>
                  <a:pt x="1355344" y="11302"/>
                </a:lnTo>
                <a:lnTo>
                  <a:pt x="1350391" y="11302"/>
                </a:lnTo>
                <a:lnTo>
                  <a:pt x="1350391" y="6476"/>
                </a:lnTo>
                <a:lnTo>
                  <a:pt x="1345692" y="6476"/>
                </a:lnTo>
                <a:lnTo>
                  <a:pt x="1340993" y="1777"/>
                </a:lnTo>
                <a:lnTo>
                  <a:pt x="1245438" y="1777"/>
                </a:lnTo>
                <a:lnTo>
                  <a:pt x="105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03222" y="243967"/>
            <a:ext cx="261874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Times New Roman"/>
                <a:cs typeface="Times New Roman"/>
              </a:rPr>
              <a:t>Pin layout of the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8086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95876" y="714375"/>
            <a:ext cx="4786249" cy="58578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52751" y="785876"/>
            <a:ext cx="7950200" cy="52148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985770" y="335943"/>
            <a:ext cx="6864350" cy="593661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3200" spc="90" dirty="0">
                <a:solidFill>
                  <a:srgbClr val="252525"/>
                </a:solidFill>
                <a:latin typeface="Verdana"/>
                <a:cs typeface="Verdana"/>
              </a:rPr>
              <a:t>Read </a:t>
            </a:r>
            <a:r>
              <a:rPr sz="3200" spc="-290" dirty="0">
                <a:solidFill>
                  <a:srgbClr val="252525"/>
                </a:solidFill>
                <a:latin typeface="Verdana"/>
                <a:cs typeface="Verdana"/>
              </a:rPr>
              <a:t>Bus </a:t>
            </a:r>
            <a:r>
              <a:rPr sz="3200" spc="105" dirty="0">
                <a:solidFill>
                  <a:srgbClr val="252525"/>
                </a:solidFill>
                <a:latin typeface="Verdana"/>
                <a:cs typeface="Verdana"/>
              </a:rPr>
              <a:t>Cycle</a:t>
            </a:r>
            <a:r>
              <a:rPr sz="3200" spc="-570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3200" spc="-75" dirty="0">
                <a:solidFill>
                  <a:srgbClr val="252525"/>
                </a:solidFill>
                <a:latin typeface="Verdana"/>
                <a:cs typeface="Verdana"/>
              </a:rPr>
              <a:t>(cont.)</a:t>
            </a:r>
            <a:endParaRPr sz="32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150">
              <a:latin typeface="Times New Roman"/>
              <a:cs typeface="Times New Roman"/>
            </a:endParaRPr>
          </a:p>
          <a:p>
            <a:pPr marL="248920">
              <a:lnSpc>
                <a:spcPct val="100000"/>
              </a:lnSpc>
            </a:pPr>
            <a:r>
              <a:rPr sz="1800" b="1" spc="-5" dirty="0">
                <a:latin typeface="Verdana"/>
                <a:cs typeface="Verdana"/>
              </a:rPr>
              <a:t>Minimum-mode memory </a:t>
            </a:r>
            <a:r>
              <a:rPr sz="1800" b="1" dirty="0">
                <a:latin typeface="Verdana"/>
                <a:cs typeface="Verdana"/>
              </a:rPr>
              <a:t>read </a:t>
            </a:r>
            <a:r>
              <a:rPr sz="1800" b="1" spc="-5" dirty="0">
                <a:latin typeface="Verdana"/>
                <a:cs typeface="Verdana"/>
              </a:rPr>
              <a:t>bus cycle </a:t>
            </a:r>
            <a:r>
              <a:rPr sz="1800" b="1" dirty="0">
                <a:latin typeface="Verdana"/>
                <a:cs typeface="Verdana"/>
              </a:rPr>
              <a:t>of the</a:t>
            </a:r>
            <a:r>
              <a:rPr sz="1800" b="1" spc="-3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8086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0" y="0"/>
            <a:ext cx="9144000" cy="68579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1621" y="153670"/>
            <a:ext cx="41021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Minimum mode -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READ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06827" y="990785"/>
            <a:ext cx="9331960" cy="4443730"/>
          </a:xfrm>
          <a:prstGeom prst="rect">
            <a:avLst/>
          </a:prstGeom>
        </p:spPr>
        <p:txBody>
          <a:bodyPr vert="horz" wrap="square" lIns="0" tIns="193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2800" spc="114" dirty="0">
                <a:solidFill>
                  <a:srgbClr val="A42F0F"/>
                </a:solidFill>
                <a:latin typeface="Arial"/>
                <a:cs typeface="Arial"/>
              </a:rPr>
              <a:t></a:t>
            </a:r>
            <a:r>
              <a:rPr sz="2800" spc="114" dirty="0">
                <a:solidFill>
                  <a:srgbClr val="404040"/>
                </a:solidFill>
                <a:latin typeface="Times New Roman"/>
                <a:cs typeface="Times New Roman"/>
              </a:rPr>
              <a:t>Hence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timing diagram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can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be categorized in two</a:t>
            </a:r>
            <a:r>
              <a:rPr sz="2800" spc="-1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parts,</a:t>
            </a:r>
            <a:endParaRPr sz="2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1030"/>
              </a:spcBef>
            </a:pPr>
            <a:r>
              <a:rPr sz="2000" spc="100" dirty="0">
                <a:solidFill>
                  <a:srgbClr val="A42F0F"/>
                </a:solidFill>
                <a:latin typeface="Arial"/>
                <a:cs typeface="Arial"/>
              </a:rPr>
              <a:t></a:t>
            </a:r>
            <a:r>
              <a:rPr sz="2000" spc="1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timing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diagram for read</a:t>
            </a:r>
            <a:r>
              <a:rPr sz="2000" spc="-2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cycle</a:t>
            </a:r>
            <a:endParaRPr sz="20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1010"/>
              </a:spcBef>
            </a:pPr>
            <a:r>
              <a:rPr sz="2000" spc="100" dirty="0">
                <a:solidFill>
                  <a:srgbClr val="A42F0F"/>
                </a:solidFill>
                <a:latin typeface="Arial"/>
                <a:cs typeface="Arial"/>
              </a:rPr>
              <a:t></a:t>
            </a:r>
            <a:r>
              <a:rPr sz="2000" spc="1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timing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diagram for write</a:t>
            </a:r>
            <a:r>
              <a:rPr sz="2000" spc="-2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cycle.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/>
              <a:cs typeface="Times New Roman"/>
            </a:endParaRPr>
          </a:p>
          <a:p>
            <a:pPr marL="355600" marR="33020" indent="-342900">
              <a:lnSpc>
                <a:spcPct val="100000"/>
              </a:lnSpc>
              <a:spcBef>
                <a:spcPts val="1730"/>
              </a:spcBef>
            </a:pPr>
            <a:r>
              <a:rPr sz="2800" spc="180" dirty="0">
                <a:solidFill>
                  <a:srgbClr val="A42F0F"/>
                </a:solidFill>
                <a:latin typeface="Arial"/>
                <a:cs typeface="Arial"/>
              </a:rPr>
              <a:t></a:t>
            </a:r>
            <a:r>
              <a:rPr sz="2800" spc="18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8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read 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cycle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begins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in T1 with the assertion of address  </a:t>
            </a:r>
            <a:r>
              <a:rPr sz="2800" spc="-110" dirty="0">
                <a:solidFill>
                  <a:srgbClr val="404040"/>
                </a:solidFill>
                <a:latin typeface="Times New Roman"/>
                <a:cs typeface="Times New Roman"/>
              </a:rPr>
              <a:t>latch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enable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(ALE)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signal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and also M / IO</a:t>
            </a:r>
            <a:r>
              <a:rPr sz="2800" spc="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signal.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1789"/>
              </a:spcBef>
            </a:pPr>
            <a:r>
              <a:rPr sz="2800" spc="100" dirty="0">
                <a:solidFill>
                  <a:srgbClr val="A42F0F"/>
                </a:solidFill>
                <a:latin typeface="Arial"/>
                <a:cs typeface="Arial"/>
              </a:rPr>
              <a:t></a:t>
            </a:r>
            <a:r>
              <a:rPr sz="2800" spc="100" dirty="0">
                <a:solidFill>
                  <a:srgbClr val="404040"/>
                </a:solidFill>
                <a:latin typeface="Times New Roman"/>
                <a:cs typeface="Times New Roman"/>
              </a:rPr>
              <a:t>During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the negative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going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edge of this signal,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valid  </a:t>
            </a:r>
            <a:r>
              <a:rPr sz="2800" spc="-90" dirty="0">
                <a:solidFill>
                  <a:srgbClr val="404040"/>
                </a:solidFill>
                <a:latin typeface="Times New Roman"/>
                <a:cs typeface="Times New Roman"/>
              </a:rPr>
              <a:t>address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is latched on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local</a:t>
            </a:r>
            <a:r>
              <a:rPr sz="2800" spc="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bus.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9045" y="362203"/>
            <a:ext cx="60813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Minimum mode – READ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continue…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98294" y="1221740"/>
            <a:ext cx="8472805" cy="3759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405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The BHE and A0 signals address </a:t>
            </a:r>
            <a:r>
              <a:rPr sz="2200" spc="-40" dirty="0">
                <a:solidFill>
                  <a:srgbClr val="404040"/>
                </a:solidFill>
                <a:latin typeface="Times New Roman"/>
                <a:cs typeface="Times New Roman"/>
              </a:rPr>
              <a:t>low,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high or both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bytes.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From T1 to</a:t>
            </a:r>
            <a:r>
              <a:rPr sz="2200" spc="-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540" dirty="0">
                <a:solidFill>
                  <a:srgbClr val="404040"/>
                </a:solidFill>
                <a:latin typeface="Times New Roman"/>
                <a:cs typeface="Times New Roman"/>
              </a:rPr>
              <a:t>T4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, the M/IO signal indicates a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memory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or I/O</a:t>
            </a:r>
            <a:r>
              <a:rPr sz="2200" spc="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operation.</a:t>
            </a:r>
            <a:endParaRPr sz="2200">
              <a:latin typeface="Times New Roman"/>
              <a:cs typeface="Times New Roman"/>
            </a:endParaRPr>
          </a:p>
          <a:p>
            <a:pPr marL="355600" marR="359410" indent="-342900">
              <a:lnSpc>
                <a:spcPct val="100000"/>
              </a:lnSpc>
              <a:spcBef>
                <a:spcPts val="994"/>
              </a:spcBef>
              <a:tabLst>
                <a:tab pos="410209" algn="l"/>
              </a:tabLst>
            </a:pPr>
            <a:r>
              <a:rPr sz="2200" spc="409" dirty="0">
                <a:solidFill>
                  <a:srgbClr val="A42F0F"/>
                </a:solidFill>
                <a:latin typeface="Arial"/>
                <a:cs typeface="Arial"/>
              </a:rPr>
              <a:t>		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At T2, the address is removed from the local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bus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and is sent to the  output. The bus is then tri-stated. The read (RD) control signal is also  activated in</a:t>
            </a:r>
            <a:r>
              <a:rPr sz="2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T2.</a:t>
            </a:r>
            <a:endParaRPr sz="2200">
              <a:latin typeface="Times New Roman"/>
              <a:cs typeface="Times New Roman"/>
            </a:endParaRPr>
          </a:p>
          <a:p>
            <a:pPr marL="355600" marR="307340" indent="-342900">
              <a:lnSpc>
                <a:spcPct val="100000"/>
              </a:lnSpc>
              <a:spcBef>
                <a:spcPts val="1010"/>
              </a:spcBef>
            </a:pPr>
            <a:r>
              <a:rPr sz="2200" spc="405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The read (RD) signal causes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address device to enable its data bus  drivers. After RD goes </a:t>
            </a:r>
            <a:r>
              <a:rPr sz="2200" spc="-40" dirty="0">
                <a:solidFill>
                  <a:srgbClr val="404040"/>
                </a:solidFill>
                <a:latin typeface="Times New Roman"/>
                <a:cs typeface="Times New Roman"/>
              </a:rPr>
              <a:t>low,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the valid data is available on the data</a:t>
            </a:r>
            <a:r>
              <a:rPr sz="2200" spc="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bus.</a:t>
            </a:r>
            <a:endParaRPr sz="2200">
              <a:latin typeface="Times New Roman"/>
              <a:cs typeface="Times New Roman"/>
            </a:endParaRPr>
          </a:p>
          <a:p>
            <a:pPr marL="355600" marR="73660" indent="-342900">
              <a:lnSpc>
                <a:spcPct val="100000"/>
              </a:lnSpc>
              <a:spcBef>
                <a:spcPts val="1000"/>
              </a:spcBef>
            </a:pPr>
            <a:r>
              <a:rPr sz="2200" spc="405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The addressed device will drive the READY line high. When the  processor returns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read signal to high level, the addressed device will  again tri-state its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bus</a:t>
            </a:r>
            <a:r>
              <a:rPr sz="22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drivers.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52751" y="785876"/>
            <a:ext cx="7950200" cy="52148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985770" y="335943"/>
            <a:ext cx="6864350" cy="593661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3200" spc="90" dirty="0">
                <a:solidFill>
                  <a:srgbClr val="252525"/>
                </a:solidFill>
                <a:latin typeface="Verdana"/>
                <a:cs typeface="Verdana"/>
              </a:rPr>
              <a:t>Read </a:t>
            </a:r>
            <a:r>
              <a:rPr sz="3200" spc="-290" dirty="0">
                <a:solidFill>
                  <a:srgbClr val="252525"/>
                </a:solidFill>
                <a:latin typeface="Verdana"/>
                <a:cs typeface="Verdana"/>
              </a:rPr>
              <a:t>Bus </a:t>
            </a:r>
            <a:r>
              <a:rPr sz="3200" spc="105" dirty="0">
                <a:solidFill>
                  <a:srgbClr val="252525"/>
                </a:solidFill>
                <a:latin typeface="Verdana"/>
                <a:cs typeface="Verdana"/>
              </a:rPr>
              <a:t>Cycle</a:t>
            </a:r>
            <a:r>
              <a:rPr sz="3200" spc="-570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3200" spc="-75" dirty="0">
                <a:solidFill>
                  <a:srgbClr val="252525"/>
                </a:solidFill>
                <a:latin typeface="Verdana"/>
                <a:cs typeface="Verdana"/>
              </a:rPr>
              <a:t>(cont.)</a:t>
            </a:r>
            <a:endParaRPr sz="32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150">
              <a:latin typeface="Times New Roman"/>
              <a:cs typeface="Times New Roman"/>
            </a:endParaRPr>
          </a:p>
          <a:p>
            <a:pPr marL="248920">
              <a:lnSpc>
                <a:spcPct val="100000"/>
              </a:lnSpc>
            </a:pPr>
            <a:r>
              <a:rPr sz="1800" b="1" spc="-5" dirty="0">
                <a:latin typeface="Verdana"/>
                <a:cs typeface="Verdana"/>
              </a:rPr>
              <a:t>Minimum-mode memory </a:t>
            </a:r>
            <a:r>
              <a:rPr sz="1800" b="1" dirty="0">
                <a:latin typeface="Verdana"/>
                <a:cs typeface="Verdana"/>
              </a:rPr>
              <a:t>read </a:t>
            </a:r>
            <a:r>
              <a:rPr sz="1800" b="1" spc="-5" dirty="0">
                <a:latin typeface="Verdana"/>
                <a:cs typeface="Verdana"/>
              </a:rPr>
              <a:t>bus cycle </a:t>
            </a:r>
            <a:r>
              <a:rPr sz="1800" b="1" dirty="0">
                <a:latin typeface="Verdana"/>
                <a:cs typeface="Verdana"/>
              </a:rPr>
              <a:t>of the</a:t>
            </a:r>
            <a:r>
              <a:rPr sz="1800" b="1" spc="-3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8086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4275" y="0"/>
            <a:ext cx="9483725" cy="68579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0334" y="214325"/>
            <a:ext cx="44754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90" dirty="0"/>
              <a:t>Minimum </a:t>
            </a:r>
            <a:r>
              <a:rPr sz="3200" spc="105" dirty="0"/>
              <a:t>mode </a:t>
            </a:r>
            <a:r>
              <a:rPr sz="3200" spc="-390" dirty="0"/>
              <a:t>-</a:t>
            </a:r>
            <a:r>
              <a:rPr sz="3200" spc="-810" dirty="0"/>
              <a:t> </a:t>
            </a:r>
            <a:r>
              <a:rPr sz="3200" spc="-155" dirty="0"/>
              <a:t>Write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546095" y="1310386"/>
            <a:ext cx="8062595" cy="4095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</a:pPr>
            <a:r>
              <a:rPr sz="2200" spc="405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A write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cycle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also begins with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assertion of ALE and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the  </a:t>
            </a:r>
            <a:r>
              <a:rPr sz="2200" spc="-35" dirty="0">
                <a:solidFill>
                  <a:srgbClr val="404040"/>
                </a:solidFill>
                <a:latin typeface="Times New Roman"/>
                <a:cs typeface="Times New Roman"/>
              </a:rPr>
              <a:t>emission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address. The M/IO signal is again asserted to  indicate a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memory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or I/O operation. In T2, after sending the address  in T1, the processor sends the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data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to be written to the addressed  location.</a:t>
            </a:r>
            <a:endParaRPr sz="2200">
              <a:latin typeface="Times New Roman"/>
              <a:cs typeface="Times New Roman"/>
            </a:endParaRPr>
          </a:p>
          <a:p>
            <a:pPr marL="355600" marR="662305" indent="-342900">
              <a:lnSpc>
                <a:spcPct val="100000"/>
              </a:lnSpc>
              <a:spcBef>
                <a:spcPts val="1000"/>
              </a:spcBef>
            </a:pPr>
            <a:r>
              <a:rPr sz="2200" spc="405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The data remains on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bus until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middle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of T4 state. The WR  becomes active at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beginning of T2 (unlike RD is somewhat 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delayed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in T2 to provide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time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floating).</a:t>
            </a:r>
            <a:endParaRPr sz="2200">
              <a:latin typeface="Times New Roman"/>
              <a:cs typeface="Times New Roman"/>
            </a:endParaRPr>
          </a:p>
          <a:p>
            <a:pPr marL="355600" marR="210185" indent="-342900">
              <a:lnSpc>
                <a:spcPct val="100000"/>
              </a:lnSpc>
              <a:spcBef>
                <a:spcPts val="1010"/>
              </a:spcBef>
            </a:pPr>
            <a:r>
              <a:rPr sz="2200" spc="405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The BHE and A0 signals are used to select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proper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byte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or  </a:t>
            </a:r>
            <a:r>
              <a:rPr sz="2200" spc="-80" dirty="0">
                <a:solidFill>
                  <a:srgbClr val="404040"/>
                </a:solidFill>
                <a:latin typeface="Times New Roman"/>
                <a:cs typeface="Times New Roman"/>
              </a:rPr>
              <a:t>bytes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memory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or I/O word to be read or</a:t>
            </a:r>
            <a:r>
              <a:rPr sz="2200" spc="1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write.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200" spc="405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The M/IO, RD and WR signals indicate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the type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of data transfer</a:t>
            </a:r>
            <a:r>
              <a:rPr sz="2200" spc="-2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specified in table</a:t>
            </a:r>
            <a:r>
              <a:rPr sz="22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404040"/>
                </a:solidFill>
                <a:latin typeface="Times New Roman"/>
                <a:cs typeface="Times New Roman"/>
              </a:rPr>
              <a:t>below.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375"/>
            <a:ext cx="1591945" cy="507365"/>
          </a:xfrm>
          <a:custGeom>
            <a:avLst/>
            <a:gdLst/>
            <a:ahLst/>
            <a:cxnLst/>
            <a:rect l="l" t="t" r="r" b="b"/>
            <a:pathLst>
              <a:path w="1591945" h="507365">
                <a:moveTo>
                  <a:pt x="105" y="0"/>
                </a:moveTo>
                <a:lnTo>
                  <a:pt x="0" y="503820"/>
                </a:lnTo>
                <a:lnTo>
                  <a:pt x="1245438" y="507238"/>
                </a:lnTo>
                <a:lnTo>
                  <a:pt x="1345692" y="507238"/>
                </a:lnTo>
                <a:lnTo>
                  <a:pt x="1350391" y="502538"/>
                </a:lnTo>
                <a:lnTo>
                  <a:pt x="1351915" y="500888"/>
                </a:lnTo>
                <a:lnTo>
                  <a:pt x="1353820" y="499363"/>
                </a:lnTo>
                <a:lnTo>
                  <a:pt x="1355344" y="497713"/>
                </a:lnTo>
                <a:lnTo>
                  <a:pt x="1584325" y="268859"/>
                </a:lnTo>
                <a:lnTo>
                  <a:pt x="1589611" y="261695"/>
                </a:lnTo>
                <a:lnTo>
                  <a:pt x="1591373" y="254508"/>
                </a:lnTo>
                <a:lnTo>
                  <a:pt x="1589611" y="247320"/>
                </a:lnTo>
                <a:lnTo>
                  <a:pt x="1584325" y="240157"/>
                </a:lnTo>
                <a:lnTo>
                  <a:pt x="1355344" y="11302"/>
                </a:lnTo>
                <a:lnTo>
                  <a:pt x="1350391" y="11302"/>
                </a:lnTo>
                <a:lnTo>
                  <a:pt x="1350391" y="6476"/>
                </a:lnTo>
                <a:lnTo>
                  <a:pt x="1345692" y="6476"/>
                </a:lnTo>
                <a:lnTo>
                  <a:pt x="1340993" y="1777"/>
                </a:lnTo>
                <a:lnTo>
                  <a:pt x="1245438" y="1777"/>
                </a:lnTo>
                <a:lnTo>
                  <a:pt x="105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63646" y="204673"/>
            <a:ext cx="57105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60" dirty="0"/>
              <a:t>Maximum </a:t>
            </a:r>
            <a:r>
              <a:rPr sz="3200" spc="105" dirty="0"/>
              <a:t>mode </a:t>
            </a:r>
            <a:r>
              <a:rPr sz="3200" spc="-265" dirty="0"/>
              <a:t>8086</a:t>
            </a:r>
            <a:r>
              <a:rPr sz="3200" spc="-825" dirty="0"/>
              <a:t> </a:t>
            </a:r>
            <a:r>
              <a:rPr sz="3200" spc="-195" dirty="0"/>
              <a:t>system</a:t>
            </a:r>
            <a:endParaRPr sz="3200"/>
          </a:p>
        </p:txBody>
      </p:sp>
      <p:sp>
        <p:nvSpPr>
          <p:cNvPr id="4" name="object 4"/>
          <p:cNvSpPr/>
          <p:nvPr/>
        </p:nvSpPr>
        <p:spPr>
          <a:xfrm>
            <a:off x="2014601" y="895730"/>
            <a:ext cx="9237599" cy="59622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2001" y="235457"/>
            <a:ext cx="67830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Maximum mode 8086 </a:t>
            </a:r>
            <a:r>
              <a:rPr sz="3200" spc="-5" dirty="0">
                <a:latin typeface="Times New Roman"/>
                <a:cs typeface="Times New Roman"/>
              </a:rPr>
              <a:t>system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continue…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0082" y="1052829"/>
            <a:ext cx="8227059" cy="4247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148080" indent="-342900">
              <a:lnSpc>
                <a:spcPct val="100000"/>
              </a:lnSpc>
              <a:spcBef>
                <a:spcPts val="95"/>
              </a:spcBef>
            </a:pPr>
            <a:r>
              <a:rPr sz="2800" spc="240" dirty="0">
                <a:solidFill>
                  <a:srgbClr val="A42F0F"/>
                </a:solidFill>
                <a:latin typeface="Arial"/>
                <a:cs typeface="Arial"/>
              </a:rPr>
              <a:t></a:t>
            </a:r>
            <a:r>
              <a:rPr sz="2800" spc="240" dirty="0">
                <a:solidFill>
                  <a:srgbClr val="404040"/>
                </a:solidFill>
                <a:latin typeface="Times New Roman"/>
                <a:cs typeface="Times New Roman"/>
              </a:rPr>
              <a:t>In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maximum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mode,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8086 is operated </a:t>
            </a:r>
            <a:r>
              <a:rPr sz="2800" spc="-830" dirty="0">
                <a:solidFill>
                  <a:srgbClr val="404040"/>
                </a:solidFill>
                <a:latin typeface="Times New Roman"/>
                <a:cs typeface="Times New Roman"/>
              </a:rPr>
              <a:t>by </a:t>
            </a:r>
            <a:r>
              <a:rPr sz="2800" spc="-6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strapping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the MN/MX pin to</a:t>
            </a:r>
            <a:r>
              <a:rPr sz="2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ground.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1010"/>
              </a:spcBef>
            </a:pPr>
            <a:r>
              <a:rPr sz="2800" spc="240" dirty="0">
                <a:solidFill>
                  <a:srgbClr val="A42F0F"/>
                </a:solidFill>
                <a:latin typeface="Arial"/>
                <a:cs typeface="Arial"/>
              </a:rPr>
              <a:t></a:t>
            </a:r>
            <a:r>
              <a:rPr sz="2800" spc="240" dirty="0">
                <a:solidFill>
                  <a:srgbClr val="404040"/>
                </a:solidFill>
                <a:latin typeface="Times New Roman"/>
                <a:cs typeface="Times New Roman"/>
              </a:rPr>
              <a:t>In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this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mode,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processor derives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status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signal</a:t>
            </a:r>
            <a:r>
              <a:rPr sz="2800" spc="-25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280" dirty="0">
                <a:solidFill>
                  <a:srgbClr val="404040"/>
                </a:solidFill>
                <a:latin typeface="Times New Roman"/>
                <a:cs typeface="Times New Roman"/>
              </a:rPr>
              <a:t>S2, 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S1, S0. Another chip called bus controller derives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the  control signal using this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status information</a:t>
            </a:r>
            <a:r>
              <a:rPr sz="2800" spc="-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355600" marR="502920" indent="-342900">
              <a:lnSpc>
                <a:spcPct val="100000"/>
              </a:lnSpc>
              <a:spcBef>
                <a:spcPts val="1000"/>
              </a:spcBef>
            </a:pPr>
            <a:r>
              <a:rPr sz="2800" spc="240" dirty="0">
                <a:solidFill>
                  <a:srgbClr val="A42F0F"/>
                </a:solidFill>
                <a:latin typeface="Arial"/>
                <a:cs typeface="Arial"/>
              </a:rPr>
              <a:t></a:t>
            </a:r>
            <a:r>
              <a:rPr sz="2800" spc="240" dirty="0">
                <a:solidFill>
                  <a:srgbClr val="404040"/>
                </a:solidFill>
                <a:latin typeface="Times New Roman"/>
                <a:cs typeface="Times New Roman"/>
              </a:rPr>
              <a:t>In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maximum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mode, there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may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be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more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than</a:t>
            </a:r>
            <a:r>
              <a:rPr sz="2800" spc="-1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280" dirty="0">
                <a:solidFill>
                  <a:srgbClr val="404040"/>
                </a:solidFill>
                <a:latin typeface="Times New Roman"/>
                <a:cs typeface="Times New Roman"/>
              </a:rPr>
              <a:t>one 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microprocessor in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system configuration.</a:t>
            </a:r>
            <a:endParaRPr sz="2800">
              <a:latin typeface="Times New Roman"/>
              <a:cs typeface="Times New Roman"/>
            </a:endParaRPr>
          </a:p>
          <a:p>
            <a:pPr marL="355600" marR="932180" indent="-342900">
              <a:lnSpc>
                <a:spcPct val="100000"/>
              </a:lnSpc>
              <a:spcBef>
                <a:spcPts val="1000"/>
              </a:spcBef>
            </a:pPr>
            <a:r>
              <a:rPr sz="2800" spc="180" dirty="0">
                <a:solidFill>
                  <a:srgbClr val="A42F0F"/>
                </a:solidFill>
                <a:latin typeface="Arial"/>
                <a:cs typeface="Arial"/>
              </a:rPr>
              <a:t></a:t>
            </a:r>
            <a:r>
              <a:rPr sz="2800" spc="18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components in the system are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same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as in</a:t>
            </a:r>
            <a:r>
              <a:rPr sz="2800" spc="-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275" dirty="0">
                <a:solidFill>
                  <a:srgbClr val="404040"/>
                </a:solidFill>
                <a:latin typeface="Times New Roman"/>
                <a:cs typeface="Times New Roman"/>
              </a:rPr>
              <a:t>the  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minimum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mode</a:t>
            </a:r>
            <a:r>
              <a:rPr sz="2800" spc="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system.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6629" y="164719"/>
            <a:ext cx="67830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Maximum mode 8086 </a:t>
            </a:r>
            <a:r>
              <a:rPr sz="3200" spc="-5" dirty="0">
                <a:latin typeface="Times New Roman"/>
                <a:cs typeface="Times New Roman"/>
              </a:rPr>
              <a:t>system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continue…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68270" y="1066038"/>
            <a:ext cx="7431405" cy="4557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8255" indent="-342900">
              <a:lnSpc>
                <a:spcPct val="100000"/>
              </a:lnSpc>
              <a:spcBef>
                <a:spcPts val="100"/>
              </a:spcBef>
            </a:pPr>
            <a:r>
              <a:rPr sz="2400" spc="450" dirty="0">
                <a:solidFill>
                  <a:srgbClr val="A42F0F"/>
                </a:solidFill>
                <a:latin typeface="Arial"/>
                <a:cs typeface="Arial"/>
              </a:rPr>
              <a:t></a:t>
            </a:r>
            <a:r>
              <a:rPr sz="2400" spc="-265" dirty="0">
                <a:solidFill>
                  <a:srgbClr val="A42F0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 basic function of the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bus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controller chip IC8288,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sz="2400" spc="-695" dirty="0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sz="2400" spc="-5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derive control signals like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RD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WR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(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for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memory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  I/O devices),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DEN, DT/R, ALE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etc. using the</a:t>
            </a:r>
            <a:r>
              <a:rPr sz="2400" spc="-1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information 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by the processor on the status</a:t>
            </a:r>
            <a:r>
              <a:rPr sz="2400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lines.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95"/>
              </a:spcBef>
            </a:pPr>
            <a:r>
              <a:rPr sz="2400" spc="450" dirty="0">
                <a:solidFill>
                  <a:srgbClr val="A42F0F"/>
                </a:solidFill>
                <a:latin typeface="Arial"/>
                <a:cs typeface="Arial"/>
              </a:rPr>
              <a:t></a:t>
            </a:r>
            <a:r>
              <a:rPr sz="2400" spc="-250" dirty="0">
                <a:solidFill>
                  <a:srgbClr val="A42F0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 bus controller chip has input lines S2,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S1,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S0 and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CLK. These inputs to 8288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are driven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24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CPU.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85"/>
              </a:spcBef>
            </a:pPr>
            <a:r>
              <a:rPr sz="2400" spc="450" dirty="0">
                <a:solidFill>
                  <a:srgbClr val="A42F0F"/>
                </a:solidFill>
                <a:latin typeface="Arial"/>
                <a:cs typeface="Arial"/>
              </a:rPr>
              <a:t></a:t>
            </a:r>
            <a:r>
              <a:rPr sz="2400" spc="-270" dirty="0">
                <a:solidFill>
                  <a:srgbClr val="A42F0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It derives the outputs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ALE, DEN, DT/R, MRDC, </a:t>
            </a:r>
            <a:r>
              <a:rPr sz="2400" spc="-135" dirty="0">
                <a:solidFill>
                  <a:srgbClr val="404040"/>
                </a:solidFill>
                <a:latin typeface="Times New Roman"/>
                <a:cs typeface="Times New Roman"/>
              </a:rPr>
              <a:t>MWTC,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AMWC,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IORC,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IOWC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AIOWC.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AEN, IOB</a:t>
            </a:r>
            <a:r>
              <a:rPr sz="2400" spc="-1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CEN pins are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specially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useful for multiprocessor</a:t>
            </a:r>
            <a:r>
              <a:rPr sz="2400" spc="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systems.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6713" y="186639"/>
            <a:ext cx="46367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imes New Roman"/>
                <a:cs typeface="Times New Roman"/>
              </a:rPr>
              <a:t>Maximum </a:t>
            </a:r>
            <a:r>
              <a:rPr sz="3200" dirty="0">
                <a:latin typeface="Times New Roman"/>
                <a:cs typeface="Times New Roman"/>
              </a:rPr>
              <a:t>mode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continue…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2748" y="841629"/>
            <a:ext cx="8910955" cy="528891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5600" marR="171450" indent="-342900" algn="just">
              <a:lnSpc>
                <a:spcPct val="80000"/>
              </a:lnSpc>
              <a:spcBef>
                <a:spcPts val="620"/>
              </a:spcBef>
            </a:pPr>
            <a:r>
              <a:rPr sz="2200" spc="405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AEN and IOB are generally grounded. CEN pin is usually tied to </a:t>
            </a:r>
            <a:r>
              <a:rPr sz="2200" spc="-75" dirty="0">
                <a:solidFill>
                  <a:srgbClr val="404040"/>
                </a:solidFill>
                <a:latin typeface="Times New Roman"/>
                <a:cs typeface="Times New Roman"/>
              </a:rPr>
              <a:t>+5V.</a:t>
            </a:r>
            <a:r>
              <a:rPr sz="2200" spc="-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215" dirty="0">
                <a:solidFill>
                  <a:srgbClr val="404040"/>
                </a:solidFill>
                <a:latin typeface="Times New Roman"/>
                <a:cs typeface="Times New Roman"/>
              </a:rPr>
              <a:t>The 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significance of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MCE/PDEN output depends upon the status of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IOB  pin.</a:t>
            </a:r>
            <a:endParaRPr sz="2200">
              <a:latin typeface="Times New Roman"/>
              <a:cs typeface="Times New Roman"/>
            </a:endParaRPr>
          </a:p>
          <a:p>
            <a:pPr marL="355600" marR="694690" indent="-342900">
              <a:lnSpc>
                <a:spcPts val="2110"/>
              </a:lnSpc>
              <a:spcBef>
                <a:spcPts val="985"/>
              </a:spcBef>
            </a:pPr>
            <a:r>
              <a:rPr sz="2200" spc="409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If IOB is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grounded,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it acts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as master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cascade enable to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control  </a:t>
            </a:r>
            <a:r>
              <a:rPr sz="2200" spc="-70" dirty="0">
                <a:solidFill>
                  <a:srgbClr val="404040"/>
                </a:solidFill>
                <a:latin typeface="Times New Roman"/>
                <a:cs typeface="Times New Roman"/>
              </a:rPr>
              <a:t>cascade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8259A, else it acts as peripheral data enable used in the  multiple bus</a:t>
            </a:r>
            <a:r>
              <a:rPr sz="22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configurations.</a:t>
            </a:r>
            <a:endParaRPr sz="2200">
              <a:latin typeface="Times New Roman"/>
              <a:cs typeface="Times New Roman"/>
            </a:endParaRPr>
          </a:p>
          <a:p>
            <a:pPr marL="355600" marR="87630" indent="-342900">
              <a:lnSpc>
                <a:spcPct val="80000"/>
              </a:lnSpc>
              <a:spcBef>
                <a:spcPts val="1030"/>
              </a:spcBef>
            </a:pPr>
            <a:r>
              <a:rPr sz="2200" spc="405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2200" spc="-50" dirty="0">
                <a:solidFill>
                  <a:srgbClr val="404040"/>
                </a:solidFill>
                <a:latin typeface="Times New Roman"/>
                <a:cs typeface="Times New Roman"/>
              </a:rPr>
              <a:t>INTA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pin used to issue two interrupt acknowledge pulses to the interrupt  controller or to an interrupting device. IORC, IOWC are I/O read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command 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and I/O write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command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signals respectively . These signals enable an IO  interface to read or write the data from or to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address</a:t>
            </a:r>
            <a:r>
              <a:rPr sz="2200" spc="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port.</a:t>
            </a:r>
            <a:endParaRPr sz="2200">
              <a:latin typeface="Times New Roman"/>
              <a:cs typeface="Times New Roman"/>
            </a:endParaRPr>
          </a:p>
          <a:p>
            <a:pPr marL="355600" marR="447040" indent="-342900">
              <a:lnSpc>
                <a:spcPts val="2110"/>
              </a:lnSpc>
              <a:spcBef>
                <a:spcPts val="980"/>
              </a:spcBef>
            </a:pPr>
            <a:r>
              <a:rPr sz="2200" spc="405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The MRDC, MWTC are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memory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read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command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memory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write 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command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signals respectively and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may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be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used as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memory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read or write  signals.</a:t>
            </a:r>
            <a:endParaRPr sz="2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80000"/>
              </a:lnSpc>
              <a:spcBef>
                <a:spcPts val="1019"/>
              </a:spcBef>
            </a:pPr>
            <a:r>
              <a:rPr sz="2200" spc="405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All these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command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signals instructs the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memory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to accept or send data</a:t>
            </a:r>
            <a:r>
              <a:rPr sz="2200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160" dirty="0">
                <a:solidFill>
                  <a:srgbClr val="404040"/>
                </a:solidFill>
                <a:latin typeface="Times New Roman"/>
                <a:cs typeface="Times New Roman"/>
              </a:rPr>
              <a:t>from 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or to the bus.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375"/>
              </a:lnSpc>
              <a:spcBef>
                <a:spcPts val="480"/>
              </a:spcBef>
            </a:pPr>
            <a:r>
              <a:rPr sz="2200" spc="405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For both of these write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command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signals, the advanced signals</a:t>
            </a:r>
            <a:r>
              <a:rPr sz="2200" spc="-1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namely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ts val="2375"/>
              </a:lnSpc>
            </a:pP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AIOWC and AMWTC are</a:t>
            </a:r>
            <a:r>
              <a:rPr sz="2200" spc="-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imes New Roman"/>
                <a:cs typeface="Times New Roman"/>
              </a:rPr>
              <a:t>available.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4045" y="297307"/>
            <a:ext cx="7454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Maximum-Mode </a:t>
            </a:r>
            <a:r>
              <a:rPr spc="-55" dirty="0"/>
              <a:t>Interface</a:t>
            </a:r>
            <a:r>
              <a:rPr spc="-545" dirty="0"/>
              <a:t> </a:t>
            </a:r>
            <a:r>
              <a:rPr spc="-9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270" y="2161158"/>
            <a:ext cx="56737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59755" algn="l"/>
              </a:tabLst>
            </a:pPr>
            <a:r>
              <a:rPr sz="2200" spc="405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2200" spc="-190" dirty="0">
                <a:solidFill>
                  <a:srgbClr val="404040"/>
                </a:solidFill>
                <a:latin typeface="Verdana"/>
                <a:cs typeface="Verdana"/>
              </a:rPr>
              <a:t>82</a:t>
            </a:r>
            <a:r>
              <a:rPr sz="2200" u="heavy" spc="-190" dirty="0">
                <a:solidFill>
                  <a:srgbClr val="404040"/>
                </a:solidFill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88 </a:t>
            </a:r>
            <a:r>
              <a:rPr sz="2200" u="heavy" spc="-80" dirty="0">
                <a:solidFill>
                  <a:srgbClr val="404040"/>
                </a:solidFill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bus</a:t>
            </a:r>
            <a:r>
              <a:rPr sz="2200" u="heavy" spc="-440" dirty="0">
                <a:solidFill>
                  <a:srgbClr val="404040"/>
                </a:solidFill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200" u="heavy" spc="-45" dirty="0">
                <a:solidFill>
                  <a:srgbClr val="404040"/>
                </a:solidFill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controller	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73777" y="5622442"/>
            <a:ext cx="2051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Bus </a:t>
            </a:r>
            <a:r>
              <a:rPr sz="1800" b="1" spc="-5" dirty="0">
                <a:latin typeface="Verdana"/>
                <a:cs typeface="Verdana"/>
              </a:rPr>
              <a:t>status</a:t>
            </a:r>
            <a:r>
              <a:rPr sz="1800" b="1" spc="-8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code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66570" y="2632066"/>
            <a:ext cx="219075" cy="0"/>
          </a:xfrm>
          <a:custGeom>
            <a:avLst/>
            <a:gdLst/>
            <a:ahLst/>
            <a:cxnLst/>
            <a:rect l="l" t="t" r="r" b="b"/>
            <a:pathLst>
              <a:path w="219075">
                <a:moveTo>
                  <a:pt x="0" y="0"/>
                </a:moveTo>
                <a:lnTo>
                  <a:pt x="219037" y="0"/>
                </a:lnTo>
              </a:path>
            </a:pathLst>
          </a:custGeom>
          <a:ln w="11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12560" y="2632066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>
                <a:moveTo>
                  <a:pt x="0" y="0"/>
                </a:moveTo>
                <a:lnTo>
                  <a:pt x="176753" y="0"/>
                </a:lnTo>
              </a:path>
            </a:pathLst>
          </a:custGeom>
          <a:ln w="11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02380" y="2632066"/>
            <a:ext cx="217170" cy="0"/>
          </a:xfrm>
          <a:custGeom>
            <a:avLst/>
            <a:gdLst/>
            <a:ahLst/>
            <a:cxnLst/>
            <a:rect l="l" t="t" r="r" b="b"/>
            <a:pathLst>
              <a:path w="217170">
                <a:moveTo>
                  <a:pt x="0" y="0"/>
                </a:moveTo>
                <a:lnTo>
                  <a:pt x="216595" y="0"/>
                </a:lnTo>
              </a:path>
            </a:pathLst>
          </a:custGeom>
          <a:ln w="115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309158" y="2537822"/>
          <a:ext cx="5026660" cy="23564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9165"/>
                <a:gridCol w="903605"/>
                <a:gridCol w="772160"/>
                <a:gridCol w="2411730"/>
              </a:tblGrid>
              <a:tr h="418465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850" spc="-10" dirty="0">
                          <a:latin typeface="Times New Roman"/>
                          <a:cs typeface="Times New Roman"/>
                        </a:rPr>
                        <a:t>S2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850" spc="-235" dirty="0">
                          <a:latin typeface="Times New Roman"/>
                          <a:cs typeface="Times New Roman"/>
                        </a:rPr>
                        <a:t>S1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94945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850" spc="-55" dirty="0">
                          <a:latin typeface="Times New Roman"/>
                          <a:cs typeface="Times New Roman"/>
                        </a:rPr>
                        <a:t>S0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6741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500" b="1" i="1" spc="20" dirty="0">
                          <a:latin typeface="Arial"/>
                          <a:cs typeface="Arial"/>
                        </a:rPr>
                        <a:t>Function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500" spc="10" dirty="0">
                          <a:latin typeface="Arial"/>
                          <a:cs typeface="Arial"/>
                        </a:rPr>
                        <a:t>Interrupt</a:t>
                      </a:r>
                      <a:r>
                        <a:rPr sz="15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15" dirty="0">
                          <a:latin typeface="Arial"/>
                          <a:cs typeface="Arial"/>
                        </a:rPr>
                        <a:t>acknowledge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3175" algn="ctr">
                        <a:lnSpc>
                          <a:spcPts val="1755"/>
                        </a:lnSpc>
                        <a:spcBef>
                          <a:spcPts val="7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7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ts val="1755"/>
                        </a:lnSpc>
                        <a:spcBef>
                          <a:spcPts val="7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ts val="1755"/>
                        </a:lnSpc>
                        <a:spcBef>
                          <a:spcPts val="70"/>
                        </a:spcBef>
                      </a:pPr>
                      <a:r>
                        <a:rPr sz="1500" spc="15" dirty="0">
                          <a:latin typeface="Arial"/>
                          <a:cs typeface="Arial"/>
                        </a:rPr>
                        <a:t>I/O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15" dirty="0">
                          <a:latin typeface="Arial"/>
                          <a:cs typeface="Arial"/>
                        </a:rPr>
                        <a:t>read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solidFill>
                      <a:srgbClr val="FFFFFF"/>
                    </a:solidFill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3175" algn="ctr">
                        <a:lnSpc>
                          <a:spcPts val="1675"/>
                        </a:lnSpc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5"/>
                        </a:lnSpc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ts val="1675"/>
                        </a:lnSpc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ts val="1675"/>
                        </a:lnSpc>
                      </a:pPr>
                      <a:r>
                        <a:rPr sz="1500" spc="15" dirty="0">
                          <a:latin typeface="Arial"/>
                          <a:cs typeface="Arial"/>
                        </a:rPr>
                        <a:t>I/O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 write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224154">
                <a:tc>
                  <a:txBody>
                    <a:bodyPr/>
                    <a:lstStyle/>
                    <a:p>
                      <a:pPr marL="3175" algn="ctr">
                        <a:lnSpc>
                          <a:spcPts val="1670"/>
                        </a:lnSpc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0"/>
                        </a:lnSpc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ts val="1670"/>
                        </a:lnSpc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ts val="1670"/>
                        </a:lnSpc>
                      </a:pPr>
                      <a:r>
                        <a:rPr sz="1500" spc="10" dirty="0">
                          <a:latin typeface="Arial"/>
                          <a:cs typeface="Arial"/>
                        </a:rPr>
                        <a:t>Halt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224154">
                <a:tc>
                  <a:txBody>
                    <a:bodyPr/>
                    <a:lstStyle/>
                    <a:p>
                      <a:pPr marL="3175" algn="ctr">
                        <a:lnSpc>
                          <a:spcPts val="1670"/>
                        </a:lnSpc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0"/>
                        </a:lnSpc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ts val="1670"/>
                        </a:lnSpc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ts val="1670"/>
                        </a:lnSpc>
                      </a:pPr>
                      <a:r>
                        <a:rPr sz="1500" spc="20" dirty="0">
                          <a:latin typeface="Arial"/>
                          <a:cs typeface="Arial"/>
                        </a:rPr>
                        <a:t>Opcode</a:t>
                      </a:r>
                      <a:r>
                        <a:rPr sz="15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15" dirty="0">
                          <a:latin typeface="Arial"/>
                          <a:cs typeface="Arial"/>
                        </a:rPr>
                        <a:t>fetch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3175" algn="ctr">
                        <a:lnSpc>
                          <a:spcPts val="1675"/>
                        </a:lnSpc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5"/>
                        </a:lnSpc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ts val="1675"/>
                        </a:lnSpc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ts val="1675"/>
                        </a:lnSpc>
                      </a:pPr>
                      <a:r>
                        <a:rPr sz="1500" spc="25" dirty="0">
                          <a:latin typeface="Arial"/>
                          <a:cs typeface="Arial"/>
                        </a:rPr>
                        <a:t>Memory</a:t>
                      </a:r>
                      <a:r>
                        <a:rPr sz="15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15" dirty="0">
                          <a:latin typeface="Arial"/>
                          <a:cs typeface="Arial"/>
                        </a:rPr>
                        <a:t>read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3175" algn="ctr">
                        <a:lnSpc>
                          <a:spcPts val="1675"/>
                        </a:lnSpc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5"/>
                        </a:lnSpc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ts val="1675"/>
                        </a:lnSpc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ts val="1675"/>
                        </a:lnSpc>
                      </a:pPr>
                      <a:r>
                        <a:rPr sz="1500" spc="25" dirty="0">
                          <a:latin typeface="Arial"/>
                          <a:cs typeface="Arial"/>
                        </a:rPr>
                        <a:t>Memory</a:t>
                      </a:r>
                      <a:r>
                        <a:rPr sz="15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write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3175" algn="ctr">
                        <a:lnSpc>
                          <a:spcPts val="1720"/>
                        </a:lnSpc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0"/>
                        </a:lnSpc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ts val="1720"/>
                        </a:lnSpc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ts val="1720"/>
                        </a:lnSpc>
                      </a:pPr>
                      <a:r>
                        <a:rPr sz="1500" spc="15" dirty="0">
                          <a:latin typeface="Arial"/>
                          <a:cs typeface="Arial"/>
                        </a:rPr>
                        <a:t>Passive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5736" y="122301"/>
            <a:ext cx="68529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Memory </a:t>
            </a:r>
            <a:r>
              <a:rPr spc="-35" dirty="0"/>
              <a:t>Control </a:t>
            </a:r>
            <a:r>
              <a:rPr spc="-190" dirty="0"/>
              <a:t>Signals</a:t>
            </a:r>
            <a:r>
              <a:rPr spc="-765" dirty="0"/>
              <a:t> </a:t>
            </a:r>
            <a:r>
              <a:rPr spc="-9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38170" y="3496977"/>
            <a:ext cx="5727700" cy="3124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2000" spc="380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2000" b="1" spc="-130" dirty="0">
                <a:solidFill>
                  <a:srgbClr val="404040"/>
                </a:solidFill>
                <a:latin typeface="Verdana"/>
                <a:cs typeface="Verdana"/>
              </a:rPr>
              <a:t>AMWC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– </a:t>
            </a:r>
            <a:r>
              <a:rPr sz="2000" b="1" spc="-75" dirty="0">
                <a:solidFill>
                  <a:srgbClr val="404040"/>
                </a:solidFill>
                <a:latin typeface="Verdana"/>
                <a:cs typeface="Verdana"/>
              </a:rPr>
              <a:t>Advanced</a:t>
            </a:r>
            <a:r>
              <a:rPr sz="2000" b="1" spc="-4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b="1" spc="-160" dirty="0">
                <a:solidFill>
                  <a:srgbClr val="404040"/>
                </a:solidFill>
                <a:latin typeface="Verdana"/>
                <a:cs typeface="Verdana"/>
              </a:rPr>
              <a:t>Memory </a:t>
            </a:r>
            <a:r>
              <a:rPr sz="2000" b="1" spc="-280" dirty="0">
                <a:solidFill>
                  <a:srgbClr val="404040"/>
                </a:solidFill>
                <a:latin typeface="Verdana"/>
                <a:cs typeface="Verdana"/>
              </a:rPr>
              <a:t>Write </a:t>
            </a:r>
            <a:r>
              <a:rPr sz="2000" b="1" spc="-715" dirty="0">
                <a:solidFill>
                  <a:srgbClr val="404040"/>
                </a:solidFill>
                <a:latin typeface="Verdana"/>
                <a:cs typeface="Verdana"/>
              </a:rPr>
              <a:t>Comman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pc="405" dirty="0">
                <a:solidFill>
                  <a:srgbClr val="A42F0F"/>
                </a:solidFill>
                <a:latin typeface="Arial"/>
                <a:cs typeface="Arial"/>
              </a:rPr>
              <a:t></a:t>
            </a:r>
            <a:r>
              <a:rPr spc="-280" dirty="0">
                <a:solidFill>
                  <a:srgbClr val="A42F0F"/>
                </a:solidFill>
                <a:latin typeface="Arial"/>
                <a:cs typeface="Arial"/>
              </a:rPr>
              <a:t> </a:t>
            </a:r>
            <a:r>
              <a:rPr spc="-25" dirty="0"/>
              <a:t>Maximum-mode </a:t>
            </a:r>
            <a:r>
              <a:rPr spc="-60" dirty="0"/>
              <a:t>memory </a:t>
            </a:r>
            <a:r>
              <a:rPr spc="-20" dirty="0"/>
              <a:t>control </a:t>
            </a:r>
            <a:r>
              <a:rPr spc="-100" dirty="0"/>
              <a:t>signals</a:t>
            </a:r>
          </a:p>
          <a:p>
            <a:pPr marL="469900">
              <a:lnSpc>
                <a:spcPct val="100000"/>
              </a:lnSpc>
              <a:spcBef>
                <a:spcPts val="1005"/>
              </a:spcBef>
            </a:pPr>
            <a:r>
              <a:rPr sz="2000" spc="380" dirty="0">
                <a:solidFill>
                  <a:srgbClr val="A42F0F"/>
                </a:solidFill>
                <a:latin typeface="Arial"/>
                <a:cs typeface="Arial"/>
              </a:rPr>
              <a:t></a:t>
            </a:r>
            <a:r>
              <a:rPr sz="2000" spc="-95" dirty="0">
                <a:solidFill>
                  <a:srgbClr val="A42F0F"/>
                </a:solidFill>
                <a:latin typeface="Arial"/>
                <a:cs typeface="Arial"/>
              </a:rPr>
              <a:t> </a:t>
            </a:r>
            <a:r>
              <a:rPr sz="2000" b="1" spc="-160" dirty="0">
                <a:latin typeface="Verdana"/>
                <a:cs typeface="Verdana"/>
              </a:rPr>
              <a:t>MRDC </a:t>
            </a:r>
            <a:r>
              <a:rPr sz="2000" b="1" dirty="0">
                <a:latin typeface="Arial"/>
                <a:cs typeface="Arial"/>
              </a:rPr>
              <a:t>– </a:t>
            </a:r>
            <a:r>
              <a:rPr sz="2000" b="1" spc="-160" dirty="0">
                <a:latin typeface="Verdana"/>
                <a:cs typeface="Verdana"/>
              </a:rPr>
              <a:t>Memory </a:t>
            </a:r>
            <a:r>
              <a:rPr sz="2000" b="1" spc="-140" dirty="0">
                <a:latin typeface="Verdana"/>
                <a:cs typeface="Verdana"/>
              </a:rPr>
              <a:t>Read </a:t>
            </a:r>
            <a:r>
              <a:rPr sz="2000" b="1" spc="-110" dirty="0">
                <a:latin typeface="Verdana"/>
                <a:cs typeface="Verdana"/>
              </a:rPr>
              <a:t>Command 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994"/>
              </a:spcBef>
            </a:pPr>
            <a:r>
              <a:rPr sz="2000" spc="380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2000" b="1" spc="-245" dirty="0">
                <a:latin typeface="Verdana"/>
                <a:cs typeface="Verdana"/>
              </a:rPr>
              <a:t>MWTC </a:t>
            </a:r>
            <a:r>
              <a:rPr sz="2000" b="1" dirty="0">
                <a:latin typeface="Arial"/>
                <a:cs typeface="Arial"/>
              </a:rPr>
              <a:t>– </a:t>
            </a:r>
            <a:r>
              <a:rPr sz="2000" b="1" spc="-160" dirty="0">
                <a:latin typeface="Verdana"/>
                <a:cs typeface="Verdana"/>
              </a:rPr>
              <a:t>Memory </a:t>
            </a:r>
            <a:r>
              <a:rPr sz="2000" b="1" spc="-280" dirty="0">
                <a:latin typeface="Verdana"/>
                <a:cs typeface="Verdana"/>
              </a:rPr>
              <a:t>Write </a:t>
            </a:r>
            <a:r>
              <a:rPr sz="2000" b="1" spc="-110" dirty="0">
                <a:latin typeface="Verdana"/>
                <a:cs typeface="Verdana"/>
              </a:rPr>
              <a:t>Command</a:t>
            </a:r>
            <a:r>
              <a:rPr sz="2000" b="1" spc="-350" dirty="0">
                <a:latin typeface="Verdana"/>
                <a:cs typeface="Verdana"/>
              </a:rPr>
              <a:t> </a:t>
            </a:r>
            <a:endParaRPr sz="20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000"/>
              </a:spcBef>
            </a:pPr>
            <a:r>
              <a:rPr sz="2000" b="1" spc="-80" dirty="0">
                <a:latin typeface="Verdana"/>
                <a:cs typeface="Verdana"/>
              </a:rPr>
              <a:t>d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62376" y="3357626"/>
            <a:ext cx="5640324" cy="316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80970" y="2172224"/>
            <a:ext cx="1849755" cy="3422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200" spc="405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2200" spc="-110" dirty="0">
                <a:solidFill>
                  <a:srgbClr val="404040"/>
                </a:solidFill>
                <a:latin typeface="Verdana"/>
                <a:cs typeface="Verdana"/>
              </a:rPr>
              <a:t>Write  </a:t>
            </a:r>
            <a:r>
              <a:rPr sz="2200" spc="-15" dirty="0">
                <a:solidFill>
                  <a:srgbClr val="404040"/>
                </a:solidFill>
                <a:latin typeface="Verdana"/>
                <a:cs typeface="Verdana"/>
              </a:rPr>
              <a:t>cycle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67000" y="785812"/>
            <a:ext cx="7750175" cy="53784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85770" y="335943"/>
            <a:ext cx="6877684" cy="600773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3200" spc="90" dirty="0">
                <a:solidFill>
                  <a:srgbClr val="252525"/>
                </a:solidFill>
                <a:latin typeface="Verdana"/>
                <a:cs typeface="Verdana"/>
              </a:rPr>
              <a:t>Read</a:t>
            </a:r>
            <a:r>
              <a:rPr sz="3200" spc="-265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3200" spc="125" dirty="0">
                <a:solidFill>
                  <a:srgbClr val="252525"/>
                </a:solidFill>
                <a:latin typeface="Verdana"/>
                <a:cs typeface="Verdana"/>
              </a:rPr>
              <a:t>and</a:t>
            </a:r>
            <a:r>
              <a:rPr sz="3200" spc="-260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3200" spc="-150" dirty="0">
                <a:solidFill>
                  <a:srgbClr val="252525"/>
                </a:solidFill>
                <a:latin typeface="Verdana"/>
                <a:cs typeface="Verdana"/>
              </a:rPr>
              <a:t>Write</a:t>
            </a:r>
            <a:r>
              <a:rPr sz="3200" spc="-245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3200" spc="-290" dirty="0">
                <a:solidFill>
                  <a:srgbClr val="252525"/>
                </a:solidFill>
                <a:latin typeface="Verdana"/>
                <a:cs typeface="Verdana"/>
              </a:rPr>
              <a:t>Bus</a:t>
            </a:r>
            <a:r>
              <a:rPr sz="3200" spc="-245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3200" spc="105" dirty="0">
                <a:solidFill>
                  <a:srgbClr val="252525"/>
                </a:solidFill>
                <a:latin typeface="Verdana"/>
                <a:cs typeface="Verdana"/>
              </a:rPr>
              <a:t>Cycle</a:t>
            </a:r>
            <a:r>
              <a:rPr sz="3200" spc="-270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3200" spc="-75" dirty="0">
                <a:solidFill>
                  <a:srgbClr val="252525"/>
                </a:solidFill>
                <a:latin typeface="Verdana"/>
                <a:cs typeface="Verdana"/>
              </a:rPr>
              <a:t>(cont.)</a:t>
            </a:r>
            <a:endParaRPr sz="32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650">
              <a:latin typeface="Times New Roman"/>
              <a:cs typeface="Times New Roman"/>
            </a:endParaRPr>
          </a:p>
          <a:p>
            <a:pPr marL="106045">
              <a:lnSpc>
                <a:spcPct val="100000"/>
              </a:lnSpc>
            </a:pPr>
            <a:r>
              <a:rPr sz="1800" b="1" spc="-5" dirty="0">
                <a:latin typeface="Verdana"/>
                <a:cs typeface="Verdana"/>
              </a:rPr>
              <a:t>Maximum-mode memory write bus cycle </a:t>
            </a:r>
            <a:r>
              <a:rPr sz="1800" b="1" dirty="0">
                <a:latin typeface="Verdana"/>
                <a:cs typeface="Verdana"/>
              </a:rPr>
              <a:t>of the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8086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52625" y="0"/>
            <a:ext cx="8501126" cy="68389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5947" y="1865519"/>
            <a:ext cx="1556385" cy="3422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200" spc="55" dirty="0">
                <a:solidFill>
                  <a:srgbClr val="404040"/>
                </a:solidFill>
                <a:latin typeface="Verdana"/>
                <a:cs typeface="Verdana"/>
              </a:rPr>
              <a:t>Read</a:t>
            </a:r>
            <a:r>
              <a:rPr sz="2200" spc="-2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70" dirty="0">
                <a:solidFill>
                  <a:srgbClr val="404040"/>
                </a:solidFill>
                <a:latin typeface="Verdana"/>
                <a:cs typeface="Verdana"/>
              </a:rPr>
              <a:t>cycle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81251" y="785812"/>
            <a:ext cx="8286750" cy="55086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85770" y="335943"/>
            <a:ext cx="6784340" cy="600773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3200" spc="90" dirty="0">
                <a:solidFill>
                  <a:srgbClr val="252525"/>
                </a:solidFill>
                <a:latin typeface="Verdana"/>
                <a:cs typeface="Verdana"/>
              </a:rPr>
              <a:t>Read</a:t>
            </a:r>
            <a:r>
              <a:rPr sz="3200" spc="-270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3200" spc="125" dirty="0">
                <a:solidFill>
                  <a:srgbClr val="252525"/>
                </a:solidFill>
                <a:latin typeface="Verdana"/>
                <a:cs typeface="Verdana"/>
              </a:rPr>
              <a:t>and</a:t>
            </a:r>
            <a:r>
              <a:rPr sz="3200" spc="-260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3200" spc="-150" dirty="0">
                <a:solidFill>
                  <a:srgbClr val="252525"/>
                </a:solidFill>
                <a:latin typeface="Verdana"/>
                <a:cs typeface="Verdana"/>
              </a:rPr>
              <a:t>Write</a:t>
            </a:r>
            <a:r>
              <a:rPr sz="3200" spc="-245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3200" spc="-290" dirty="0">
                <a:solidFill>
                  <a:srgbClr val="252525"/>
                </a:solidFill>
                <a:latin typeface="Verdana"/>
                <a:cs typeface="Verdana"/>
              </a:rPr>
              <a:t>Bus</a:t>
            </a:r>
            <a:r>
              <a:rPr sz="3200" spc="-245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3200" spc="105" dirty="0">
                <a:solidFill>
                  <a:srgbClr val="252525"/>
                </a:solidFill>
                <a:latin typeface="Verdana"/>
                <a:cs typeface="Verdana"/>
              </a:rPr>
              <a:t>Cycle</a:t>
            </a:r>
            <a:r>
              <a:rPr sz="3200" spc="-270" dirty="0">
                <a:solidFill>
                  <a:srgbClr val="252525"/>
                </a:solidFill>
                <a:latin typeface="Verdana"/>
                <a:cs typeface="Verdana"/>
              </a:rPr>
              <a:t> </a:t>
            </a:r>
            <a:r>
              <a:rPr sz="3200" spc="-75" dirty="0">
                <a:solidFill>
                  <a:srgbClr val="252525"/>
                </a:solidFill>
                <a:latin typeface="Verdana"/>
                <a:cs typeface="Verdana"/>
              </a:rPr>
              <a:t>(cont.)</a:t>
            </a:r>
            <a:endParaRPr sz="32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650">
              <a:latin typeface="Times New Roman"/>
              <a:cs typeface="Times New Roman"/>
            </a:endParaRPr>
          </a:p>
          <a:p>
            <a:pPr marL="106045">
              <a:lnSpc>
                <a:spcPct val="100000"/>
              </a:lnSpc>
            </a:pPr>
            <a:r>
              <a:rPr sz="1800" b="1" spc="-5" dirty="0">
                <a:latin typeface="Verdana"/>
                <a:cs typeface="Verdana"/>
              </a:rPr>
              <a:t>Maximum-mode memory </a:t>
            </a:r>
            <a:r>
              <a:rPr sz="1800" b="1" dirty="0">
                <a:latin typeface="Verdana"/>
                <a:cs typeface="Verdana"/>
              </a:rPr>
              <a:t>read </a:t>
            </a:r>
            <a:r>
              <a:rPr sz="1800" b="1" spc="-5" dirty="0">
                <a:latin typeface="Verdana"/>
                <a:cs typeface="Verdana"/>
              </a:rPr>
              <a:t>bus cycle </a:t>
            </a:r>
            <a:r>
              <a:rPr sz="1800" b="1" dirty="0">
                <a:latin typeface="Verdana"/>
                <a:cs typeface="Verdana"/>
              </a:rPr>
              <a:t>of the</a:t>
            </a:r>
            <a:r>
              <a:rPr sz="1800" b="1" spc="-2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8086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09750" y="0"/>
            <a:ext cx="8429625" cy="67151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952" y="646557"/>
            <a:ext cx="69519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Isolated </a:t>
            </a:r>
            <a:r>
              <a:rPr spc="-90" dirty="0"/>
              <a:t>Input/Output</a:t>
            </a:r>
            <a:r>
              <a:rPr spc="-455" dirty="0"/>
              <a:t> </a:t>
            </a:r>
            <a:r>
              <a:rPr spc="-55" dirty="0"/>
              <a:t>Interface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80970" y="2172224"/>
            <a:ext cx="3790315" cy="3422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200" spc="405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2200" spc="-35" dirty="0">
                <a:solidFill>
                  <a:srgbClr val="404040"/>
                </a:solidFill>
                <a:latin typeface="Verdana"/>
                <a:cs typeface="Verdana"/>
              </a:rPr>
              <a:t>Minimum-mode</a:t>
            </a:r>
            <a:r>
              <a:rPr sz="2200" spc="-4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85" dirty="0">
                <a:solidFill>
                  <a:srgbClr val="404040"/>
                </a:solidFill>
                <a:latin typeface="Verdana"/>
                <a:cs typeface="Verdana"/>
              </a:rPr>
              <a:t>interface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24176" y="2211451"/>
            <a:ext cx="8059674" cy="3881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59122" y="6322872"/>
            <a:ext cx="46075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Times New Roman"/>
                <a:cs typeface="Times New Roman"/>
              </a:rPr>
              <a:t>Minimum-mode </a:t>
            </a:r>
            <a:r>
              <a:rPr sz="2000" b="1" dirty="0">
                <a:latin typeface="Times New Roman"/>
                <a:cs typeface="Times New Roman"/>
              </a:rPr>
              <a:t>8086 system </a:t>
            </a:r>
            <a:r>
              <a:rPr sz="2000" b="1" spc="-5" dirty="0">
                <a:latin typeface="Times New Roman"/>
                <a:cs typeface="Times New Roman"/>
              </a:rPr>
              <a:t>I/O</a:t>
            </a:r>
            <a:r>
              <a:rPr sz="2000" b="1" spc="-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interface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482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Isolated </a:t>
            </a:r>
            <a:r>
              <a:rPr spc="-90" dirty="0"/>
              <a:t>Input/Output </a:t>
            </a:r>
            <a:r>
              <a:rPr spc="-55" dirty="0"/>
              <a:t>Interface</a:t>
            </a:r>
            <a:r>
              <a:rPr spc="-615" dirty="0"/>
              <a:t> </a:t>
            </a:r>
            <a:r>
              <a:rPr spc="-9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270" y="2161158"/>
            <a:ext cx="2743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405" dirty="0">
                <a:solidFill>
                  <a:srgbClr val="A42F0F"/>
                </a:solidFill>
                <a:latin typeface="Arial"/>
                <a:cs typeface="Arial"/>
              </a:rPr>
              <a:t>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23870" y="2172224"/>
            <a:ext cx="3546475" cy="3422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200" spc="-25" dirty="0">
                <a:solidFill>
                  <a:srgbClr val="404040"/>
                </a:solidFill>
                <a:latin typeface="Verdana"/>
                <a:cs typeface="Verdana"/>
              </a:rPr>
              <a:t>Maximum-mode</a:t>
            </a:r>
            <a:r>
              <a:rPr sz="2200" spc="-20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Verdana"/>
                <a:cs typeface="Verdana"/>
              </a:rPr>
              <a:t>interface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00375" y="2227262"/>
            <a:ext cx="6191250" cy="4168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98823" y="6335674"/>
            <a:ext cx="46501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Maximum-mode </a:t>
            </a:r>
            <a:r>
              <a:rPr sz="2000" b="1" spc="5" dirty="0">
                <a:latin typeface="Times New Roman"/>
                <a:cs typeface="Times New Roman"/>
              </a:rPr>
              <a:t>8086 </a:t>
            </a:r>
            <a:r>
              <a:rPr sz="2000" b="1" dirty="0">
                <a:latin typeface="Times New Roman"/>
                <a:cs typeface="Times New Roman"/>
              </a:rPr>
              <a:t>system I/O</a:t>
            </a:r>
            <a:r>
              <a:rPr sz="2000" b="1" spc="-1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interface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482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Isolated </a:t>
            </a:r>
            <a:r>
              <a:rPr spc="-90" dirty="0"/>
              <a:t>Input/Output </a:t>
            </a:r>
            <a:r>
              <a:rPr spc="-55" dirty="0"/>
              <a:t>Interface</a:t>
            </a:r>
            <a:r>
              <a:rPr spc="-615" dirty="0"/>
              <a:t> </a:t>
            </a:r>
            <a:r>
              <a:rPr spc="-9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80970" y="2172224"/>
            <a:ext cx="3889375" cy="3422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200" spc="405" dirty="0">
                <a:solidFill>
                  <a:srgbClr val="A42F0F"/>
                </a:solidFill>
                <a:latin typeface="Arial"/>
                <a:cs typeface="Arial"/>
              </a:rPr>
              <a:t> </a:t>
            </a:r>
            <a:r>
              <a:rPr sz="2200" spc="-25" dirty="0">
                <a:solidFill>
                  <a:srgbClr val="404040"/>
                </a:solidFill>
                <a:latin typeface="Verdana"/>
                <a:cs typeface="Verdana"/>
              </a:rPr>
              <a:t>Maximum-mode</a:t>
            </a:r>
            <a:r>
              <a:rPr sz="2200" spc="-43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85" dirty="0">
                <a:solidFill>
                  <a:srgbClr val="404040"/>
                </a:solidFill>
                <a:latin typeface="Verdana"/>
                <a:cs typeface="Verdana"/>
              </a:rPr>
              <a:t>interface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92400" y="2205101"/>
            <a:ext cx="7175500" cy="39607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35448" y="6122314"/>
            <a:ext cx="27882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I/O bus cycle status</a:t>
            </a:r>
            <a:r>
              <a:rPr sz="2000" b="1" spc="-1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codes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375"/>
            <a:ext cx="1591945" cy="507365"/>
          </a:xfrm>
          <a:custGeom>
            <a:avLst/>
            <a:gdLst/>
            <a:ahLst/>
            <a:cxnLst/>
            <a:rect l="l" t="t" r="r" b="b"/>
            <a:pathLst>
              <a:path w="1591945" h="507365">
                <a:moveTo>
                  <a:pt x="105" y="0"/>
                </a:moveTo>
                <a:lnTo>
                  <a:pt x="0" y="503820"/>
                </a:lnTo>
                <a:lnTo>
                  <a:pt x="1245438" y="507238"/>
                </a:lnTo>
                <a:lnTo>
                  <a:pt x="1345692" y="507238"/>
                </a:lnTo>
                <a:lnTo>
                  <a:pt x="1350391" y="502538"/>
                </a:lnTo>
                <a:lnTo>
                  <a:pt x="1351915" y="500888"/>
                </a:lnTo>
                <a:lnTo>
                  <a:pt x="1353820" y="499363"/>
                </a:lnTo>
                <a:lnTo>
                  <a:pt x="1355344" y="497713"/>
                </a:lnTo>
                <a:lnTo>
                  <a:pt x="1584325" y="268859"/>
                </a:lnTo>
                <a:lnTo>
                  <a:pt x="1589611" y="261695"/>
                </a:lnTo>
                <a:lnTo>
                  <a:pt x="1591373" y="254508"/>
                </a:lnTo>
                <a:lnTo>
                  <a:pt x="1589611" y="247320"/>
                </a:lnTo>
                <a:lnTo>
                  <a:pt x="1584325" y="240157"/>
                </a:lnTo>
                <a:lnTo>
                  <a:pt x="1355344" y="11302"/>
                </a:lnTo>
                <a:lnTo>
                  <a:pt x="1350391" y="11302"/>
                </a:lnTo>
                <a:lnTo>
                  <a:pt x="1350391" y="6476"/>
                </a:lnTo>
                <a:lnTo>
                  <a:pt x="1345692" y="6476"/>
                </a:lnTo>
                <a:lnTo>
                  <a:pt x="1340993" y="1777"/>
                </a:lnTo>
                <a:lnTo>
                  <a:pt x="1245438" y="1777"/>
                </a:lnTo>
                <a:lnTo>
                  <a:pt x="105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86785" y="23876"/>
            <a:ext cx="62280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80" dirty="0">
                <a:solidFill>
                  <a:srgbClr val="252525"/>
                </a:solidFill>
              </a:rPr>
              <a:t>Input/Output </a:t>
            </a:r>
            <a:r>
              <a:rPr sz="3200" spc="-290" dirty="0">
                <a:solidFill>
                  <a:srgbClr val="252525"/>
                </a:solidFill>
              </a:rPr>
              <a:t>Bus </a:t>
            </a:r>
            <a:r>
              <a:rPr sz="3200" spc="15" dirty="0">
                <a:solidFill>
                  <a:srgbClr val="252525"/>
                </a:solidFill>
              </a:rPr>
              <a:t>Cycles</a:t>
            </a:r>
            <a:r>
              <a:rPr sz="3200" spc="-340" dirty="0">
                <a:solidFill>
                  <a:srgbClr val="252525"/>
                </a:solidFill>
              </a:rPr>
              <a:t> </a:t>
            </a:r>
            <a:r>
              <a:rPr sz="3200" spc="-75" dirty="0">
                <a:solidFill>
                  <a:srgbClr val="252525"/>
                </a:solidFill>
              </a:rPr>
              <a:t>(cont.)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2680970" y="2172224"/>
            <a:ext cx="3968750" cy="3422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200" spc="405" dirty="0">
                <a:solidFill>
                  <a:srgbClr val="A42F0F"/>
                </a:solidFill>
                <a:latin typeface="Arial"/>
                <a:cs typeface="Arial"/>
              </a:rPr>
              <a:t></a:t>
            </a:r>
            <a:r>
              <a:rPr sz="2200" spc="125" dirty="0">
                <a:solidFill>
                  <a:srgbClr val="A42F0F"/>
                </a:solidFill>
                <a:latin typeface="Arial"/>
                <a:cs typeface="Arial"/>
              </a:rPr>
              <a:t> </a:t>
            </a:r>
            <a:r>
              <a:rPr sz="2200" spc="-114" dirty="0">
                <a:solidFill>
                  <a:srgbClr val="404040"/>
                </a:solidFill>
                <a:latin typeface="Verdana"/>
                <a:cs typeface="Verdana"/>
              </a:rPr>
              <a:t>Input</a:t>
            </a:r>
            <a:r>
              <a:rPr sz="22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80" dirty="0">
                <a:solidFill>
                  <a:srgbClr val="404040"/>
                </a:solidFill>
                <a:latin typeface="Verdana"/>
                <a:cs typeface="Verdana"/>
              </a:rPr>
              <a:t>bus</a:t>
            </a:r>
            <a:r>
              <a:rPr sz="22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70" dirty="0">
                <a:solidFill>
                  <a:srgbClr val="404040"/>
                </a:solidFill>
                <a:latin typeface="Verdana"/>
                <a:cs typeface="Verdana"/>
              </a:rPr>
              <a:t>cycle</a:t>
            </a:r>
            <a:r>
              <a:rPr sz="22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5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22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22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355" dirty="0">
                <a:solidFill>
                  <a:srgbClr val="404040"/>
                </a:solidFill>
                <a:latin typeface="Verdana"/>
                <a:cs typeface="Verdana"/>
              </a:rPr>
              <a:t>8086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69694" y="622960"/>
            <a:ext cx="7983474" cy="60780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14375"/>
            <a:ext cx="1591945" cy="507365"/>
          </a:xfrm>
          <a:custGeom>
            <a:avLst/>
            <a:gdLst/>
            <a:ahLst/>
            <a:cxnLst/>
            <a:rect l="l" t="t" r="r" b="b"/>
            <a:pathLst>
              <a:path w="1591945" h="507365">
                <a:moveTo>
                  <a:pt x="105" y="0"/>
                </a:moveTo>
                <a:lnTo>
                  <a:pt x="0" y="503820"/>
                </a:lnTo>
                <a:lnTo>
                  <a:pt x="1245438" y="507238"/>
                </a:lnTo>
                <a:lnTo>
                  <a:pt x="1345692" y="507238"/>
                </a:lnTo>
                <a:lnTo>
                  <a:pt x="1350391" y="502538"/>
                </a:lnTo>
                <a:lnTo>
                  <a:pt x="1351915" y="500888"/>
                </a:lnTo>
                <a:lnTo>
                  <a:pt x="1353820" y="499363"/>
                </a:lnTo>
                <a:lnTo>
                  <a:pt x="1355344" y="497713"/>
                </a:lnTo>
                <a:lnTo>
                  <a:pt x="1584325" y="268859"/>
                </a:lnTo>
                <a:lnTo>
                  <a:pt x="1589611" y="261695"/>
                </a:lnTo>
                <a:lnTo>
                  <a:pt x="1591373" y="254508"/>
                </a:lnTo>
                <a:lnTo>
                  <a:pt x="1589611" y="247320"/>
                </a:lnTo>
                <a:lnTo>
                  <a:pt x="1584325" y="240157"/>
                </a:lnTo>
                <a:lnTo>
                  <a:pt x="1355344" y="11302"/>
                </a:lnTo>
                <a:lnTo>
                  <a:pt x="1350391" y="11302"/>
                </a:lnTo>
                <a:lnTo>
                  <a:pt x="1350391" y="6476"/>
                </a:lnTo>
                <a:lnTo>
                  <a:pt x="1345692" y="6476"/>
                </a:lnTo>
                <a:lnTo>
                  <a:pt x="1340993" y="1777"/>
                </a:lnTo>
                <a:lnTo>
                  <a:pt x="1245438" y="1777"/>
                </a:lnTo>
                <a:lnTo>
                  <a:pt x="105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73070" y="325627"/>
            <a:ext cx="62280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80" dirty="0">
                <a:solidFill>
                  <a:srgbClr val="252525"/>
                </a:solidFill>
              </a:rPr>
              <a:t>Input/Output </a:t>
            </a:r>
            <a:r>
              <a:rPr sz="3200" spc="-290" dirty="0">
                <a:solidFill>
                  <a:srgbClr val="252525"/>
                </a:solidFill>
              </a:rPr>
              <a:t>Bus </a:t>
            </a:r>
            <a:r>
              <a:rPr sz="3200" spc="15" dirty="0">
                <a:solidFill>
                  <a:srgbClr val="252525"/>
                </a:solidFill>
              </a:rPr>
              <a:t>Cycles</a:t>
            </a:r>
            <a:r>
              <a:rPr sz="3200" spc="-340" dirty="0">
                <a:solidFill>
                  <a:srgbClr val="252525"/>
                </a:solidFill>
              </a:rPr>
              <a:t> </a:t>
            </a:r>
            <a:r>
              <a:rPr sz="3200" spc="-75" dirty="0">
                <a:solidFill>
                  <a:srgbClr val="252525"/>
                </a:solidFill>
              </a:rPr>
              <a:t>(cont.)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2680970" y="2172224"/>
            <a:ext cx="4241800" cy="3422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200" spc="405" dirty="0">
                <a:solidFill>
                  <a:srgbClr val="A42F0F"/>
                </a:solidFill>
                <a:latin typeface="Arial"/>
                <a:cs typeface="Arial"/>
              </a:rPr>
              <a:t></a:t>
            </a:r>
            <a:r>
              <a:rPr sz="2200" spc="125" dirty="0">
                <a:solidFill>
                  <a:srgbClr val="A42F0F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Verdana"/>
                <a:cs typeface="Verdana"/>
              </a:rPr>
              <a:t>Output</a:t>
            </a:r>
            <a:r>
              <a:rPr sz="22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80" dirty="0">
                <a:solidFill>
                  <a:srgbClr val="404040"/>
                </a:solidFill>
                <a:latin typeface="Verdana"/>
                <a:cs typeface="Verdana"/>
              </a:rPr>
              <a:t>bus</a:t>
            </a:r>
            <a:r>
              <a:rPr sz="22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70" dirty="0">
                <a:solidFill>
                  <a:srgbClr val="404040"/>
                </a:solidFill>
                <a:latin typeface="Verdana"/>
                <a:cs typeface="Verdana"/>
              </a:rPr>
              <a:t>cycle</a:t>
            </a:r>
            <a:r>
              <a:rPr sz="22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5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22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22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200" spc="-355" dirty="0">
                <a:solidFill>
                  <a:srgbClr val="404040"/>
                </a:solidFill>
                <a:latin typeface="Verdana"/>
                <a:cs typeface="Verdana"/>
              </a:rPr>
              <a:t>8086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06625" y="865670"/>
            <a:ext cx="8001000" cy="57602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865</Words>
  <Application>Microsoft Office PowerPoint</Application>
  <PresentationFormat>Custom</PresentationFormat>
  <Paragraphs>151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THE 8086 MICROPROCESSORS In Minimum &amp; Maximum mode</vt:lpstr>
      <vt:lpstr>Pin layout of the 8086</vt:lpstr>
      <vt:lpstr>Slide 3</vt:lpstr>
      <vt:lpstr>Minimum mode - READ</vt:lpstr>
      <vt:lpstr>Minimum mode – READ continue…</vt:lpstr>
      <vt:lpstr>Slide 6</vt:lpstr>
      <vt:lpstr>Minimum mode - Write</vt:lpstr>
      <vt:lpstr>Maximum mode 8086 system</vt:lpstr>
      <vt:lpstr>Maximum mode 8086 system continue…</vt:lpstr>
      <vt:lpstr>Maximum mode 8086 system continue…</vt:lpstr>
      <vt:lpstr>Maximum mode continue…</vt:lpstr>
      <vt:lpstr>Maximum-Mode Interface (cont.)</vt:lpstr>
      <vt:lpstr>Memory Control Signals (cont.)</vt:lpstr>
      <vt:lpstr>Slide 14</vt:lpstr>
      <vt:lpstr>Slide 15</vt:lpstr>
      <vt:lpstr>Isolated Input/Output Interface</vt:lpstr>
      <vt:lpstr>Isolated Input/Output Interface (cont.)</vt:lpstr>
      <vt:lpstr>Isolated Input/Output Interface (cont.)</vt:lpstr>
      <vt:lpstr>Input/Output Bus Cycles (cont.)</vt:lpstr>
      <vt:lpstr>Input/Output Bus Cycles (cont.)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8086 MICROPROCESSORS  In Minimum &amp; Maximum mode</dc:title>
  <dc:creator>Sushant</dc:creator>
  <cp:lastModifiedBy>DIU</cp:lastModifiedBy>
  <cp:revision>1</cp:revision>
  <dcterms:created xsi:type="dcterms:W3CDTF">2018-02-12T03:53:45Z</dcterms:created>
  <dcterms:modified xsi:type="dcterms:W3CDTF">2018-02-12T04:47:55Z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2014-11-25T00:00:00Z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2018-02-12T00:00:00Z</vt:filetime>
  </property>
</Properties>
</file>