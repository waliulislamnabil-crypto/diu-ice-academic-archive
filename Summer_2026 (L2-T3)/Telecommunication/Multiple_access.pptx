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9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2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3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2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3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8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2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4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7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6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1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B429B-E052-4D42-9229-503378E7D22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FED7D-F5B3-4CD4-A171-7A95A1F1B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7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135" y="2504069"/>
            <a:ext cx="5941359" cy="13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3987" y="485392"/>
            <a:ext cx="115170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A0A0A"/>
                </a:solidFill>
                <a:effectLst/>
                <a:latin typeface="Google Sans"/>
              </a:rPr>
              <a:t>Difference Between </a:t>
            </a:r>
            <a:r>
              <a:rPr lang="en-US" b="1" i="0" dirty="0" smtClean="0">
                <a:solidFill>
                  <a:srgbClr val="0A0A0A"/>
                </a:solidFill>
                <a:effectLst/>
                <a:latin typeface="Google Sans"/>
              </a:rPr>
              <a:t>Multiplexing &amp; Multiple access:</a:t>
            </a:r>
            <a:r>
              <a:rPr lang="en-US" b="0" i="0" dirty="0" smtClean="0">
                <a:solidFill>
                  <a:srgbClr val="0A0A0A"/>
                </a:solidFill>
                <a:effectLst/>
                <a:latin typeface="Google Sans"/>
              </a:rPr>
              <a:t/>
            </a:r>
            <a:br>
              <a:rPr lang="en-US" b="0" i="0" dirty="0" smtClean="0">
                <a:solidFill>
                  <a:srgbClr val="0A0A0A"/>
                </a:solidFill>
                <a:effectLst/>
                <a:latin typeface="Google Sans"/>
              </a:rPr>
            </a:br>
            <a:endParaRPr lang="en-US" b="0" i="0" dirty="0" smtClean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en-US" b="0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combines </a:t>
            </a:r>
            <a:r>
              <a:rPr lang="en-US" b="1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signals </a:t>
            </a:r>
            <a:r>
              <a:rPr lang="en-US" b="0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b="0" i="0" u="sng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source </a:t>
            </a:r>
            <a:r>
              <a:rPr lang="en-US" b="0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 a single channel, while multiple access allows </a:t>
            </a:r>
            <a:r>
              <a:rPr lang="en-US" b="1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several users </a:t>
            </a:r>
            <a:r>
              <a:rPr lang="en-US" b="0" i="0" dirty="0" smtClean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share a single channel.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3987" y="2157104"/>
            <a:ext cx="4959533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1. Multiplexing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Goal:</a:t>
            </a:r>
            <a:r>
              <a:rPr lang="en-US" dirty="0" smtClean="0"/>
              <a:t> Combine </a:t>
            </a:r>
            <a:r>
              <a:rPr lang="en-US" b="1" dirty="0" smtClean="0"/>
              <a:t>multiple signals</a:t>
            </a:r>
            <a:r>
              <a:rPr lang="en-US" dirty="0" smtClean="0"/>
              <a:t> → send through </a:t>
            </a:r>
            <a:r>
              <a:rPr lang="en-US" b="1" dirty="0" smtClean="0"/>
              <a:t>one channel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Used in:</a:t>
            </a:r>
            <a:r>
              <a:rPr lang="en-US" dirty="0" smtClean="0"/>
              <a:t> Communication </a:t>
            </a:r>
            <a:r>
              <a:rPr lang="en-US" b="1" dirty="0" smtClean="0"/>
              <a:t>between two points</a:t>
            </a:r>
            <a:r>
              <a:rPr lang="en-US" dirty="0" smtClean="0"/>
              <a:t> (point-to-point).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Focus:</a:t>
            </a:r>
            <a:r>
              <a:rPr lang="en-US" dirty="0" smtClean="0"/>
              <a:t> Efficient use of </a:t>
            </a:r>
            <a:r>
              <a:rPr lang="en-US" b="1" dirty="0" smtClean="0"/>
              <a:t>channel bandwidth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Examples: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TDM</a:t>
            </a:r>
            <a:r>
              <a:rPr lang="en-US" dirty="0" smtClean="0"/>
              <a:t> (Time Division Multiplexing)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FDM</a:t>
            </a:r>
            <a:r>
              <a:rPr lang="en-US" dirty="0" smtClean="0"/>
              <a:t> (Frequency Division Multiplexing)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WDM</a:t>
            </a:r>
            <a:r>
              <a:rPr lang="en-US" dirty="0" smtClean="0"/>
              <a:t> (Wavelength Division Multiplexing)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Analogy: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Like several TV channels sharing one cable using different frequencies.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47360" y="2157104"/>
            <a:ext cx="6096000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/>
              <a:t>2. Multiple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Goal:</a:t>
            </a:r>
            <a:r>
              <a:rPr lang="en-US" dirty="0" smtClean="0"/>
              <a:t> Allow </a:t>
            </a:r>
            <a:r>
              <a:rPr lang="en-US" b="1" dirty="0" smtClean="0"/>
              <a:t>multiple users</a:t>
            </a:r>
            <a:r>
              <a:rPr lang="en-US" dirty="0" smtClean="0"/>
              <a:t> to access the same medium </a:t>
            </a:r>
            <a:r>
              <a:rPr lang="en-US" b="1" dirty="0" smtClean="0"/>
              <a:t>at the same time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Used in:</a:t>
            </a:r>
            <a:r>
              <a:rPr lang="en-US" dirty="0" smtClean="0"/>
              <a:t> Communication in </a:t>
            </a:r>
            <a:r>
              <a:rPr lang="en-US" b="1" dirty="0" smtClean="0"/>
              <a:t>networks</a:t>
            </a:r>
            <a:r>
              <a:rPr lang="en-US" dirty="0" smtClean="0"/>
              <a:t>, where many users share the channel.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Focus:</a:t>
            </a:r>
            <a:r>
              <a:rPr lang="en-US" dirty="0" smtClean="0"/>
              <a:t> Efficient sharing of </a:t>
            </a:r>
            <a:r>
              <a:rPr lang="en-US" b="1" dirty="0" smtClean="0"/>
              <a:t>a common medium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Examples: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TDMA</a:t>
            </a:r>
            <a:r>
              <a:rPr lang="en-US" dirty="0" smtClean="0"/>
              <a:t> (Time Division Multiple Access)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FDMA</a:t>
            </a:r>
            <a:r>
              <a:rPr lang="en-US" dirty="0" smtClean="0"/>
              <a:t> (Frequency Division Multiple Access)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CDMA</a:t>
            </a:r>
            <a:r>
              <a:rPr lang="en-US" dirty="0" smtClean="0"/>
              <a:t> (Code Division Multiple Access)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OFDMA</a:t>
            </a:r>
            <a:r>
              <a:rPr lang="en-US" dirty="0" smtClean="0"/>
              <a:t> (Orthogonal Frequency Division Multiple Access)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Analogy: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Many people speaking through different “slots” or “codes” on the same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05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57" y="1184737"/>
            <a:ext cx="8447245" cy="42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5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7" y="422120"/>
            <a:ext cx="9273375" cy="596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8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17" y="1211436"/>
            <a:ext cx="8530660" cy="436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43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43" y="1236988"/>
            <a:ext cx="9728889" cy="474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6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50" y="342230"/>
            <a:ext cx="9423630" cy="597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7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5" y="183743"/>
            <a:ext cx="6008968" cy="2624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35" y="2808068"/>
            <a:ext cx="7587041" cy="34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90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1" y="774451"/>
            <a:ext cx="10467874" cy="533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7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83" y="558150"/>
            <a:ext cx="9828309" cy="535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2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64" y="861128"/>
            <a:ext cx="9272293" cy="50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4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27" y="890791"/>
            <a:ext cx="9838759" cy="521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64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48" y="346198"/>
            <a:ext cx="9905299" cy="61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04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1816" y="1243038"/>
            <a:ext cx="96752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Explain the OSI and TCP/IP reference models in detail. Discuss the functions of each layer, comparing how they handle data communication.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1815" y="2340318"/>
            <a:ext cx="98711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Describe how different networking devices—hub, switch, repeater, bridge, router, and gateway—operate at various layers of these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1815" y="586676"/>
            <a:ext cx="3052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More Questions: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78093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190</Words>
  <Application>Microsoft Office PowerPoint</Application>
  <PresentationFormat>Widescreen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2025-11-30T03:37:21Z</dcterms:created>
  <dcterms:modified xsi:type="dcterms:W3CDTF">2025-11-30T03:56:29Z</dcterms:modified>
</cp:coreProperties>
</file>