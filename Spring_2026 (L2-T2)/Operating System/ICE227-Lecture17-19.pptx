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10/11/2023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Operating Systems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Md. Azizul Hakim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0505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7:  Deadlocks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SzPct val="85000"/>
            </a:pPr>
            <a:r>
              <a:rPr lang="en-US" altLang="en-US" smtClean="0"/>
              <a:t>The Deadlock Problem</a:t>
            </a:r>
          </a:p>
          <a:p>
            <a:pPr>
              <a:buSzPct val="85000"/>
            </a:pPr>
            <a:r>
              <a:rPr lang="en-US" altLang="en-US" smtClean="0"/>
              <a:t>System Model</a:t>
            </a:r>
          </a:p>
          <a:p>
            <a:pPr>
              <a:buSzPct val="85000"/>
            </a:pPr>
            <a:r>
              <a:rPr lang="en-US" altLang="en-US" smtClean="0"/>
              <a:t>Deadlock Characterization</a:t>
            </a:r>
          </a:p>
          <a:p>
            <a:pPr>
              <a:buSzPct val="85000"/>
            </a:pPr>
            <a:r>
              <a:rPr lang="en-US" altLang="en-US" smtClean="0"/>
              <a:t>Methods for Handling Deadlocks</a:t>
            </a:r>
          </a:p>
          <a:p>
            <a:r>
              <a:rPr lang="en-US" altLang="en-US" smtClean="0"/>
              <a:t>Deadlock Prevention</a:t>
            </a:r>
          </a:p>
          <a:p>
            <a:pPr>
              <a:buSzPct val="85000"/>
            </a:pPr>
            <a:r>
              <a:rPr lang="en-US" altLang="en-US" smtClean="0"/>
              <a:t>Deadlock Avoidance</a:t>
            </a:r>
          </a:p>
          <a:p>
            <a:pPr>
              <a:buSzPct val="85000"/>
            </a:pPr>
            <a:r>
              <a:rPr lang="en-US" altLang="en-US" smtClean="0"/>
              <a:t>Deadlock Detection </a:t>
            </a:r>
          </a:p>
          <a:p>
            <a:pPr>
              <a:buSzPct val="85000"/>
            </a:pPr>
            <a:r>
              <a:rPr lang="en-US" altLang="en-US" smtClean="0"/>
              <a:t>Recovery from Deadlock </a:t>
            </a:r>
          </a:p>
        </p:txBody>
      </p:sp>
    </p:spTree>
    <p:extLst>
      <p:ext uri="{BB962C8B-B14F-4D97-AF65-F5344CB8AC3E}">
        <p14:creationId xmlns:p14="http://schemas.microsoft.com/office/powerpoint/2010/main" val="4146589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Objectives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26705" y="2405062"/>
            <a:ext cx="6256337" cy="4452938"/>
          </a:xfrm>
        </p:spPr>
        <p:txBody>
          <a:bodyPr/>
          <a:lstStyle/>
          <a:p>
            <a:r>
              <a:rPr lang="en-US" altLang="en-US" dirty="0" smtClean="0"/>
              <a:t>To develop a description of deadlocks, which prevent sets of concurrent processes from completing their tasks</a:t>
            </a:r>
          </a:p>
          <a:p>
            <a:r>
              <a:rPr lang="en-US" altLang="en-US" dirty="0" smtClean="0"/>
              <a:t>To present a number of different methods for preventing or avoiding deadlocks in a computer system.</a:t>
            </a:r>
          </a:p>
          <a:p>
            <a:pPr>
              <a:buSzPct val="85000"/>
              <a:buFont typeface="Monotype Sorts" pitchFamily="-84" charset="2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216910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2" y="689524"/>
            <a:ext cx="9601196" cy="1303867"/>
          </a:xfrm>
        </p:spPr>
        <p:txBody>
          <a:bodyPr/>
          <a:lstStyle/>
          <a:p>
            <a:pPr>
              <a:defRPr/>
            </a:pPr>
            <a:r>
              <a:rPr lang="en-US" dirty="0"/>
              <a:t>The Deadlock Problem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2" y="1993391"/>
            <a:ext cx="10128502" cy="4398963"/>
          </a:xfrm>
        </p:spPr>
        <p:txBody>
          <a:bodyPr>
            <a:normAutofit lnSpcReduction="10000"/>
          </a:bodyPr>
          <a:lstStyle/>
          <a:p>
            <a:r>
              <a:rPr lang="en-US" altLang="en-US" dirty="0" smtClean="0"/>
              <a:t>A set of blocked processes each holding a resource and waiting to acquire a resource held by another process in the set.</a:t>
            </a:r>
          </a:p>
          <a:p>
            <a:pPr>
              <a:buSzPct val="85000"/>
            </a:pPr>
            <a:r>
              <a:rPr lang="en-US" altLang="en-US" dirty="0" smtClean="0"/>
              <a:t>Example </a:t>
            </a:r>
          </a:p>
          <a:p>
            <a:pPr lvl="1"/>
            <a:r>
              <a:rPr lang="en-US" altLang="en-US" dirty="0" smtClean="0"/>
              <a:t>System has 2 disk drives.</a:t>
            </a:r>
          </a:p>
          <a:p>
            <a:pPr lvl="1"/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 each hold one disk drive and each needs another one.</a:t>
            </a:r>
          </a:p>
          <a:p>
            <a:pPr>
              <a:buSzPct val="85000"/>
            </a:pPr>
            <a:r>
              <a:rPr lang="en-US" altLang="en-US" dirty="0" smtClean="0"/>
              <a:t>Example </a:t>
            </a:r>
          </a:p>
          <a:p>
            <a:pPr lvl="1"/>
            <a:r>
              <a:rPr lang="en-US" altLang="en-US" dirty="0" smtClean="0"/>
              <a:t>semaphores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 and</a:t>
            </a:r>
            <a:r>
              <a:rPr lang="en-US" altLang="en-US" i="1" dirty="0" smtClean="0"/>
              <a:t> B</a:t>
            </a:r>
            <a:r>
              <a:rPr lang="en-US" altLang="en-US" dirty="0" smtClean="0"/>
              <a:t>, initialized to 1</a:t>
            </a:r>
            <a:endParaRPr lang="en-US" altLang="en-US" sz="2800" dirty="0"/>
          </a:p>
          <a:p>
            <a:pPr lvl="4">
              <a:buFontTx/>
              <a:buNone/>
            </a:pPr>
            <a:r>
              <a:rPr lang="en-US" altLang="en-US" sz="2800" dirty="0"/>
              <a:t>   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		  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endParaRPr lang="en-US" altLang="en-US" dirty="0" smtClean="0"/>
          </a:p>
          <a:p>
            <a:pPr lvl="4">
              <a:buFontTx/>
              <a:buNone/>
            </a:pPr>
            <a:r>
              <a:rPr lang="en-US" altLang="en-US" dirty="0" smtClean="0">
                <a:solidFill>
                  <a:srgbClr val="0000FF"/>
                </a:solidFill>
              </a:rPr>
              <a:t>wait (A);		wait(B)</a:t>
            </a:r>
          </a:p>
          <a:p>
            <a:pPr lvl="4">
              <a:buFontTx/>
              <a:buNone/>
            </a:pPr>
            <a:r>
              <a:rPr lang="en-US" altLang="en-US" dirty="0" smtClean="0">
                <a:solidFill>
                  <a:srgbClr val="0000FF"/>
                </a:solidFill>
              </a:rPr>
              <a:t>wait (B);		wait(A)</a:t>
            </a:r>
          </a:p>
          <a:p>
            <a:pPr lvl="1"/>
            <a:endParaRPr lang="en-US" altLang="en-US" dirty="0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781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367412" y="578379"/>
            <a:ext cx="9601196" cy="1303867"/>
          </a:xfrm>
        </p:spPr>
        <p:txBody>
          <a:bodyPr/>
          <a:lstStyle/>
          <a:p>
            <a:pPr>
              <a:defRPr/>
            </a:pPr>
            <a:r>
              <a:rPr lang="en-US" dirty="0"/>
              <a:t>Bridge Crossing Example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6713" y="3341688"/>
            <a:ext cx="6584950" cy="259080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mtClean="0"/>
              <a:t>Traffic only in one direction.</a:t>
            </a:r>
          </a:p>
          <a:p>
            <a:r>
              <a:rPr lang="en-US" altLang="en-US" smtClean="0"/>
              <a:t>Each section of a bridge can be viewed as a resource.</a:t>
            </a:r>
          </a:p>
          <a:p>
            <a:r>
              <a:rPr lang="en-US" altLang="en-US" smtClean="0"/>
              <a:t>If a deadlock occurs, it can be resolved if one car backs up (preempt resources and rollback).</a:t>
            </a:r>
          </a:p>
          <a:p>
            <a:r>
              <a:rPr lang="en-US" altLang="en-US" smtClean="0"/>
              <a:t>Several cars may have to be backed up if a deadlock occurs.</a:t>
            </a:r>
          </a:p>
          <a:p>
            <a:r>
              <a:rPr lang="en-US" altLang="en-US" smtClean="0"/>
              <a:t>Starvation is possible.</a:t>
            </a:r>
          </a:p>
        </p:txBody>
      </p:sp>
      <p:grpSp>
        <p:nvGrpSpPr>
          <p:cNvPr id="9220" name="Group 35"/>
          <p:cNvGrpSpPr>
            <a:grpSpLocks/>
          </p:cNvGrpSpPr>
          <p:nvPr/>
        </p:nvGrpSpPr>
        <p:grpSpPr bwMode="auto">
          <a:xfrm>
            <a:off x="2815210" y="1783080"/>
            <a:ext cx="6276975" cy="1371600"/>
            <a:chOff x="798" y="1008"/>
            <a:chExt cx="3954" cy="864"/>
          </a:xfrm>
        </p:grpSpPr>
        <p:grpSp>
          <p:nvGrpSpPr>
            <p:cNvPr id="9221" name="Group 11"/>
            <p:cNvGrpSpPr>
              <a:grpSpLocks/>
            </p:cNvGrpSpPr>
            <p:nvPr/>
          </p:nvGrpSpPr>
          <p:grpSpPr bwMode="auto">
            <a:xfrm>
              <a:off x="816" y="1008"/>
              <a:ext cx="3936" cy="240"/>
              <a:chOff x="672" y="1008"/>
              <a:chExt cx="3936" cy="240"/>
            </a:xfrm>
          </p:grpSpPr>
          <p:sp>
            <p:nvSpPr>
              <p:cNvPr id="9245" name="Line 6"/>
              <p:cNvSpPr>
                <a:spLocks noChangeShapeType="1"/>
              </p:cNvSpPr>
              <p:nvPr/>
            </p:nvSpPr>
            <p:spPr bwMode="auto">
              <a:xfrm>
                <a:off x="672" y="100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246" name="Line 7"/>
              <p:cNvSpPr>
                <a:spLocks noChangeShapeType="1"/>
              </p:cNvSpPr>
              <p:nvPr/>
            </p:nvSpPr>
            <p:spPr bwMode="auto">
              <a:xfrm>
                <a:off x="1824" y="1008"/>
                <a:ext cx="384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247" name="Line 8"/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248" name="Line 9"/>
              <p:cNvSpPr>
                <a:spLocks noChangeShapeType="1"/>
              </p:cNvSpPr>
              <p:nvPr/>
            </p:nvSpPr>
            <p:spPr bwMode="auto">
              <a:xfrm flipV="1">
                <a:off x="3072" y="1026"/>
                <a:ext cx="384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249" name="Line 10"/>
              <p:cNvSpPr>
                <a:spLocks noChangeShapeType="1"/>
              </p:cNvSpPr>
              <p:nvPr/>
            </p:nvSpPr>
            <p:spPr bwMode="auto">
              <a:xfrm>
                <a:off x="3456" y="1020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9222" name="Group 12"/>
            <p:cNvGrpSpPr>
              <a:grpSpLocks/>
            </p:cNvGrpSpPr>
            <p:nvPr/>
          </p:nvGrpSpPr>
          <p:grpSpPr bwMode="auto">
            <a:xfrm flipV="1">
              <a:off x="816" y="1632"/>
              <a:ext cx="3936" cy="240"/>
              <a:chOff x="672" y="1008"/>
              <a:chExt cx="3936" cy="240"/>
            </a:xfrm>
          </p:grpSpPr>
          <p:sp>
            <p:nvSpPr>
              <p:cNvPr id="9240" name="Line 13"/>
              <p:cNvSpPr>
                <a:spLocks noChangeShapeType="1"/>
              </p:cNvSpPr>
              <p:nvPr/>
            </p:nvSpPr>
            <p:spPr bwMode="auto">
              <a:xfrm>
                <a:off x="672" y="1008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241" name="Line 14"/>
              <p:cNvSpPr>
                <a:spLocks noChangeShapeType="1"/>
              </p:cNvSpPr>
              <p:nvPr/>
            </p:nvSpPr>
            <p:spPr bwMode="auto">
              <a:xfrm>
                <a:off x="1824" y="1008"/>
                <a:ext cx="384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242" name="Line 15"/>
              <p:cNvSpPr>
                <a:spLocks noChangeShapeType="1"/>
              </p:cNvSpPr>
              <p:nvPr/>
            </p:nvSpPr>
            <p:spPr bwMode="auto">
              <a:xfrm>
                <a:off x="2208" y="1248"/>
                <a:ext cx="86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243" name="Line 16"/>
              <p:cNvSpPr>
                <a:spLocks noChangeShapeType="1"/>
              </p:cNvSpPr>
              <p:nvPr/>
            </p:nvSpPr>
            <p:spPr bwMode="auto">
              <a:xfrm flipV="1">
                <a:off x="3072" y="1026"/>
                <a:ext cx="384" cy="2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  <p:sp>
            <p:nvSpPr>
              <p:cNvPr id="9244" name="Line 17"/>
              <p:cNvSpPr>
                <a:spLocks noChangeShapeType="1"/>
              </p:cNvSpPr>
              <p:nvPr/>
            </p:nvSpPr>
            <p:spPr bwMode="auto">
              <a:xfrm>
                <a:off x="3456" y="1020"/>
                <a:ext cx="115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GB"/>
              </a:p>
            </p:txBody>
          </p:sp>
        </p:grpSp>
        <p:grpSp>
          <p:nvGrpSpPr>
            <p:cNvPr id="9223" name="Group 22"/>
            <p:cNvGrpSpPr>
              <a:grpSpLocks/>
            </p:cNvGrpSpPr>
            <p:nvPr/>
          </p:nvGrpSpPr>
          <p:grpSpPr bwMode="auto">
            <a:xfrm>
              <a:off x="1512" y="1614"/>
              <a:ext cx="288" cy="162"/>
              <a:chOff x="1056" y="1614"/>
              <a:chExt cx="288" cy="162"/>
            </a:xfrm>
          </p:grpSpPr>
          <p:sp>
            <p:nvSpPr>
              <p:cNvPr id="9238" name="Rectangle 18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pitchFamily="-84" charset="2"/>
                  <a:buChar char="n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pitchFamily="-84" charset="2"/>
                  <a:buChar char="l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/>
              </a:p>
            </p:txBody>
          </p:sp>
          <p:sp>
            <p:nvSpPr>
              <p:cNvPr id="9239" name="Rectangle 19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pitchFamily="-84" charset="2"/>
                  <a:buChar char="n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pitchFamily="-84" charset="2"/>
                  <a:buChar char="l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/>
              </a:p>
            </p:txBody>
          </p:sp>
        </p:grpSp>
        <p:sp>
          <p:nvSpPr>
            <p:cNvPr id="9224" name="Line 20"/>
            <p:cNvSpPr>
              <a:spLocks noChangeShapeType="1"/>
            </p:cNvSpPr>
            <p:nvPr/>
          </p:nvSpPr>
          <p:spPr bwMode="auto">
            <a:xfrm>
              <a:off x="798" y="1428"/>
              <a:ext cx="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9225" name="Line 21"/>
            <p:cNvSpPr>
              <a:spLocks noChangeShapeType="1"/>
            </p:cNvSpPr>
            <p:nvPr/>
          </p:nvSpPr>
          <p:spPr bwMode="auto">
            <a:xfrm>
              <a:off x="3444" y="1422"/>
              <a:ext cx="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grpSp>
          <p:nvGrpSpPr>
            <p:cNvPr id="9226" name="Group 23"/>
            <p:cNvGrpSpPr>
              <a:grpSpLocks/>
            </p:cNvGrpSpPr>
            <p:nvPr/>
          </p:nvGrpSpPr>
          <p:grpSpPr bwMode="auto">
            <a:xfrm>
              <a:off x="2382" y="1344"/>
              <a:ext cx="288" cy="162"/>
              <a:chOff x="1056" y="1614"/>
              <a:chExt cx="288" cy="162"/>
            </a:xfrm>
          </p:grpSpPr>
          <p:sp>
            <p:nvSpPr>
              <p:cNvPr id="9236" name="Rectangle 24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pitchFamily="-84" charset="2"/>
                  <a:buChar char="n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pitchFamily="-84" charset="2"/>
                  <a:buChar char="l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/>
              </a:p>
            </p:txBody>
          </p:sp>
          <p:sp>
            <p:nvSpPr>
              <p:cNvPr id="9237" name="Rectangle 25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pitchFamily="-84" charset="2"/>
                  <a:buChar char="n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pitchFamily="-84" charset="2"/>
                  <a:buChar char="l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/>
              </a:p>
            </p:txBody>
          </p:sp>
        </p:grpSp>
        <p:grpSp>
          <p:nvGrpSpPr>
            <p:cNvPr id="9227" name="Group 26"/>
            <p:cNvGrpSpPr>
              <a:grpSpLocks/>
            </p:cNvGrpSpPr>
            <p:nvPr/>
          </p:nvGrpSpPr>
          <p:grpSpPr bwMode="auto">
            <a:xfrm flipH="1">
              <a:off x="2838" y="1344"/>
              <a:ext cx="288" cy="162"/>
              <a:chOff x="1056" y="1614"/>
              <a:chExt cx="288" cy="162"/>
            </a:xfrm>
          </p:grpSpPr>
          <p:sp>
            <p:nvSpPr>
              <p:cNvPr id="9234" name="Rectangle 27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pitchFamily="-84" charset="2"/>
                  <a:buChar char="n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pitchFamily="-84" charset="2"/>
                  <a:buChar char="l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/>
              </a:p>
            </p:txBody>
          </p:sp>
          <p:sp>
            <p:nvSpPr>
              <p:cNvPr id="9235" name="Rectangle 28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pitchFamily="-84" charset="2"/>
                  <a:buChar char="n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pitchFamily="-84" charset="2"/>
                  <a:buChar char="l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/>
              </a:p>
            </p:txBody>
          </p:sp>
        </p:grpSp>
        <p:grpSp>
          <p:nvGrpSpPr>
            <p:cNvPr id="9228" name="Group 29"/>
            <p:cNvGrpSpPr>
              <a:grpSpLocks/>
            </p:cNvGrpSpPr>
            <p:nvPr/>
          </p:nvGrpSpPr>
          <p:grpSpPr bwMode="auto">
            <a:xfrm flipH="1">
              <a:off x="3822" y="1140"/>
              <a:ext cx="288" cy="162"/>
              <a:chOff x="1056" y="1614"/>
              <a:chExt cx="288" cy="162"/>
            </a:xfrm>
          </p:grpSpPr>
          <p:sp>
            <p:nvSpPr>
              <p:cNvPr id="9232" name="Rectangle 30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pitchFamily="-84" charset="2"/>
                  <a:buChar char="n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pitchFamily="-84" charset="2"/>
                  <a:buChar char="l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/>
              </a:p>
            </p:txBody>
          </p:sp>
          <p:sp>
            <p:nvSpPr>
              <p:cNvPr id="9233" name="Rectangle 31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pitchFamily="-84" charset="2"/>
                  <a:buChar char="n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pitchFamily="-84" charset="2"/>
                  <a:buChar char="l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/>
              </a:p>
            </p:txBody>
          </p:sp>
        </p:grpSp>
        <p:grpSp>
          <p:nvGrpSpPr>
            <p:cNvPr id="9229" name="Group 32"/>
            <p:cNvGrpSpPr>
              <a:grpSpLocks/>
            </p:cNvGrpSpPr>
            <p:nvPr/>
          </p:nvGrpSpPr>
          <p:grpSpPr bwMode="auto">
            <a:xfrm flipH="1">
              <a:off x="4248" y="1140"/>
              <a:ext cx="288" cy="162"/>
              <a:chOff x="1056" y="1614"/>
              <a:chExt cx="288" cy="162"/>
            </a:xfrm>
          </p:grpSpPr>
          <p:sp>
            <p:nvSpPr>
              <p:cNvPr id="9230" name="Rectangle 33"/>
              <p:cNvSpPr>
                <a:spLocks noChangeArrowheads="1"/>
              </p:cNvSpPr>
              <p:nvPr/>
            </p:nvSpPr>
            <p:spPr bwMode="auto">
              <a:xfrm>
                <a:off x="1056" y="1614"/>
                <a:ext cx="288" cy="16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pitchFamily="-84" charset="2"/>
                  <a:buChar char="n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pitchFamily="-84" charset="2"/>
                  <a:buChar char="l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/>
              </a:p>
            </p:txBody>
          </p:sp>
          <p:sp>
            <p:nvSpPr>
              <p:cNvPr id="9231" name="Rectangle 34"/>
              <p:cNvSpPr>
                <a:spLocks noChangeArrowheads="1"/>
              </p:cNvSpPr>
              <p:nvPr/>
            </p:nvSpPr>
            <p:spPr bwMode="auto">
              <a:xfrm>
                <a:off x="1206" y="1638"/>
                <a:ext cx="66" cy="114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35000"/>
                  </a:spcBef>
                  <a:buClr>
                    <a:srgbClr val="993300"/>
                  </a:buClr>
                  <a:buSzPct val="90000"/>
                  <a:buFont typeface="Monotype Sorts" pitchFamily="-84" charset="2"/>
                  <a:buChar char="n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1pPr>
                <a:lvl2pPr marL="742950" indent="-285750">
                  <a:spcBef>
                    <a:spcPct val="35000"/>
                  </a:spcBef>
                  <a:buClr>
                    <a:srgbClr val="CC6600"/>
                  </a:buClr>
                  <a:buSzPct val="80000"/>
                  <a:buFont typeface="Monotype Sorts" pitchFamily="-84" charset="2"/>
                  <a:buChar char="l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2pPr>
                <a:lvl3pPr marL="1143000" indent="-228600">
                  <a:spcBef>
                    <a:spcPct val="35000"/>
                  </a:spcBef>
                  <a:buClr>
                    <a:srgbClr val="009900"/>
                  </a:buClr>
                  <a:buSzPct val="75000"/>
                  <a:buFont typeface="Webdings" panose="05030102010509060703" pitchFamily="18" charset="2"/>
                  <a:buChar char="4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3pPr>
                <a:lvl4pPr marL="1600200" indent="-228600">
                  <a:spcBef>
                    <a:spcPct val="35000"/>
                  </a:spcBef>
                  <a:buClr>
                    <a:schemeClr val="hlink"/>
                  </a:buClr>
                  <a:buSzPct val="75000"/>
                  <a:buChar char="–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4pPr>
                <a:lvl5pPr marL="2057400" indent="-228600">
                  <a:spcBef>
                    <a:spcPct val="35000"/>
                  </a:spcBef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35000"/>
                  </a:spcBef>
                  <a:spcAft>
                    <a:spcPct val="0"/>
                  </a:spcAft>
                  <a:buClr>
                    <a:srgbClr val="FF0066"/>
                  </a:buClr>
                  <a:buSzPct val="75000"/>
                  <a:buChar char="»"/>
                  <a:defRPr kumimoji="1">
                    <a:solidFill>
                      <a:schemeClr val="tx1"/>
                    </a:solidFill>
                    <a:latin typeface="Helvetica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kumimoji="0" lang="en-US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0783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System Model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65744" y="2374900"/>
            <a:ext cx="7351712" cy="4483100"/>
          </a:xfrm>
        </p:spPr>
        <p:txBody>
          <a:bodyPr/>
          <a:lstStyle/>
          <a:p>
            <a:r>
              <a:rPr lang="en-US" altLang="en-US" dirty="0" smtClean="0"/>
              <a:t>Resource types </a:t>
            </a:r>
            <a:r>
              <a:rPr lang="en-US" altLang="en-US" i="1" dirty="0" smtClean="0"/>
              <a:t>R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R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 . . ., </a:t>
            </a:r>
            <a:r>
              <a:rPr lang="en-US" altLang="en-US" i="1" dirty="0" smtClean="0"/>
              <a:t>R</a:t>
            </a:r>
            <a:r>
              <a:rPr lang="en-US" altLang="en-US" baseline="-25000" dirty="0" smtClean="0"/>
              <a:t>m</a:t>
            </a:r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i="1" dirty="0" smtClean="0"/>
              <a:t>CPU cycles, memory space, I/O devices</a:t>
            </a:r>
          </a:p>
          <a:p>
            <a:r>
              <a:rPr lang="en-US" altLang="en-US" dirty="0" smtClean="0"/>
              <a:t>Each resource type </a:t>
            </a:r>
            <a:r>
              <a:rPr lang="en-US" altLang="en-US" i="1" dirty="0" err="1" smtClean="0"/>
              <a:t>R</a:t>
            </a:r>
            <a:r>
              <a:rPr lang="en-US" altLang="en-US" baseline="-25000" dirty="0" err="1" smtClean="0"/>
              <a:t>i</a:t>
            </a:r>
            <a:r>
              <a:rPr lang="en-US" altLang="en-US" dirty="0" smtClean="0"/>
              <a:t> has </a:t>
            </a:r>
            <a:r>
              <a:rPr lang="en-US" altLang="en-US" i="1" dirty="0" smtClean="0"/>
              <a:t>W</a:t>
            </a:r>
            <a:r>
              <a:rPr lang="en-US" altLang="en-US" baseline="-25000" dirty="0" smtClean="0"/>
              <a:t>i</a:t>
            </a:r>
            <a:r>
              <a:rPr lang="en-US" altLang="en-US" dirty="0" smtClean="0"/>
              <a:t> instances.</a:t>
            </a:r>
          </a:p>
          <a:p>
            <a:r>
              <a:rPr lang="en-US" altLang="en-US" dirty="0" smtClean="0"/>
              <a:t>Each process utilizes a resource as follows:</a:t>
            </a:r>
          </a:p>
          <a:p>
            <a:pPr lvl="1"/>
            <a:r>
              <a:rPr lang="en-US" altLang="en-US" dirty="0" smtClean="0"/>
              <a:t>request </a:t>
            </a:r>
          </a:p>
          <a:p>
            <a:pPr lvl="1"/>
            <a:r>
              <a:rPr lang="en-US" altLang="en-US" dirty="0" smtClean="0"/>
              <a:t>use </a:t>
            </a:r>
          </a:p>
          <a:p>
            <a:pPr lvl="1"/>
            <a:r>
              <a:rPr lang="en-US" altLang="en-US" dirty="0" smtClean="0"/>
              <a:t>release</a:t>
            </a:r>
          </a:p>
        </p:txBody>
      </p:sp>
    </p:spTree>
    <p:extLst>
      <p:ext uri="{BB962C8B-B14F-4D97-AF65-F5344CB8AC3E}">
        <p14:creationId xmlns:p14="http://schemas.microsoft.com/office/powerpoint/2010/main" val="242751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Deadlock Characterization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29512" y="2461769"/>
            <a:ext cx="10067544" cy="4017963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b="1" dirty="0" smtClean="0"/>
              <a:t>Mutual exclusion:</a:t>
            </a:r>
            <a:r>
              <a:rPr lang="en-US" altLang="en-US" dirty="0" smtClean="0"/>
              <a:t>  only one process at a time can use a resource.</a:t>
            </a:r>
          </a:p>
          <a:p>
            <a:pPr>
              <a:lnSpc>
                <a:spcPct val="90000"/>
              </a:lnSpc>
            </a:pPr>
            <a:r>
              <a:rPr lang="en-US" altLang="en-US" b="1" dirty="0" smtClean="0"/>
              <a:t>Hold and wait:</a:t>
            </a:r>
            <a:r>
              <a:rPr lang="en-US" altLang="en-US" dirty="0" smtClean="0"/>
              <a:t>  a process holding at least one resource is waiting to acquire additional resources held by other processes.</a:t>
            </a:r>
          </a:p>
          <a:p>
            <a:pPr>
              <a:lnSpc>
                <a:spcPct val="90000"/>
              </a:lnSpc>
            </a:pPr>
            <a:r>
              <a:rPr lang="en-US" altLang="en-US" b="1" dirty="0" smtClean="0"/>
              <a:t>No preemption:</a:t>
            </a:r>
            <a:r>
              <a:rPr lang="en-US" altLang="en-US" dirty="0" smtClean="0"/>
              <a:t>  a resource can be released only voluntarily by the process holding it, after that process has completed its task.</a:t>
            </a:r>
          </a:p>
          <a:p>
            <a:pPr>
              <a:lnSpc>
                <a:spcPct val="90000"/>
              </a:lnSpc>
            </a:pPr>
            <a:r>
              <a:rPr lang="en-US" altLang="en-US" b="1" dirty="0" smtClean="0"/>
              <a:t>Circular wait:</a:t>
            </a:r>
            <a:r>
              <a:rPr lang="en-US" altLang="en-US" dirty="0" smtClean="0"/>
              <a:t>  there exists a set {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…,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} of waiting processes such that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 </a:t>
            </a:r>
            <a:r>
              <a:rPr lang="en-US" altLang="en-US" dirty="0" smtClean="0"/>
              <a:t>is waiting for a resource that is held by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 is waiting for a resource that is held by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 smtClean="0"/>
              <a:t>	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 …,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n</a:t>
            </a:r>
            <a:r>
              <a:rPr lang="en-US" altLang="en-US" baseline="-25000" dirty="0" smtClean="0"/>
              <a:t>–1</a:t>
            </a:r>
            <a:r>
              <a:rPr lang="en-US" altLang="en-US" dirty="0" smtClean="0"/>
              <a:t> is waiting for a resource that is held by </a:t>
            </a:r>
            <a:br>
              <a:rPr lang="en-US" altLang="en-US" dirty="0" smtClean="0"/>
            </a:br>
            <a:r>
              <a:rPr lang="en-US" altLang="en-US" i="1" dirty="0" err="1" smtClean="0"/>
              <a:t>P</a:t>
            </a:r>
            <a:r>
              <a:rPr lang="en-US" altLang="en-US" baseline="-25000" dirty="0" err="1" smtClean="0"/>
              <a:t>n</a:t>
            </a:r>
            <a:r>
              <a:rPr lang="en-US" altLang="en-US" dirty="0" smtClean="0"/>
              <a:t>, and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 is waiting for a resource that is held by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.</a:t>
            </a:r>
          </a:p>
          <a:p>
            <a:pPr>
              <a:lnSpc>
                <a:spcPct val="90000"/>
              </a:lnSpc>
            </a:pPr>
            <a:endParaRPr lang="en-US" altLang="en-US" dirty="0" smtClean="0"/>
          </a:p>
        </p:txBody>
      </p:sp>
      <p:sp>
        <p:nvSpPr>
          <p:cNvPr id="11268" name="Text Box 5"/>
          <p:cNvSpPr txBox="1">
            <a:spLocks noChangeArrowheads="1"/>
          </p:cNvSpPr>
          <p:nvPr/>
        </p:nvSpPr>
        <p:spPr bwMode="auto">
          <a:xfrm>
            <a:off x="1564895" y="1977009"/>
            <a:ext cx="66341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 dirty="0"/>
              <a:t>Deadlock can arise if four conditions hold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3010395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Resource-Allocation Graph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18664" y="2962086"/>
            <a:ext cx="8356727" cy="2687637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V is partitioned into two types:</a:t>
            </a:r>
          </a:p>
          <a:p>
            <a:pPr lvl="1"/>
            <a:r>
              <a:rPr lang="en-US" altLang="en-US" i="1" dirty="0" smtClean="0"/>
              <a:t>P</a:t>
            </a:r>
            <a:r>
              <a:rPr lang="en-US" altLang="en-US" dirty="0" smtClean="0"/>
              <a:t> = {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 …,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n</a:t>
            </a:r>
            <a:r>
              <a:rPr lang="en-US" altLang="en-US" dirty="0" smtClean="0"/>
              <a:t>}, the set consisting of all the processes in the system.</a:t>
            </a:r>
            <a:br>
              <a:rPr lang="en-US" altLang="en-US" dirty="0" smtClean="0"/>
            </a:br>
            <a:endParaRPr lang="en-US" altLang="en-US" dirty="0" smtClean="0"/>
          </a:p>
          <a:p>
            <a:pPr lvl="1"/>
            <a:r>
              <a:rPr lang="en-US" altLang="en-US" i="1" dirty="0" smtClean="0"/>
              <a:t>R</a:t>
            </a:r>
            <a:r>
              <a:rPr lang="en-US" altLang="en-US" dirty="0" smtClean="0"/>
              <a:t> = {</a:t>
            </a:r>
            <a:r>
              <a:rPr lang="en-US" altLang="en-US" i="1" dirty="0" smtClean="0"/>
              <a:t>R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R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 …, </a:t>
            </a:r>
            <a:r>
              <a:rPr lang="en-US" altLang="en-US" i="1" dirty="0" smtClean="0"/>
              <a:t>R</a:t>
            </a:r>
            <a:r>
              <a:rPr lang="en-US" altLang="en-US" i="1" baseline="-25000" dirty="0" smtClean="0"/>
              <a:t>m</a:t>
            </a:r>
            <a:r>
              <a:rPr lang="en-US" altLang="en-US" dirty="0" smtClean="0"/>
              <a:t>}, the set consisting of all resource types in the system.</a:t>
            </a:r>
          </a:p>
          <a:p>
            <a:r>
              <a:rPr lang="en-US" altLang="en-US" dirty="0" smtClean="0"/>
              <a:t>request edge – directed edge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 </a:t>
            </a:r>
            <a:r>
              <a:rPr lang="en-US" altLang="en-US" dirty="0" smtClean="0">
                <a:sym typeface="Symbol" panose="05050102010706020507" pitchFamily="18" charset="2"/>
              </a:rPr>
              <a:t> </a:t>
            </a:r>
            <a:r>
              <a:rPr lang="en-US" altLang="en-US" i="1" dirty="0" err="1" smtClean="0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j</a:t>
            </a:r>
            <a:endParaRPr lang="en-US" altLang="en-US" i="1" dirty="0" smtClean="0">
              <a:sym typeface="Symbol" panose="05050102010706020507" pitchFamily="18" charset="2"/>
            </a:endParaRPr>
          </a:p>
          <a:p>
            <a:r>
              <a:rPr lang="en-US" altLang="en-US" dirty="0" smtClean="0">
                <a:sym typeface="Symbol" panose="05050102010706020507" pitchFamily="18" charset="2"/>
              </a:rPr>
              <a:t>assignment edge </a:t>
            </a:r>
            <a:r>
              <a:rPr lang="en-US" altLang="en-US" dirty="0" smtClean="0"/>
              <a:t>– directed edge </a:t>
            </a:r>
            <a:r>
              <a:rPr lang="en-US" altLang="en-US" i="1" dirty="0" err="1" smtClean="0"/>
              <a:t>R</a:t>
            </a:r>
            <a:r>
              <a:rPr lang="en-US" altLang="en-US" i="1" baseline="-25000" dirty="0" err="1" smtClean="0"/>
              <a:t>j</a:t>
            </a:r>
            <a:r>
              <a:rPr lang="en-US" altLang="en-US" i="1" dirty="0" smtClean="0"/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 </a:t>
            </a:r>
            <a:r>
              <a:rPr lang="en-US" altLang="en-US" i="1" dirty="0" smtClean="0">
                <a:sym typeface="Symbol" panose="05050102010706020507" pitchFamily="18" charset="2"/>
              </a:rPr>
              <a:t>P</a:t>
            </a:r>
            <a:r>
              <a:rPr lang="en-US" altLang="en-US" i="1" baseline="-25000" dirty="0" smtClean="0">
                <a:sym typeface="Symbol" panose="05050102010706020507" pitchFamily="18" charset="2"/>
              </a:rPr>
              <a:t>i</a:t>
            </a:r>
            <a:endParaRPr lang="en-US" altLang="en-US" dirty="0" smtClean="0">
              <a:sym typeface="Symbol" panose="05050102010706020507" pitchFamily="18" charset="2"/>
            </a:endParaRP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2018664" y="2425605"/>
            <a:ext cx="46926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2000"/>
              <a:t>A set of vertices </a:t>
            </a:r>
            <a:r>
              <a:rPr kumimoji="0" lang="en-US" altLang="en-US" sz="2000" i="1"/>
              <a:t>V</a:t>
            </a:r>
            <a:r>
              <a:rPr kumimoji="0" lang="en-US" altLang="en-US" sz="2000"/>
              <a:t> and a set of edges </a:t>
            </a:r>
            <a:r>
              <a:rPr kumimoji="0" lang="en-US" altLang="en-US" sz="2000" i="1"/>
              <a:t>E</a:t>
            </a:r>
            <a:r>
              <a:rPr kumimoji="0" lang="en-US" altLang="en-US" sz="20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0400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Resource-Allocation Graph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altLang="en-US" sz="2900" dirty="0" smtClean="0"/>
              <a:t>Process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/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sz="2900" dirty="0" smtClean="0"/>
              <a:t>Resource Type with 4 instances</a:t>
            </a:r>
          </a:p>
          <a:p>
            <a:pPr>
              <a:buFont typeface="Monotype Sorts" pitchFamily="-84" charset="2"/>
              <a:buNone/>
            </a:pPr>
            <a:endParaRPr lang="en-US" altLang="en-US" dirty="0" smtClean="0"/>
          </a:p>
          <a:p>
            <a:endParaRPr lang="en-US" altLang="en-US" sz="3200" dirty="0" smtClean="0"/>
          </a:p>
          <a:p>
            <a:r>
              <a:rPr lang="en-US" altLang="en-US" sz="3200" i="1" dirty="0" smtClean="0"/>
              <a:t>P</a:t>
            </a:r>
            <a:r>
              <a:rPr lang="en-US" altLang="en-US" sz="3200" i="1" baseline="-25000" dirty="0" smtClean="0"/>
              <a:t>i</a:t>
            </a:r>
            <a:r>
              <a:rPr lang="en-US" altLang="en-US" sz="3200" i="1" dirty="0" smtClean="0"/>
              <a:t> </a:t>
            </a:r>
            <a:r>
              <a:rPr lang="en-US" altLang="en-US" sz="3200" dirty="0" smtClean="0"/>
              <a:t>requests instance of </a:t>
            </a:r>
            <a:r>
              <a:rPr lang="en-US" altLang="en-US" sz="3200" i="1" dirty="0" err="1" smtClean="0"/>
              <a:t>R</a:t>
            </a:r>
            <a:r>
              <a:rPr lang="en-US" altLang="en-US" sz="3200" i="1" baseline="-25000" dirty="0" err="1" smtClean="0"/>
              <a:t>j</a:t>
            </a:r>
            <a:endParaRPr lang="en-US" altLang="en-US" sz="3200" dirty="0" smtClean="0"/>
          </a:p>
          <a:p>
            <a:endParaRPr lang="en-US" altLang="en-US" dirty="0" smtClean="0"/>
          </a:p>
          <a:p>
            <a:pPr>
              <a:buFont typeface="Monotype Sorts" pitchFamily="-84" charset="2"/>
              <a:buNone/>
            </a:pPr>
            <a:endParaRPr lang="en-US" altLang="en-US" dirty="0" smtClean="0"/>
          </a:p>
          <a:p>
            <a:r>
              <a:rPr lang="en-US" altLang="en-US" sz="3200" i="1" dirty="0" smtClean="0"/>
              <a:t>P</a:t>
            </a:r>
            <a:r>
              <a:rPr lang="en-US" altLang="en-US" sz="3200" i="1" baseline="-25000" dirty="0" smtClean="0"/>
              <a:t>i</a:t>
            </a:r>
            <a:r>
              <a:rPr lang="en-US" altLang="en-US" sz="3200" dirty="0" smtClean="0"/>
              <a:t> is holding an instance of </a:t>
            </a:r>
            <a:r>
              <a:rPr lang="en-US" altLang="en-US" sz="3200" i="1" dirty="0" err="1" smtClean="0"/>
              <a:t>R</a:t>
            </a:r>
            <a:r>
              <a:rPr lang="en-US" altLang="en-US" sz="3200" i="1" baseline="-25000" dirty="0" err="1" smtClean="0"/>
              <a:t>j</a:t>
            </a:r>
            <a:endParaRPr lang="en-US" altLang="en-US" sz="3200" i="1" dirty="0" smtClean="0"/>
          </a:p>
        </p:txBody>
      </p:sp>
      <p:sp>
        <p:nvSpPr>
          <p:cNvPr id="13316" name="Oval 4"/>
          <p:cNvSpPr>
            <a:spLocks noChangeArrowheads="1"/>
          </p:cNvSpPr>
          <p:nvPr/>
        </p:nvSpPr>
        <p:spPr bwMode="auto">
          <a:xfrm>
            <a:off x="5694363" y="2495550"/>
            <a:ext cx="495300" cy="495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/>
          </a:p>
        </p:txBody>
      </p:sp>
      <p:sp>
        <p:nvSpPr>
          <p:cNvPr id="13317" name="Oval 5"/>
          <p:cNvSpPr>
            <a:spLocks noChangeArrowheads="1"/>
          </p:cNvSpPr>
          <p:nvPr/>
        </p:nvSpPr>
        <p:spPr bwMode="auto">
          <a:xfrm>
            <a:off x="5181600" y="5562600"/>
            <a:ext cx="495300" cy="495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i="1"/>
              <a:t>P</a:t>
            </a:r>
            <a:r>
              <a:rPr kumimoji="0" lang="en-US" altLang="en-US" i="1" baseline="-25000"/>
              <a:t>i</a:t>
            </a:r>
            <a:endParaRPr kumimoji="0" lang="en-US" altLang="en-US"/>
          </a:p>
        </p:txBody>
      </p:sp>
      <p:sp>
        <p:nvSpPr>
          <p:cNvPr id="13318" name="Oval 6"/>
          <p:cNvSpPr>
            <a:spLocks noChangeArrowheads="1"/>
          </p:cNvSpPr>
          <p:nvPr/>
        </p:nvSpPr>
        <p:spPr bwMode="auto">
          <a:xfrm>
            <a:off x="5372100" y="4362730"/>
            <a:ext cx="495300" cy="4953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i="1"/>
              <a:t>P</a:t>
            </a:r>
            <a:r>
              <a:rPr kumimoji="0" lang="en-US" altLang="en-US" i="1" baseline="-25000"/>
              <a:t>i</a:t>
            </a:r>
            <a:endParaRPr kumimoji="0" lang="en-US" altLang="en-US" i="1"/>
          </a:p>
        </p:txBody>
      </p:sp>
      <p:grpSp>
        <p:nvGrpSpPr>
          <p:cNvPr id="13319" name="Group 12"/>
          <p:cNvGrpSpPr>
            <a:grpSpLocks/>
          </p:cNvGrpSpPr>
          <p:nvPr/>
        </p:nvGrpSpPr>
        <p:grpSpPr bwMode="auto">
          <a:xfrm>
            <a:off x="5724208" y="3427654"/>
            <a:ext cx="438150" cy="419100"/>
            <a:chOff x="2666" y="1966"/>
            <a:chExt cx="276" cy="264"/>
          </a:xfrm>
        </p:grpSpPr>
        <p:sp>
          <p:nvSpPr>
            <p:cNvPr id="13336" name="Rectangle 7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37" name="Rectangle 8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38" name="Rectangle 9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39" name="Rectangle 10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40" name="Rectangle 11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  <p:grpSp>
        <p:nvGrpSpPr>
          <p:cNvPr id="13320" name="Group 13"/>
          <p:cNvGrpSpPr>
            <a:grpSpLocks/>
          </p:cNvGrpSpPr>
          <p:nvPr/>
        </p:nvGrpSpPr>
        <p:grpSpPr bwMode="auto">
          <a:xfrm>
            <a:off x="6276181" y="4412826"/>
            <a:ext cx="438150" cy="419100"/>
            <a:chOff x="2666" y="1966"/>
            <a:chExt cx="276" cy="264"/>
          </a:xfrm>
        </p:grpSpPr>
        <p:sp>
          <p:nvSpPr>
            <p:cNvPr id="13331" name="Rectangle 14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32" name="Rectangle 15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33" name="Rectangle 16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34" name="Rectangle 17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35" name="Rectangle 18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  <p:sp>
        <p:nvSpPr>
          <p:cNvPr id="13321" name="Line 19"/>
          <p:cNvSpPr>
            <a:spLocks noChangeShapeType="1"/>
          </p:cNvSpPr>
          <p:nvPr/>
        </p:nvSpPr>
        <p:spPr bwMode="auto">
          <a:xfrm>
            <a:off x="5926200" y="4625019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22" name="Text Box 20"/>
          <p:cNvSpPr txBox="1">
            <a:spLocks noChangeArrowheads="1"/>
          </p:cNvSpPr>
          <p:nvPr/>
        </p:nvSpPr>
        <p:spPr bwMode="auto">
          <a:xfrm>
            <a:off x="6355305" y="4832984"/>
            <a:ext cx="34176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B3EBFF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400" i="1" dirty="0" err="1"/>
              <a:t>R</a:t>
            </a:r>
            <a:r>
              <a:rPr kumimoji="0" lang="en-US" altLang="en-US" sz="1400" i="1" baseline="-25000" dirty="0" err="1"/>
              <a:t>j</a:t>
            </a:r>
            <a:endParaRPr kumimoji="0" lang="en-US" altLang="en-US" sz="1400" i="1" dirty="0"/>
          </a:p>
        </p:txBody>
      </p:sp>
      <p:grpSp>
        <p:nvGrpSpPr>
          <p:cNvPr id="13323" name="Group 21"/>
          <p:cNvGrpSpPr>
            <a:grpSpLocks/>
          </p:cNvGrpSpPr>
          <p:nvPr/>
        </p:nvGrpSpPr>
        <p:grpSpPr bwMode="auto">
          <a:xfrm>
            <a:off x="6147024" y="5562695"/>
            <a:ext cx="438150" cy="419100"/>
            <a:chOff x="2666" y="1966"/>
            <a:chExt cx="276" cy="264"/>
          </a:xfrm>
        </p:grpSpPr>
        <p:sp>
          <p:nvSpPr>
            <p:cNvPr id="13326" name="Rectangle 22"/>
            <p:cNvSpPr>
              <a:spLocks noChangeArrowheads="1"/>
            </p:cNvSpPr>
            <p:nvPr/>
          </p:nvSpPr>
          <p:spPr bwMode="auto">
            <a:xfrm>
              <a:off x="2666" y="1966"/>
              <a:ext cx="276" cy="264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27" name="Rectangle 23"/>
            <p:cNvSpPr>
              <a:spLocks noChangeArrowheads="1"/>
            </p:cNvSpPr>
            <p:nvPr/>
          </p:nvSpPr>
          <p:spPr bwMode="auto">
            <a:xfrm>
              <a:off x="2736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28" name="Rectangle 24"/>
            <p:cNvSpPr>
              <a:spLocks noChangeArrowheads="1"/>
            </p:cNvSpPr>
            <p:nvPr/>
          </p:nvSpPr>
          <p:spPr bwMode="auto">
            <a:xfrm>
              <a:off x="2832" y="2026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29" name="Rectangle 25"/>
            <p:cNvSpPr>
              <a:spLocks noChangeArrowheads="1"/>
            </p:cNvSpPr>
            <p:nvPr/>
          </p:nvSpPr>
          <p:spPr bwMode="auto">
            <a:xfrm>
              <a:off x="2736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  <p:sp>
          <p:nvSpPr>
            <p:cNvPr id="13330" name="Rectangle 26"/>
            <p:cNvSpPr>
              <a:spLocks noChangeArrowheads="1"/>
            </p:cNvSpPr>
            <p:nvPr/>
          </p:nvSpPr>
          <p:spPr bwMode="auto">
            <a:xfrm>
              <a:off x="2832" y="2108"/>
              <a:ext cx="47" cy="4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35000"/>
                </a:spcBef>
                <a:buClr>
                  <a:srgbClr val="993300"/>
                </a:buClr>
                <a:buSzPct val="90000"/>
                <a:buFont typeface="Monotype Sorts" pitchFamily="-84" charset="2"/>
                <a:buChar char="n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1pPr>
              <a:lvl2pPr marL="742950" indent="-285750">
                <a:spcBef>
                  <a:spcPct val="35000"/>
                </a:spcBef>
                <a:buClr>
                  <a:srgbClr val="CC6600"/>
                </a:buClr>
                <a:buSzPct val="80000"/>
                <a:buFont typeface="Monotype Sorts" pitchFamily="-84" charset="2"/>
                <a:buChar char="l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2pPr>
              <a:lvl3pPr marL="1143000" indent="-228600">
                <a:spcBef>
                  <a:spcPct val="35000"/>
                </a:spcBef>
                <a:buClr>
                  <a:srgbClr val="009900"/>
                </a:buClr>
                <a:buSzPct val="75000"/>
                <a:buFont typeface="Webdings" panose="05030102010509060703" pitchFamily="18" charset="2"/>
                <a:buChar char="4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3pPr>
              <a:lvl4pPr marL="1600200" indent="-228600">
                <a:spcBef>
                  <a:spcPct val="35000"/>
                </a:spcBef>
                <a:buClr>
                  <a:schemeClr val="hlink"/>
                </a:buClr>
                <a:buSzPct val="75000"/>
                <a:buChar char="–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4pPr>
              <a:lvl5pPr marL="2057400" indent="-228600">
                <a:spcBef>
                  <a:spcPct val="35000"/>
                </a:spcBef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35000"/>
                </a:spcBef>
                <a:spcAft>
                  <a:spcPct val="0"/>
                </a:spcAft>
                <a:buClr>
                  <a:srgbClr val="FF0066"/>
                </a:buClr>
                <a:buSzPct val="75000"/>
                <a:buChar char="»"/>
                <a:defRPr kumimoji="1">
                  <a:solidFill>
                    <a:schemeClr val="tx1"/>
                  </a:solidFill>
                  <a:latin typeface="Helvetica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kumimoji="0" lang="en-US" altLang="en-US"/>
            </a:p>
          </p:txBody>
        </p:sp>
      </p:grpSp>
      <p:sp>
        <p:nvSpPr>
          <p:cNvPr id="13324" name="Line 27"/>
          <p:cNvSpPr>
            <a:spLocks noChangeShapeType="1"/>
          </p:cNvSpPr>
          <p:nvPr/>
        </p:nvSpPr>
        <p:spPr bwMode="auto">
          <a:xfrm flipH="1">
            <a:off x="5648325" y="5772151"/>
            <a:ext cx="476250" cy="1047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325" name="Text Box 28"/>
          <p:cNvSpPr txBox="1">
            <a:spLocks noChangeArrowheads="1"/>
          </p:cNvSpPr>
          <p:nvPr/>
        </p:nvSpPr>
        <p:spPr bwMode="auto">
          <a:xfrm>
            <a:off x="6614319" y="5767468"/>
            <a:ext cx="341760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FFFF"/>
                    </a:gs>
                    <a:gs pos="100000">
                      <a:srgbClr val="B3EBFF"/>
                    </a:gs>
                  </a:gsLst>
                  <a:lin ang="2700000" scaled="1"/>
                </a:gra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400" i="1" dirty="0" err="1"/>
              <a:t>R</a:t>
            </a:r>
            <a:r>
              <a:rPr kumimoji="0" lang="en-US" altLang="en-US" sz="1400" i="1" baseline="-25000" dirty="0" err="1"/>
              <a:t>j</a:t>
            </a:r>
            <a:endParaRPr kumimoji="0" lang="en-US" altLang="en-US" sz="1400" i="1" dirty="0"/>
          </a:p>
        </p:txBody>
      </p:sp>
    </p:spTree>
    <p:extLst>
      <p:ext uri="{BB962C8B-B14F-4D97-AF65-F5344CB8AC3E}">
        <p14:creationId xmlns:p14="http://schemas.microsoft.com/office/powerpoint/2010/main" val="1441525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982915" y="1111568"/>
            <a:ext cx="8267700" cy="5127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Example of a Resource Allocation Graph</a:t>
            </a:r>
          </a:p>
        </p:txBody>
      </p:sp>
      <p:pic>
        <p:nvPicPr>
          <p:cNvPr id="14339" name="Picture 103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87" t="926" r="25287" b="1532"/>
          <a:stretch>
            <a:fillRect/>
          </a:stretch>
        </p:blipFill>
        <p:spPr bwMode="auto">
          <a:xfrm>
            <a:off x="4670425" y="2000251"/>
            <a:ext cx="2609850" cy="386397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0407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2109471" y="993775"/>
            <a:ext cx="8728075" cy="4699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dirty="0"/>
              <a:t>Resource Allocation Graph With A Deadlock</a:t>
            </a:r>
          </a:p>
        </p:txBody>
      </p:sp>
      <p:pic>
        <p:nvPicPr>
          <p:cNvPr id="1536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67" t="934" r="25284" b="1547"/>
          <a:stretch>
            <a:fillRect/>
          </a:stretch>
        </p:blipFill>
        <p:spPr bwMode="auto">
          <a:xfrm>
            <a:off x="4629150" y="1833564"/>
            <a:ext cx="2755900" cy="405923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41140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2162176" y="1055370"/>
            <a:ext cx="8226425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Graph With A Cycle But No Deadlock</a:t>
            </a:r>
          </a:p>
        </p:txBody>
      </p:sp>
      <p:pic>
        <p:nvPicPr>
          <p:cNvPr id="1638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47" t="906" r="21393" b="906"/>
          <a:stretch>
            <a:fillRect/>
          </a:stretch>
        </p:blipFill>
        <p:spPr bwMode="auto">
          <a:xfrm>
            <a:off x="4367214" y="1890713"/>
            <a:ext cx="3246437" cy="415766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7475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Basic Facts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16977" y="2457450"/>
            <a:ext cx="6353175" cy="4400550"/>
          </a:xfrm>
        </p:spPr>
        <p:txBody>
          <a:bodyPr/>
          <a:lstStyle/>
          <a:p>
            <a:r>
              <a:rPr lang="en-US" altLang="en-US" dirty="0" smtClean="0"/>
              <a:t>If graph contains no cycles </a:t>
            </a:r>
            <a:r>
              <a:rPr lang="en-US" altLang="en-US" dirty="0" smtClean="0">
                <a:sym typeface="Symbol" panose="05050102010706020507" pitchFamily="18" charset="2"/>
              </a:rPr>
              <a:t> no deadlock.</a:t>
            </a:r>
            <a:br>
              <a:rPr lang="en-US" altLang="en-US" dirty="0" smtClean="0">
                <a:sym typeface="Symbol" panose="05050102010706020507" pitchFamily="18" charset="2"/>
              </a:rPr>
            </a:br>
            <a:endParaRPr lang="en-US" altLang="en-US" dirty="0" smtClean="0">
              <a:sym typeface="Symbol" panose="05050102010706020507" pitchFamily="18" charset="2"/>
            </a:endParaRPr>
          </a:p>
          <a:p>
            <a:r>
              <a:rPr lang="en-US" altLang="en-US" dirty="0" smtClean="0">
                <a:sym typeface="Symbol" panose="05050102010706020507" pitchFamily="18" charset="2"/>
              </a:rPr>
              <a:t>If graph contains a cycle </a:t>
            </a: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if only one instance per resource type, then deadlock.</a:t>
            </a:r>
          </a:p>
          <a:p>
            <a:pPr lvl="1"/>
            <a:r>
              <a:rPr lang="en-US" altLang="en-US" dirty="0" smtClean="0">
                <a:sym typeface="Symbol" panose="05050102010706020507" pitchFamily="18" charset="2"/>
              </a:rPr>
              <a:t>if several instances per resource type, possibility of deadlock.</a:t>
            </a:r>
          </a:p>
        </p:txBody>
      </p:sp>
    </p:spTree>
    <p:extLst>
      <p:ext uri="{BB962C8B-B14F-4D97-AF65-F5344CB8AC3E}">
        <p14:creationId xmlns:p14="http://schemas.microsoft.com/office/powerpoint/2010/main" val="2210262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Methods for Handling Deadlocks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04784" y="2495106"/>
            <a:ext cx="6591300" cy="3262312"/>
          </a:xfrm>
        </p:spPr>
        <p:txBody>
          <a:bodyPr>
            <a:normAutofit fontScale="92500"/>
          </a:bodyPr>
          <a:lstStyle/>
          <a:p>
            <a:r>
              <a:rPr lang="en-US" altLang="en-US" dirty="0" smtClean="0"/>
              <a:t>Ensure that the system will </a:t>
            </a:r>
            <a:r>
              <a:rPr lang="en-US" altLang="en-US" i="1" dirty="0" smtClean="0">
                <a:solidFill>
                  <a:srgbClr val="FF0066"/>
                </a:solidFill>
              </a:rPr>
              <a:t>never</a:t>
            </a:r>
            <a:r>
              <a:rPr lang="en-US" altLang="en-US" dirty="0" smtClean="0"/>
              <a:t> enter a deadlock state.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Allow the system to enter a deadlock state and then recover.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Ignore the problem and pretend that deadlocks never occur in the system; used by most operating systems, including UNIX.</a:t>
            </a:r>
          </a:p>
        </p:txBody>
      </p:sp>
    </p:spTree>
    <p:extLst>
      <p:ext uri="{BB962C8B-B14F-4D97-AF65-F5344CB8AC3E}">
        <p14:creationId xmlns:p14="http://schemas.microsoft.com/office/powerpoint/2010/main" val="2185713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Deadlock Prevention</a:t>
            </a:r>
          </a:p>
        </p:txBody>
      </p:sp>
      <p:sp>
        <p:nvSpPr>
          <p:cNvPr id="1945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959864" y="2583499"/>
            <a:ext cx="9390888" cy="3781425"/>
          </a:xfrm>
        </p:spPr>
        <p:txBody>
          <a:bodyPr>
            <a:normAutofit/>
          </a:bodyPr>
          <a:lstStyle/>
          <a:p>
            <a:r>
              <a:rPr lang="en-US" altLang="en-US" b="1" dirty="0" smtClean="0"/>
              <a:t>Mutual Exclusion</a:t>
            </a:r>
            <a:r>
              <a:rPr lang="en-US" altLang="en-US" dirty="0" smtClean="0"/>
              <a:t> – not required for sharable resources; must hold for non sharable resources.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Hold and Wait</a:t>
            </a:r>
            <a:r>
              <a:rPr lang="en-US" altLang="en-US" dirty="0" smtClean="0"/>
              <a:t> – must guarantee that whenever a process requests a resource, it does not hold any other resources.</a:t>
            </a:r>
          </a:p>
          <a:p>
            <a:pPr lvl="1"/>
            <a:r>
              <a:rPr lang="en-US" altLang="en-US" dirty="0" smtClean="0"/>
              <a:t>Require process to request and be allocated all its resources before it begins execution, or allow process to request resources only when the process has none.</a:t>
            </a:r>
          </a:p>
          <a:p>
            <a:pPr lvl="1"/>
            <a:r>
              <a:rPr lang="en-US" altLang="en-US" dirty="0" smtClean="0"/>
              <a:t>Low resource utilization; starvation possible.</a:t>
            </a:r>
          </a:p>
        </p:txBody>
      </p:sp>
      <p:sp>
        <p:nvSpPr>
          <p:cNvPr id="19460" name="Text Box 1028"/>
          <p:cNvSpPr txBox="1">
            <a:spLocks noChangeArrowheads="1"/>
          </p:cNvSpPr>
          <p:nvPr/>
        </p:nvSpPr>
        <p:spPr bwMode="auto">
          <a:xfrm>
            <a:off x="2233422" y="1919286"/>
            <a:ext cx="42735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dirty="0"/>
              <a:t>Restrain the ways request can be made.</a:t>
            </a:r>
          </a:p>
        </p:txBody>
      </p:sp>
    </p:spTree>
    <p:extLst>
      <p:ext uri="{BB962C8B-B14F-4D97-AF65-F5344CB8AC3E}">
        <p14:creationId xmlns:p14="http://schemas.microsoft.com/office/powerpoint/2010/main" val="243748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Deadlock Prevention (Cont.)</a:t>
            </a:r>
          </a:p>
        </p:txBody>
      </p:sp>
      <p:sp>
        <p:nvSpPr>
          <p:cNvPr id="20483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862582" y="2457450"/>
            <a:ext cx="10034016" cy="4400550"/>
          </a:xfrm>
        </p:spPr>
        <p:txBody>
          <a:bodyPr>
            <a:normAutofit/>
          </a:bodyPr>
          <a:lstStyle/>
          <a:p>
            <a:r>
              <a:rPr lang="en-US" altLang="en-US" b="1" dirty="0" smtClean="0"/>
              <a:t>No Preemption</a:t>
            </a:r>
            <a:r>
              <a:rPr lang="en-US" altLang="en-US" dirty="0" smtClean="0"/>
              <a:t> –</a:t>
            </a:r>
          </a:p>
          <a:p>
            <a:pPr lvl="1"/>
            <a:r>
              <a:rPr lang="en-US" altLang="en-US" dirty="0" smtClean="0"/>
              <a:t>If a process that is holding some resources requests another resource that cannot be immediately allocated to it, then all resources currently being held are released.</a:t>
            </a:r>
          </a:p>
          <a:p>
            <a:pPr lvl="1"/>
            <a:r>
              <a:rPr lang="en-US" altLang="en-US" dirty="0" smtClean="0"/>
              <a:t>Preempted resources are added to the list of resources for which the process is waiting.</a:t>
            </a:r>
          </a:p>
          <a:p>
            <a:pPr lvl="1"/>
            <a:r>
              <a:rPr lang="en-US" altLang="en-US" dirty="0" smtClean="0"/>
              <a:t>Process will be restarted only when it can regain its old resources, as well as the new ones that it is requesting.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b="1" dirty="0" smtClean="0"/>
              <a:t>Circular Wait</a:t>
            </a:r>
            <a:r>
              <a:rPr lang="en-US" altLang="en-US" dirty="0" smtClean="0"/>
              <a:t> – impose a total ordering of all resource types, and require that each process requests resources in an increasing order of enumeration.</a:t>
            </a:r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554800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Deadlock Avoidance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61350" y="2452879"/>
            <a:ext cx="9482010" cy="3783013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Simplest and most useful model requires that each process declare the </a:t>
            </a:r>
            <a:r>
              <a:rPr lang="en-US" altLang="en-US" i="1" dirty="0" smtClean="0"/>
              <a:t>maximum number</a:t>
            </a:r>
            <a:r>
              <a:rPr lang="en-US" altLang="en-US" dirty="0" smtClean="0"/>
              <a:t> of resources of each type that it may need.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The deadlock-avoidance algorithm dynamically examines the resource-allocation state to ensure that there can never be a circular-wait condition.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Resource-allocation </a:t>
            </a:r>
            <a:r>
              <a:rPr lang="en-US" altLang="en-US" i="1" dirty="0" smtClean="0"/>
              <a:t>state</a:t>
            </a:r>
            <a:r>
              <a:rPr lang="en-US" altLang="en-US" dirty="0" smtClean="0"/>
              <a:t> is defined by the number of available and allocated resources, and the maximum demands of the processes.</a:t>
            </a: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2431669" y="1806548"/>
            <a:ext cx="689163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Requires that the system has some additional </a:t>
            </a:r>
            <a:r>
              <a:rPr kumimoji="0" lang="en-US" altLang="en-US" i="1"/>
              <a:t>a priori </a:t>
            </a:r>
            <a:r>
              <a:rPr kumimoji="0" lang="en-US" altLang="en-US"/>
              <a:t>information </a:t>
            </a:r>
            <a:br>
              <a:rPr kumimoji="0" lang="en-US" altLang="en-US"/>
            </a:br>
            <a:r>
              <a:rPr kumimoji="0" lang="en-US" altLang="en-US"/>
              <a:t>available.</a:t>
            </a:r>
          </a:p>
        </p:txBody>
      </p:sp>
    </p:spTree>
    <p:extLst>
      <p:ext uri="{BB962C8B-B14F-4D97-AF65-F5344CB8AC3E}">
        <p14:creationId xmlns:p14="http://schemas.microsoft.com/office/powerpoint/2010/main" val="931255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2" y="616372"/>
            <a:ext cx="9601196" cy="1303867"/>
          </a:xfrm>
        </p:spPr>
        <p:txBody>
          <a:bodyPr/>
          <a:lstStyle/>
          <a:p>
            <a:pPr>
              <a:defRPr/>
            </a:pPr>
            <a:r>
              <a:rPr lang="en-US" dirty="0"/>
              <a:t>Safe State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59877" y="1574738"/>
            <a:ext cx="9836721" cy="4638675"/>
          </a:xfrm>
        </p:spPr>
        <p:txBody>
          <a:bodyPr>
            <a:normAutofit fontScale="92500"/>
          </a:bodyPr>
          <a:lstStyle/>
          <a:p>
            <a:r>
              <a:rPr lang="en-US" altLang="en-US" dirty="0" smtClean="0"/>
              <a:t>When a process requests an available resource, system must decide if immediate allocation leaves the system in a safe state.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System is in </a:t>
            </a:r>
            <a:r>
              <a:rPr lang="en-US" altLang="en-US" dirty="0" smtClean="0">
                <a:solidFill>
                  <a:srgbClr val="FF0066"/>
                </a:solidFill>
              </a:rPr>
              <a:t>safe state</a:t>
            </a:r>
            <a:r>
              <a:rPr lang="en-US" altLang="en-US" dirty="0" smtClean="0"/>
              <a:t> if there exists a sequence &lt;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1</a:t>
            </a:r>
            <a:r>
              <a:rPr lang="en-US" altLang="en-US" i="1" dirty="0" smtClean="0"/>
              <a:t>, P</a:t>
            </a:r>
            <a:r>
              <a:rPr lang="en-US" altLang="en-US" i="1" baseline="-25000" dirty="0" smtClean="0"/>
              <a:t>2</a:t>
            </a:r>
            <a:r>
              <a:rPr lang="en-US" altLang="en-US" i="1" dirty="0" smtClean="0"/>
              <a:t>, …,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n</a:t>
            </a:r>
            <a:r>
              <a:rPr lang="en-US" altLang="en-US" dirty="0" smtClean="0"/>
              <a:t>&gt; of ALL the  processes  is the systems such that  for each P</a:t>
            </a:r>
            <a:r>
              <a:rPr lang="en-US" altLang="en-US" baseline="-25000" dirty="0" smtClean="0"/>
              <a:t>i</a:t>
            </a:r>
            <a:r>
              <a:rPr lang="en-US" altLang="en-US" dirty="0" smtClean="0"/>
              <a:t>, the resources that P</a:t>
            </a:r>
            <a:r>
              <a:rPr lang="en-US" altLang="en-US" baseline="-25000" dirty="0" smtClean="0"/>
              <a:t>i </a:t>
            </a:r>
            <a:r>
              <a:rPr lang="en-US" altLang="en-US" dirty="0" smtClean="0"/>
              <a:t>can still request can be satisfied by currently available resources + resources held by all the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j</a:t>
            </a:r>
            <a:r>
              <a:rPr lang="en-US" altLang="en-US" dirty="0" smtClean="0"/>
              <a:t>, with</a:t>
            </a:r>
            <a:r>
              <a:rPr lang="en-US" altLang="en-US" i="1" dirty="0" smtClean="0"/>
              <a:t> j </a:t>
            </a:r>
            <a:r>
              <a:rPr lang="en-US" altLang="en-US" dirty="0" smtClean="0"/>
              <a:t>&lt; 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.</a:t>
            </a:r>
          </a:p>
          <a:p>
            <a:r>
              <a:rPr lang="en-US" altLang="en-US" dirty="0" smtClean="0"/>
              <a:t>That is:</a:t>
            </a:r>
          </a:p>
          <a:p>
            <a:pPr lvl="1"/>
            <a:r>
              <a:rPr lang="en-US" altLang="en-US" dirty="0" smtClean="0"/>
              <a:t>If P</a:t>
            </a:r>
            <a:r>
              <a:rPr lang="en-US" altLang="en-US" baseline="-25000" dirty="0" smtClean="0"/>
              <a:t>i</a:t>
            </a:r>
            <a:r>
              <a:rPr lang="en-US" altLang="en-US" dirty="0" smtClean="0"/>
              <a:t> resource needs are not immediately available, then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 can wait until all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j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have finished.</a:t>
            </a:r>
          </a:p>
          <a:p>
            <a:pPr lvl="1"/>
            <a:r>
              <a:rPr lang="en-US" altLang="en-US" dirty="0" smtClean="0"/>
              <a:t>When </a:t>
            </a:r>
            <a:r>
              <a:rPr lang="en-US" altLang="en-US" i="1" dirty="0" err="1" smtClean="0"/>
              <a:t>P</a:t>
            </a:r>
            <a:r>
              <a:rPr lang="en-US" altLang="en-US" i="1" baseline="-25000" dirty="0" err="1" smtClean="0"/>
              <a:t>j</a:t>
            </a:r>
            <a:r>
              <a:rPr lang="en-US" altLang="en-US" dirty="0" smtClean="0"/>
              <a:t> is finished,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 can obtain needed resources, execute, return allocated resources, and terminate. </a:t>
            </a:r>
          </a:p>
          <a:p>
            <a:pPr lvl="1"/>
            <a:r>
              <a:rPr lang="en-US" altLang="en-US" dirty="0" smtClean="0"/>
              <a:t>When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 terminates,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i </a:t>
            </a:r>
            <a:r>
              <a:rPr lang="en-US" altLang="en-US" baseline="-25000" dirty="0" smtClean="0"/>
              <a:t>+1</a:t>
            </a:r>
            <a:r>
              <a:rPr lang="en-US" altLang="en-US" dirty="0" smtClean="0"/>
              <a:t> can obtain its needed resources, and so on. </a:t>
            </a:r>
          </a:p>
        </p:txBody>
      </p:sp>
    </p:spTree>
    <p:extLst>
      <p:ext uri="{BB962C8B-B14F-4D97-AF65-F5344CB8AC3E}">
        <p14:creationId xmlns:p14="http://schemas.microsoft.com/office/powerpoint/2010/main" val="303365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Basic Facts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51088" y="1411289"/>
            <a:ext cx="6311900" cy="4414837"/>
          </a:xfrm>
        </p:spPr>
        <p:txBody>
          <a:bodyPr/>
          <a:lstStyle/>
          <a:p>
            <a:r>
              <a:rPr lang="en-US" altLang="en-US" smtClean="0"/>
              <a:t>If a system is in safe state </a:t>
            </a:r>
            <a:r>
              <a:rPr lang="en-US" altLang="en-US" smtClean="0">
                <a:sym typeface="Symbol" panose="05050102010706020507" pitchFamily="18" charset="2"/>
              </a:rPr>
              <a:t> no deadlocks.</a:t>
            </a:r>
            <a:br>
              <a:rPr lang="en-US" altLang="en-US" smtClean="0">
                <a:sym typeface="Symbol" panose="05050102010706020507" pitchFamily="18" charset="2"/>
              </a:rPr>
            </a:br>
            <a:endParaRPr lang="en-US" altLang="en-US" smtClean="0">
              <a:sym typeface="Symbol" panose="05050102010706020507" pitchFamily="18" charset="2"/>
            </a:endParaRPr>
          </a:p>
          <a:p>
            <a:r>
              <a:rPr lang="en-US" altLang="en-US" smtClean="0">
                <a:sym typeface="Symbol" panose="05050102010706020507" pitchFamily="18" charset="2"/>
              </a:rPr>
              <a:t>If a system is in unsafe state  possibility of deadlock.</a:t>
            </a:r>
            <a:br>
              <a:rPr lang="en-US" altLang="en-US" smtClean="0">
                <a:sym typeface="Symbol" panose="05050102010706020507" pitchFamily="18" charset="2"/>
              </a:rPr>
            </a:br>
            <a:endParaRPr lang="en-US" altLang="en-US" smtClean="0">
              <a:sym typeface="Symbol" panose="05050102010706020507" pitchFamily="18" charset="2"/>
            </a:endParaRPr>
          </a:p>
          <a:p>
            <a:r>
              <a:rPr lang="en-US" altLang="en-US" smtClean="0">
                <a:sym typeface="Symbol" panose="05050102010706020507" pitchFamily="18" charset="2"/>
              </a:rPr>
              <a:t>Avoidance  ensure that a system will never enter an unsafe state. </a:t>
            </a:r>
          </a:p>
        </p:txBody>
      </p:sp>
    </p:spTree>
    <p:extLst>
      <p:ext uri="{BB962C8B-B14F-4D97-AF65-F5344CB8AC3E}">
        <p14:creationId xmlns:p14="http://schemas.microsoft.com/office/powerpoint/2010/main" val="2154895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01740" y="506644"/>
            <a:ext cx="9601196" cy="1303867"/>
          </a:xfrm>
        </p:spPr>
        <p:txBody>
          <a:bodyPr/>
          <a:lstStyle/>
          <a:p>
            <a:pPr>
              <a:defRPr/>
            </a:pPr>
            <a:r>
              <a:rPr lang="en-US" dirty="0"/>
              <a:t>Safe, Unsafe , Deadlock State </a:t>
            </a:r>
          </a:p>
        </p:txBody>
      </p:sp>
      <p:pic>
        <p:nvPicPr>
          <p:cNvPr id="2457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37" t="1572" r="13683" b="2194"/>
          <a:stretch>
            <a:fillRect/>
          </a:stretch>
        </p:blipFill>
        <p:spPr bwMode="auto">
          <a:xfrm>
            <a:off x="3806826" y="1716088"/>
            <a:ext cx="4391025" cy="4348162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60892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Avoidance algorithms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70672" y="2374900"/>
            <a:ext cx="9036240" cy="4483100"/>
          </a:xfrm>
        </p:spPr>
        <p:txBody>
          <a:bodyPr/>
          <a:lstStyle/>
          <a:p>
            <a:r>
              <a:rPr lang="en-US" altLang="en-US" dirty="0" smtClean="0"/>
              <a:t>Single instance of a resource type.  Use a resource-allocation graph</a:t>
            </a:r>
          </a:p>
          <a:p>
            <a:endParaRPr lang="en-US" altLang="en-US" dirty="0" smtClean="0"/>
          </a:p>
          <a:p>
            <a:r>
              <a:rPr lang="en-US" altLang="en-US" dirty="0" smtClean="0"/>
              <a:t>Multiple instances of a resource type.  Use the banker’s algorithm</a:t>
            </a:r>
          </a:p>
        </p:txBody>
      </p:sp>
    </p:spTree>
    <p:extLst>
      <p:ext uri="{BB962C8B-B14F-4D97-AF65-F5344CB8AC3E}">
        <p14:creationId xmlns:p14="http://schemas.microsoft.com/office/powerpoint/2010/main" val="2067150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234442" y="518836"/>
            <a:ext cx="9601196" cy="1303867"/>
          </a:xfrm>
        </p:spPr>
        <p:txBody>
          <a:bodyPr/>
          <a:lstStyle/>
          <a:p>
            <a:pPr>
              <a:defRPr/>
            </a:pPr>
            <a:r>
              <a:rPr lang="en-US" dirty="0"/>
              <a:t>Resource-Allocation Graph Scheme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896" y="1822703"/>
            <a:ext cx="10730928" cy="4483100"/>
          </a:xfrm>
        </p:spPr>
        <p:txBody>
          <a:bodyPr>
            <a:normAutofit lnSpcReduction="10000"/>
          </a:bodyPr>
          <a:lstStyle/>
          <a:p>
            <a:r>
              <a:rPr lang="en-US" altLang="en-US" i="1" dirty="0" smtClean="0"/>
              <a:t>Claim edge</a:t>
            </a:r>
            <a:r>
              <a:rPr lang="en-US" altLang="en-US" dirty="0" smtClean="0"/>
              <a:t>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 </a:t>
            </a:r>
            <a:r>
              <a:rPr lang="en-US" altLang="en-US" i="1" dirty="0" err="1" smtClean="0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j</a:t>
            </a:r>
            <a:r>
              <a:rPr lang="en-US" altLang="en-US" dirty="0" smtClean="0">
                <a:sym typeface="Symbol" panose="05050102010706020507" pitchFamily="18" charset="2"/>
              </a:rPr>
              <a:t> indicated that process </a:t>
            </a:r>
            <a:r>
              <a:rPr lang="en-US" altLang="en-US" i="1" dirty="0" err="1" smtClean="0">
                <a:sym typeface="Symbol" panose="05050102010706020507" pitchFamily="18" charset="2"/>
              </a:rPr>
              <a:t>P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j</a:t>
            </a:r>
            <a:r>
              <a:rPr lang="en-US" altLang="en-US" dirty="0" smtClean="0">
                <a:sym typeface="Symbol" panose="05050102010706020507" pitchFamily="18" charset="2"/>
              </a:rPr>
              <a:t> may request resource </a:t>
            </a:r>
            <a:r>
              <a:rPr lang="en-US" altLang="en-US" i="1" dirty="0" err="1" smtClean="0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j</a:t>
            </a:r>
            <a:r>
              <a:rPr lang="en-US" altLang="en-US" dirty="0" smtClean="0">
                <a:sym typeface="Symbol" panose="05050102010706020507" pitchFamily="18" charset="2"/>
              </a:rPr>
              <a:t>; represented by a dashed line.</a:t>
            </a:r>
            <a:br>
              <a:rPr lang="en-US" altLang="en-US" dirty="0" smtClean="0">
                <a:sym typeface="Symbol" panose="05050102010706020507" pitchFamily="18" charset="2"/>
              </a:rPr>
            </a:br>
            <a:endParaRPr lang="en-US" altLang="en-US" dirty="0" smtClean="0">
              <a:sym typeface="Symbol" panose="05050102010706020507" pitchFamily="18" charset="2"/>
            </a:endParaRPr>
          </a:p>
          <a:p>
            <a:r>
              <a:rPr lang="en-US" altLang="en-US" dirty="0" smtClean="0">
                <a:sym typeface="Symbol" panose="05050102010706020507" pitchFamily="18" charset="2"/>
              </a:rPr>
              <a:t>Claim edge converts to request edge when a process requests a resource.</a:t>
            </a:r>
            <a:br>
              <a:rPr lang="en-US" altLang="en-US" dirty="0" smtClean="0">
                <a:sym typeface="Symbol" panose="05050102010706020507" pitchFamily="18" charset="2"/>
              </a:rPr>
            </a:br>
            <a:endParaRPr lang="en-US" altLang="en-US" dirty="0" smtClean="0">
              <a:sym typeface="Symbol" panose="05050102010706020507" pitchFamily="18" charset="2"/>
            </a:endParaRPr>
          </a:p>
          <a:p>
            <a:r>
              <a:rPr lang="en-US" altLang="en-US" dirty="0" smtClean="0">
                <a:sym typeface="Symbol" panose="05050102010706020507" pitchFamily="18" charset="2"/>
              </a:rPr>
              <a:t>Request edge converted to an assignment edge when the  resource is allocated to the process.</a:t>
            </a:r>
          </a:p>
          <a:p>
            <a:pPr>
              <a:buFont typeface="Monotype Sorts" pitchFamily="-84" charset="2"/>
              <a:buNone/>
            </a:pPr>
            <a:endParaRPr lang="en-US" altLang="en-US" dirty="0" smtClean="0">
              <a:sym typeface="Symbol" panose="05050102010706020507" pitchFamily="18" charset="2"/>
            </a:endParaRPr>
          </a:p>
          <a:p>
            <a:r>
              <a:rPr lang="en-US" altLang="en-US" dirty="0" smtClean="0">
                <a:sym typeface="Symbol" panose="05050102010706020507" pitchFamily="18" charset="2"/>
              </a:rPr>
              <a:t>When a resource is released by a process, assignment edge reconverts to a claim edge.</a:t>
            </a:r>
            <a:br>
              <a:rPr lang="en-US" altLang="en-US" dirty="0" smtClean="0">
                <a:sym typeface="Symbol" panose="05050102010706020507" pitchFamily="18" charset="2"/>
              </a:rPr>
            </a:br>
            <a:endParaRPr lang="en-US" altLang="en-US" dirty="0" smtClean="0">
              <a:sym typeface="Symbol" panose="05050102010706020507" pitchFamily="18" charset="2"/>
            </a:endParaRPr>
          </a:p>
          <a:p>
            <a:r>
              <a:rPr lang="en-US" altLang="en-US" dirty="0" smtClean="0">
                <a:sym typeface="Symbol" panose="05050102010706020507" pitchFamily="18" charset="2"/>
              </a:rPr>
              <a:t>Resources must be claimed </a:t>
            </a:r>
            <a:r>
              <a:rPr lang="en-US" altLang="en-US" i="1" dirty="0" smtClean="0">
                <a:sym typeface="Symbol" panose="05050102010706020507" pitchFamily="18" charset="2"/>
              </a:rPr>
              <a:t>a priori</a:t>
            </a:r>
            <a:r>
              <a:rPr lang="en-US" altLang="en-US" dirty="0" smtClean="0">
                <a:sym typeface="Symbol" panose="05050102010706020507" pitchFamily="18" charset="2"/>
              </a:rPr>
              <a:t> in the system.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484939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65364" y="1002221"/>
            <a:ext cx="8224837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Resource-Allocation Graph</a:t>
            </a:r>
          </a:p>
        </p:txBody>
      </p:sp>
      <p:pic>
        <p:nvPicPr>
          <p:cNvPr id="2765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03" t="607" r="13803" b="2141"/>
          <a:stretch>
            <a:fillRect/>
          </a:stretch>
        </p:blipFill>
        <p:spPr bwMode="auto">
          <a:xfrm>
            <a:off x="4159250" y="2185989"/>
            <a:ext cx="3663950" cy="3716337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86120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2387538" y="1063435"/>
            <a:ext cx="8243887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dirty="0"/>
              <a:t>Unsafe State In Resource-Allocation Graph</a:t>
            </a:r>
          </a:p>
        </p:txBody>
      </p:sp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01" t="1407" r="13721" b="851"/>
          <a:stretch>
            <a:fillRect/>
          </a:stretch>
        </p:blipFill>
        <p:spPr bwMode="auto">
          <a:xfrm>
            <a:off x="3940176" y="1719264"/>
            <a:ext cx="4259263" cy="4289425"/>
          </a:xfrm>
          <a:prstGeom prst="rect">
            <a:avLst/>
          </a:prstGeom>
          <a:noFill/>
          <a:ln w="38100" cmpd="dbl">
            <a:solidFill>
              <a:srgbClr val="CC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0790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Resource-Allocation Graph Algorithm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09713" y="2463992"/>
            <a:ext cx="9426383" cy="4257675"/>
          </a:xfrm>
        </p:spPr>
        <p:txBody>
          <a:bodyPr/>
          <a:lstStyle/>
          <a:p>
            <a:r>
              <a:rPr lang="en-US" altLang="en-US" dirty="0" smtClean="0"/>
              <a:t>Suppose that process</a:t>
            </a:r>
            <a:r>
              <a:rPr lang="en-US" altLang="en-US" i="1" dirty="0" smtClean="0"/>
              <a:t> P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 requests a resource </a:t>
            </a:r>
            <a:r>
              <a:rPr lang="en-US" altLang="en-US" i="1" dirty="0" err="1" smtClean="0">
                <a:sym typeface="Symbol" panose="05050102010706020507" pitchFamily="18" charset="2"/>
              </a:rPr>
              <a:t>R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j</a:t>
            </a:r>
            <a:endParaRPr lang="en-US" altLang="en-US" i="1" baseline="-25000" dirty="0" smtClean="0">
              <a:sym typeface="Symbol" panose="05050102010706020507" pitchFamily="18" charset="2"/>
            </a:endParaRPr>
          </a:p>
          <a:p>
            <a:endParaRPr lang="en-US" altLang="en-US" i="1" baseline="-25000" dirty="0" smtClean="0">
              <a:sym typeface="Symbol" panose="05050102010706020507" pitchFamily="18" charset="2"/>
            </a:endParaRPr>
          </a:p>
          <a:p>
            <a:r>
              <a:rPr lang="en-US" altLang="en-US" dirty="0" smtClean="0">
                <a:sym typeface="Symbol" panose="05050102010706020507" pitchFamily="18" charset="2"/>
              </a:rPr>
              <a:t>The request can be granted only if converting the request edge to an assignment edge does not result in the formation of a cycle in the resource allocation graph</a:t>
            </a:r>
          </a:p>
        </p:txBody>
      </p:sp>
    </p:spTree>
    <p:extLst>
      <p:ext uri="{BB962C8B-B14F-4D97-AF65-F5344CB8AC3E}">
        <p14:creationId xmlns:p14="http://schemas.microsoft.com/office/powerpoint/2010/main" val="4025258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Banker’s Algorithm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6592" y="2416175"/>
            <a:ext cx="10838688" cy="4441825"/>
          </a:xfrm>
        </p:spPr>
        <p:txBody>
          <a:bodyPr/>
          <a:lstStyle/>
          <a:p>
            <a:r>
              <a:rPr lang="en-US" altLang="en-US" dirty="0" smtClean="0"/>
              <a:t>Multiple instances.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Each process must a priori claim maximum use.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When a process requests a resource it may have to wait.  </a:t>
            </a:r>
            <a:br>
              <a:rPr lang="en-US" altLang="en-US" dirty="0" smtClean="0"/>
            </a:br>
            <a:endParaRPr lang="en-US" altLang="en-US" dirty="0" smtClean="0"/>
          </a:p>
          <a:p>
            <a:r>
              <a:rPr lang="en-US" altLang="en-US" dirty="0" smtClean="0"/>
              <a:t>When a process gets all its resources it must return them in a finite amount of time.</a:t>
            </a:r>
          </a:p>
        </p:txBody>
      </p:sp>
    </p:spTree>
    <p:extLst>
      <p:ext uri="{BB962C8B-B14F-4D97-AF65-F5344CB8AC3E}">
        <p14:creationId xmlns:p14="http://schemas.microsoft.com/office/powerpoint/2010/main" val="30562813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571751" y="412750"/>
            <a:ext cx="7591425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/>
              <a:t>Data Structures for the Banker’s Algorithm 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695575" y="1885951"/>
            <a:ext cx="6584950" cy="3783013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b="1" i="1" smtClean="0">
                <a:solidFill>
                  <a:srgbClr val="FF0000"/>
                </a:solidFill>
              </a:rPr>
              <a:t>Available</a:t>
            </a:r>
            <a:r>
              <a:rPr lang="en-US" altLang="en-US" i="1" smtClean="0"/>
              <a:t>:</a:t>
            </a:r>
            <a:r>
              <a:rPr lang="en-US" altLang="en-US" smtClean="0"/>
              <a:t>  Vector of length </a:t>
            </a:r>
            <a:r>
              <a:rPr lang="en-US" altLang="en-US" i="1" smtClean="0"/>
              <a:t>m</a:t>
            </a:r>
            <a:r>
              <a:rPr lang="en-US" altLang="en-US" smtClean="0"/>
              <a:t>. If available [</a:t>
            </a:r>
            <a:r>
              <a:rPr lang="en-US" altLang="en-US" i="1" smtClean="0"/>
              <a:t>j</a:t>
            </a:r>
            <a:r>
              <a:rPr lang="en-US" altLang="en-US" smtClean="0"/>
              <a:t>] = </a:t>
            </a:r>
            <a:r>
              <a:rPr lang="en-US" altLang="en-US" i="1" smtClean="0"/>
              <a:t>k</a:t>
            </a:r>
            <a:r>
              <a:rPr lang="en-US" altLang="en-US" smtClean="0"/>
              <a:t>, there are</a:t>
            </a:r>
            <a:r>
              <a:rPr lang="en-US" altLang="en-US" i="1" smtClean="0"/>
              <a:t> k</a:t>
            </a:r>
            <a:r>
              <a:rPr lang="en-US" altLang="en-US" smtClean="0"/>
              <a:t> instances of resource type </a:t>
            </a:r>
            <a:r>
              <a:rPr lang="en-US" altLang="en-US" i="1" smtClean="0"/>
              <a:t>R</a:t>
            </a:r>
            <a:r>
              <a:rPr lang="en-US" altLang="en-US" i="1" baseline="-25000" smtClean="0"/>
              <a:t>j</a:t>
            </a:r>
            <a:r>
              <a:rPr lang="en-US" altLang="en-US" baseline="-25000" smtClean="0"/>
              <a:t>  </a:t>
            </a:r>
            <a:r>
              <a:rPr lang="en-US" altLang="en-US" smtClean="0"/>
              <a:t>available.</a:t>
            </a:r>
          </a:p>
          <a:p>
            <a:r>
              <a:rPr lang="en-US" altLang="en-US" b="1" i="1" smtClean="0">
                <a:solidFill>
                  <a:srgbClr val="FF0000"/>
                </a:solidFill>
              </a:rPr>
              <a:t>Max</a:t>
            </a:r>
            <a:r>
              <a:rPr lang="en-US" altLang="en-US" i="1" smtClean="0"/>
              <a:t>: n x m</a:t>
            </a:r>
            <a:r>
              <a:rPr lang="en-US" altLang="en-US" smtClean="0"/>
              <a:t> matrix.  If </a:t>
            </a:r>
            <a:r>
              <a:rPr lang="en-US" altLang="en-US" i="1" smtClean="0"/>
              <a:t>Max </a:t>
            </a:r>
            <a:r>
              <a:rPr lang="en-US" altLang="en-US" smtClean="0"/>
              <a:t>[</a:t>
            </a:r>
            <a:r>
              <a:rPr lang="en-US" altLang="en-US" i="1" smtClean="0"/>
              <a:t>i,j</a:t>
            </a:r>
            <a:r>
              <a:rPr lang="en-US" altLang="en-US" smtClean="0"/>
              <a:t>] = </a:t>
            </a:r>
            <a:r>
              <a:rPr lang="en-US" altLang="en-US" i="1" smtClean="0"/>
              <a:t>k</a:t>
            </a:r>
            <a:r>
              <a:rPr lang="en-US" altLang="en-US" smtClean="0"/>
              <a:t>, then process </a:t>
            </a:r>
            <a:r>
              <a:rPr lang="en-US" altLang="en-US" i="1" smtClean="0"/>
              <a:t>P</a:t>
            </a:r>
            <a:r>
              <a:rPr lang="en-US" altLang="en-US" i="1" baseline="-25000" smtClean="0"/>
              <a:t>i</a:t>
            </a:r>
            <a:r>
              <a:rPr lang="en-US" altLang="en-US" i="1" smtClean="0"/>
              <a:t> </a:t>
            </a:r>
            <a:r>
              <a:rPr lang="en-US" altLang="en-US" smtClean="0"/>
              <a:t>may request at most</a:t>
            </a:r>
            <a:r>
              <a:rPr lang="en-US" altLang="en-US" i="1" smtClean="0"/>
              <a:t> k </a:t>
            </a:r>
            <a:r>
              <a:rPr lang="en-US" altLang="en-US" smtClean="0"/>
              <a:t>instances of resource type </a:t>
            </a:r>
            <a:r>
              <a:rPr lang="en-US" altLang="en-US" i="1" smtClean="0"/>
              <a:t>R</a:t>
            </a:r>
            <a:r>
              <a:rPr lang="en-US" altLang="en-US" i="1" baseline="-25000" smtClean="0"/>
              <a:t>j</a:t>
            </a:r>
            <a:r>
              <a:rPr lang="en-US" altLang="en-US" smtClean="0"/>
              <a:t>.</a:t>
            </a:r>
          </a:p>
          <a:p>
            <a:r>
              <a:rPr lang="en-US" altLang="en-US" b="1" i="1" smtClean="0">
                <a:solidFill>
                  <a:srgbClr val="FF0000"/>
                </a:solidFill>
              </a:rPr>
              <a:t>Allocation</a:t>
            </a:r>
            <a:r>
              <a:rPr lang="en-US" altLang="en-US" i="1" smtClean="0"/>
              <a:t>:  n </a:t>
            </a:r>
            <a:r>
              <a:rPr lang="en-US" altLang="en-US" smtClean="0"/>
              <a:t>x</a:t>
            </a:r>
            <a:r>
              <a:rPr lang="en-US" altLang="en-US" i="1" smtClean="0"/>
              <a:t> m</a:t>
            </a:r>
            <a:r>
              <a:rPr lang="en-US" altLang="en-US" smtClean="0"/>
              <a:t> matrix.  If Allocation[</a:t>
            </a:r>
            <a:r>
              <a:rPr lang="en-US" altLang="en-US" i="1" smtClean="0"/>
              <a:t>i,j</a:t>
            </a:r>
            <a:r>
              <a:rPr lang="en-US" altLang="en-US" smtClean="0"/>
              <a:t>] = </a:t>
            </a:r>
            <a:r>
              <a:rPr lang="en-US" altLang="en-US" i="1" smtClean="0"/>
              <a:t>k</a:t>
            </a:r>
            <a:r>
              <a:rPr lang="en-US" altLang="en-US" smtClean="0"/>
              <a:t> then</a:t>
            </a:r>
            <a:r>
              <a:rPr lang="en-US" altLang="en-US" i="1" smtClean="0"/>
              <a:t> P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 is currently allocated </a:t>
            </a:r>
            <a:r>
              <a:rPr lang="en-US" altLang="en-US" i="1" smtClean="0"/>
              <a:t>k</a:t>
            </a:r>
            <a:r>
              <a:rPr lang="en-US" altLang="en-US" smtClean="0"/>
              <a:t> instances of </a:t>
            </a:r>
            <a:r>
              <a:rPr lang="en-US" altLang="en-US" i="1" smtClean="0"/>
              <a:t>R</a:t>
            </a:r>
            <a:r>
              <a:rPr lang="en-US" altLang="en-US" i="1" baseline="-25000" smtClean="0"/>
              <a:t>j.</a:t>
            </a:r>
            <a:endParaRPr lang="en-US" altLang="en-US" baseline="-25000" smtClean="0"/>
          </a:p>
          <a:p>
            <a:r>
              <a:rPr lang="en-US" altLang="en-US" b="1" i="1" smtClean="0">
                <a:solidFill>
                  <a:srgbClr val="FF0000"/>
                </a:solidFill>
              </a:rPr>
              <a:t>Need</a:t>
            </a:r>
            <a:r>
              <a:rPr lang="en-US" altLang="en-US" i="1" smtClean="0"/>
              <a:t>:  n </a:t>
            </a:r>
            <a:r>
              <a:rPr lang="en-US" altLang="en-US" smtClean="0"/>
              <a:t>x</a:t>
            </a:r>
            <a:r>
              <a:rPr lang="en-US" altLang="en-US" i="1" smtClean="0"/>
              <a:t> m</a:t>
            </a:r>
            <a:r>
              <a:rPr lang="en-US" altLang="en-US" smtClean="0"/>
              <a:t> matrix. If </a:t>
            </a:r>
            <a:r>
              <a:rPr lang="en-US" altLang="en-US" i="1" smtClean="0"/>
              <a:t>Need</a:t>
            </a:r>
            <a:r>
              <a:rPr lang="en-US" altLang="en-US" smtClean="0"/>
              <a:t>[</a:t>
            </a:r>
            <a:r>
              <a:rPr lang="en-US" altLang="en-US" i="1" smtClean="0"/>
              <a:t>i,j</a:t>
            </a:r>
            <a:r>
              <a:rPr lang="en-US" altLang="en-US" smtClean="0"/>
              <a:t>] =</a:t>
            </a:r>
            <a:r>
              <a:rPr lang="en-US" altLang="en-US" i="1" smtClean="0"/>
              <a:t> k</a:t>
            </a:r>
            <a:r>
              <a:rPr lang="en-US" altLang="en-US" smtClean="0"/>
              <a:t>, then</a:t>
            </a:r>
            <a:r>
              <a:rPr lang="en-US" altLang="en-US" i="1" smtClean="0"/>
              <a:t> P</a:t>
            </a:r>
            <a:r>
              <a:rPr lang="en-US" altLang="en-US" i="1" baseline="-25000" smtClean="0"/>
              <a:t>i</a:t>
            </a:r>
            <a:r>
              <a:rPr lang="en-US" altLang="en-US" smtClean="0"/>
              <a:t> may need </a:t>
            </a:r>
            <a:r>
              <a:rPr lang="en-US" altLang="en-US" i="1" smtClean="0"/>
              <a:t>k</a:t>
            </a:r>
            <a:r>
              <a:rPr lang="en-US" altLang="en-US" smtClean="0"/>
              <a:t> more instances of </a:t>
            </a:r>
            <a:r>
              <a:rPr lang="en-US" altLang="en-US" i="1" smtClean="0"/>
              <a:t>R</a:t>
            </a:r>
            <a:r>
              <a:rPr lang="en-US" altLang="en-US" i="1" baseline="-25000" smtClean="0"/>
              <a:t>j</a:t>
            </a:r>
            <a:r>
              <a:rPr lang="en-US" altLang="en-US" baseline="-25000" smtClean="0"/>
              <a:t> </a:t>
            </a:r>
            <a:r>
              <a:rPr lang="en-US" altLang="en-US" smtClean="0"/>
              <a:t>to complete its task.</a:t>
            </a:r>
          </a:p>
          <a:p>
            <a:pPr lvl="2">
              <a:buFont typeface="Webdings" panose="05030102010509060703" pitchFamily="18" charset="2"/>
              <a:buNone/>
            </a:pPr>
            <a:r>
              <a:rPr lang="en-US" altLang="en-US" smtClean="0"/>
              <a:t/>
            </a:r>
            <a:br>
              <a:rPr lang="en-US" altLang="en-US" smtClean="0"/>
            </a:br>
            <a:r>
              <a:rPr lang="en-US" altLang="en-US" i="1" smtClean="0"/>
              <a:t>Need</a:t>
            </a:r>
            <a:r>
              <a:rPr lang="en-US" altLang="en-US" smtClean="0"/>
              <a:t> [</a:t>
            </a:r>
            <a:r>
              <a:rPr lang="en-US" altLang="en-US" i="1" smtClean="0"/>
              <a:t>i,j]</a:t>
            </a:r>
            <a:r>
              <a:rPr lang="en-US" altLang="en-US" smtClean="0"/>
              <a:t> = </a:t>
            </a:r>
            <a:r>
              <a:rPr lang="en-US" altLang="en-US" i="1" smtClean="0"/>
              <a:t>Max</a:t>
            </a:r>
            <a:r>
              <a:rPr lang="en-US" altLang="en-US" smtClean="0"/>
              <a:t>[</a:t>
            </a:r>
            <a:r>
              <a:rPr lang="en-US" altLang="en-US" i="1" smtClean="0"/>
              <a:t>i,j</a:t>
            </a:r>
            <a:r>
              <a:rPr lang="en-US" altLang="en-US" smtClean="0"/>
              <a:t>] – </a:t>
            </a:r>
            <a:r>
              <a:rPr lang="en-US" altLang="en-US" i="1" smtClean="0"/>
              <a:t>Allocation</a:t>
            </a:r>
            <a:r>
              <a:rPr lang="en-US" altLang="en-US" smtClean="0"/>
              <a:t> [</a:t>
            </a:r>
            <a:r>
              <a:rPr lang="en-US" altLang="en-US" i="1" smtClean="0"/>
              <a:t>i,j</a:t>
            </a:r>
            <a:r>
              <a:rPr lang="en-US" altLang="en-US" smtClean="0"/>
              <a:t>].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333625" y="1406803"/>
            <a:ext cx="70070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/>
              <a:t>Let </a:t>
            </a:r>
            <a:r>
              <a:rPr kumimoji="0" lang="en-US" altLang="en-US" i="1"/>
              <a:t>n</a:t>
            </a:r>
            <a:r>
              <a:rPr kumimoji="0" lang="en-US" altLang="en-US"/>
              <a:t> = number of processes, and </a:t>
            </a:r>
            <a:r>
              <a:rPr kumimoji="0" lang="en-US" altLang="en-US" i="1"/>
              <a:t>m </a:t>
            </a:r>
            <a:r>
              <a:rPr kumimoji="0" lang="en-US" altLang="en-US"/>
              <a:t>= number of resources types. </a:t>
            </a:r>
          </a:p>
        </p:txBody>
      </p:sp>
    </p:spTree>
    <p:extLst>
      <p:ext uri="{BB962C8B-B14F-4D97-AF65-F5344CB8AC3E}">
        <p14:creationId xmlns:p14="http://schemas.microsoft.com/office/powerpoint/2010/main" val="218518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Safety Algorithm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1950" y="2526729"/>
            <a:ext cx="8456866" cy="378301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Let </a:t>
            </a:r>
            <a:r>
              <a:rPr lang="en-US" altLang="en-US" b="1" i="1" dirty="0" smtClean="0">
                <a:solidFill>
                  <a:srgbClr val="FF0000"/>
                </a:solidFill>
              </a:rPr>
              <a:t>Work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and </a:t>
            </a:r>
            <a:r>
              <a:rPr lang="en-US" altLang="en-US" b="1" i="1" dirty="0" smtClean="0">
                <a:solidFill>
                  <a:srgbClr val="FF0000"/>
                </a:solidFill>
              </a:rPr>
              <a:t>Finish</a:t>
            </a:r>
            <a:r>
              <a:rPr lang="en-US" altLang="en-US" dirty="0" smtClean="0"/>
              <a:t> be vectors of length</a:t>
            </a:r>
            <a:r>
              <a:rPr lang="en-US" altLang="en-US" i="1" dirty="0" smtClean="0"/>
              <a:t> m</a:t>
            </a:r>
            <a:r>
              <a:rPr lang="en-US" altLang="en-US" dirty="0" smtClean="0"/>
              <a:t> and</a:t>
            </a:r>
            <a:r>
              <a:rPr lang="en-US" altLang="en-US" i="1" dirty="0" smtClean="0"/>
              <a:t> n</a:t>
            </a:r>
            <a:r>
              <a:rPr lang="en-US" altLang="en-US" dirty="0" smtClean="0"/>
              <a:t>, respectively.  Initialize: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i="1" dirty="0" smtClean="0"/>
              <a:t>Work </a:t>
            </a:r>
            <a:r>
              <a:rPr lang="en-US" altLang="en-US" dirty="0" smtClean="0"/>
              <a:t>= </a:t>
            </a:r>
            <a:r>
              <a:rPr lang="en-US" altLang="en-US" i="1" dirty="0" smtClean="0"/>
              <a:t>Available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i="1" dirty="0" smtClean="0"/>
              <a:t>Finish </a:t>
            </a:r>
            <a:r>
              <a:rPr lang="en-US" altLang="en-US" dirty="0" smtClean="0"/>
              <a:t>[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] =</a:t>
            </a:r>
            <a:r>
              <a:rPr lang="en-US" altLang="en-US" i="1" dirty="0" smtClean="0"/>
              <a:t> false </a:t>
            </a:r>
            <a:r>
              <a:rPr lang="en-US" altLang="en-US" dirty="0" smtClean="0"/>
              <a:t>for</a:t>
            </a:r>
            <a:r>
              <a:rPr lang="en-US" altLang="en-US" i="1" dirty="0" smtClean="0"/>
              <a:t> 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 = 0, 1, …, </a:t>
            </a:r>
            <a:r>
              <a:rPr lang="en-US" altLang="en-US" i="1" dirty="0" smtClean="0"/>
              <a:t>n- </a:t>
            </a:r>
            <a:r>
              <a:rPr lang="en-US" altLang="en-US" dirty="0" smtClean="0"/>
              <a:t>1</a:t>
            </a:r>
            <a:r>
              <a:rPr lang="en-US" altLang="en-US" i="1" dirty="0" smtClean="0"/>
              <a:t>.</a:t>
            </a:r>
            <a:endParaRPr lang="en-US" altLang="en-US" dirty="0" smtClean="0"/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2.	Find and </a:t>
            </a:r>
            <a:r>
              <a:rPr lang="en-US" altLang="en-US" i="1" dirty="0" err="1" smtClean="0"/>
              <a:t>i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such that both: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(a) </a:t>
            </a:r>
            <a:r>
              <a:rPr lang="en-US" altLang="en-US" i="1" dirty="0" smtClean="0"/>
              <a:t>Finish</a:t>
            </a:r>
            <a:r>
              <a:rPr lang="en-US" altLang="en-US" dirty="0" smtClean="0"/>
              <a:t> [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] = </a:t>
            </a:r>
            <a:r>
              <a:rPr lang="en-US" altLang="en-US" i="1" dirty="0" smtClean="0"/>
              <a:t>false</a:t>
            </a:r>
            <a:endParaRPr lang="en-US" altLang="en-US" dirty="0" smtClean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(b) </a:t>
            </a:r>
            <a:r>
              <a:rPr lang="en-US" altLang="en-US" i="1" dirty="0" err="1" smtClean="0"/>
              <a:t>Need</a:t>
            </a:r>
            <a:r>
              <a:rPr lang="en-US" altLang="en-US" i="1" baseline="-25000" dirty="0" err="1" smtClean="0"/>
              <a:t>i</a:t>
            </a:r>
            <a:r>
              <a:rPr lang="en-US" altLang="en-US" dirty="0" smtClean="0"/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 </a:t>
            </a:r>
            <a:r>
              <a:rPr lang="en-US" altLang="en-US" i="1" dirty="0" smtClean="0">
                <a:sym typeface="Symbol" panose="05050102010706020507" pitchFamily="18" charset="2"/>
              </a:rPr>
              <a:t>Work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If no such </a:t>
            </a:r>
            <a:r>
              <a:rPr lang="en-US" altLang="en-US" i="1" dirty="0" err="1" smtClean="0">
                <a:sym typeface="Symbol" panose="05050102010706020507" pitchFamily="18" charset="2"/>
              </a:rPr>
              <a:t>i</a:t>
            </a:r>
            <a:r>
              <a:rPr lang="en-US" altLang="en-US" i="1" dirty="0" smtClean="0">
                <a:sym typeface="Symbol" panose="05050102010706020507" pitchFamily="18" charset="2"/>
              </a:rPr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exists, go to step 4.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3.	</a:t>
            </a:r>
            <a:r>
              <a:rPr lang="en-US" altLang="en-US" i="1" dirty="0" smtClean="0"/>
              <a:t>Work</a:t>
            </a:r>
            <a:r>
              <a:rPr lang="en-US" altLang="en-US" dirty="0" smtClean="0"/>
              <a:t> = </a:t>
            </a:r>
            <a:r>
              <a:rPr lang="en-US" altLang="en-US" i="1" dirty="0" smtClean="0"/>
              <a:t>Work </a:t>
            </a:r>
            <a:r>
              <a:rPr lang="en-US" altLang="en-US" dirty="0" smtClean="0"/>
              <a:t>+ </a:t>
            </a:r>
            <a:r>
              <a:rPr lang="en-US" altLang="en-US" i="1" dirty="0" err="1" smtClean="0"/>
              <a:t>Allocation</a:t>
            </a:r>
            <a:r>
              <a:rPr lang="en-US" altLang="en-US" i="1" baseline="-25000" dirty="0" err="1" smtClean="0"/>
              <a:t>i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i="1" dirty="0" smtClean="0"/>
              <a:t>Finish</a:t>
            </a:r>
            <a:r>
              <a:rPr lang="en-US" altLang="en-US" dirty="0" smtClean="0"/>
              <a:t>[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] =</a:t>
            </a:r>
            <a:r>
              <a:rPr lang="en-US" altLang="en-US" i="1" dirty="0" smtClean="0"/>
              <a:t> true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go to step 2.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4.	If </a:t>
            </a:r>
            <a:r>
              <a:rPr lang="en-US" altLang="en-US" i="1" dirty="0" smtClean="0"/>
              <a:t>Finish</a:t>
            </a:r>
            <a:r>
              <a:rPr lang="en-US" altLang="en-US" dirty="0" smtClean="0"/>
              <a:t> [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] == true for all </a:t>
            </a:r>
            <a:r>
              <a:rPr lang="en-US" altLang="en-US" i="1" dirty="0" err="1" smtClean="0"/>
              <a:t>i</a:t>
            </a:r>
            <a:r>
              <a:rPr lang="en-US" altLang="en-US" dirty="0" smtClean="0"/>
              <a:t>, then the system is in a safe state.</a:t>
            </a:r>
          </a:p>
        </p:txBody>
      </p:sp>
    </p:spTree>
    <p:extLst>
      <p:ext uri="{BB962C8B-B14F-4D97-AF65-F5344CB8AC3E}">
        <p14:creationId xmlns:p14="http://schemas.microsoft.com/office/powerpoint/2010/main" val="370001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7712" y="814388"/>
            <a:ext cx="7924800" cy="4572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2800" dirty="0"/>
              <a:t>Resource-Request Algorithm for Process </a:t>
            </a:r>
            <a:r>
              <a:rPr lang="en-US" sz="2800" i="1" dirty="0"/>
              <a:t>P</a:t>
            </a:r>
            <a:r>
              <a:rPr lang="en-US" sz="2800" i="1" baseline="-25000" dirty="0"/>
              <a:t>i</a:t>
            </a:r>
            <a:endParaRPr lang="en-US" sz="2800" dirty="0"/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600772"/>
            <a:ext cx="10655807" cy="46863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i="1" dirty="0" smtClean="0"/>
              <a:t>      Request</a:t>
            </a:r>
            <a:r>
              <a:rPr lang="en-US" altLang="en-US" dirty="0" smtClean="0"/>
              <a:t> = request vector for process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.  If </a:t>
            </a:r>
            <a:r>
              <a:rPr lang="en-US" altLang="en-US" i="1" dirty="0" err="1" smtClean="0"/>
              <a:t>Request</a:t>
            </a:r>
            <a:r>
              <a:rPr lang="en-US" altLang="en-US" i="1" baseline="-25000" dirty="0" err="1" smtClean="0"/>
              <a:t>i</a:t>
            </a:r>
            <a:r>
              <a:rPr lang="en-US" altLang="en-US" baseline="-25000" dirty="0" smtClean="0"/>
              <a:t> </a:t>
            </a:r>
            <a:r>
              <a:rPr lang="en-US" altLang="en-US" dirty="0" smtClean="0"/>
              <a:t>[</a:t>
            </a:r>
            <a:r>
              <a:rPr lang="en-US" altLang="en-US" i="1" dirty="0" smtClean="0"/>
              <a:t>j</a:t>
            </a:r>
            <a:r>
              <a:rPr lang="en-US" altLang="en-US" dirty="0" smtClean="0"/>
              <a:t>] = </a:t>
            </a:r>
            <a:r>
              <a:rPr lang="en-US" altLang="en-US" i="1" dirty="0" smtClean="0"/>
              <a:t>k</a:t>
            </a:r>
            <a:r>
              <a:rPr lang="en-US" altLang="en-US" dirty="0" smtClean="0"/>
              <a:t> then process </a:t>
            </a:r>
            <a:r>
              <a:rPr lang="en-US" altLang="en-US" i="1" dirty="0" smtClean="0"/>
              <a:t>P</a:t>
            </a:r>
            <a:r>
              <a:rPr lang="en-US" altLang="en-US" i="1" baseline="-25000" dirty="0" smtClean="0"/>
              <a:t>i</a:t>
            </a:r>
            <a:r>
              <a:rPr lang="en-US" altLang="en-US" dirty="0" smtClean="0"/>
              <a:t> wants </a:t>
            </a:r>
            <a:r>
              <a:rPr lang="en-US" altLang="en-US" i="1" dirty="0" smtClean="0"/>
              <a:t>k</a:t>
            </a:r>
            <a:r>
              <a:rPr lang="en-US" altLang="en-US" dirty="0" smtClean="0"/>
              <a:t> instances of resource type </a:t>
            </a:r>
            <a:r>
              <a:rPr lang="en-US" altLang="en-US" i="1" dirty="0" err="1" smtClean="0"/>
              <a:t>R</a:t>
            </a:r>
            <a:r>
              <a:rPr lang="en-US" altLang="en-US" i="1" baseline="-25000" dirty="0" err="1" smtClean="0"/>
              <a:t>j</a:t>
            </a:r>
            <a:r>
              <a:rPr lang="en-US" altLang="en-US" baseline="-25000" dirty="0" smtClean="0"/>
              <a:t>.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/>
              <a:t>1.	If </a:t>
            </a:r>
            <a:r>
              <a:rPr lang="en-US" altLang="en-US" i="1" dirty="0" err="1" smtClean="0"/>
              <a:t>Request</a:t>
            </a:r>
            <a:r>
              <a:rPr lang="en-US" altLang="en-US" i="1" baseline="-25000" dirty="0" err="1" smtClean="0"/>
              <a:t>i</a:t>
            </a:r>
            <a:r>
              <a:rPr lang="en-US" altLang="en-US" i="1" dirty="0" smtClean="0"/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 </a:t>
            </a:r>
            <a:r>
              <a:rPr lang="en-US" altLang="en-US" i="1" dirty="0" err="1" smtClean="0">
                <a:sym typeface="Symbol" panose="05050102010706020507" pitchFamily="18" charset="2"/>
              </a:rPr>
              <a:t>Need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i</a:t>
            </a:r>
            <a:r>
              <a:rPr lang="en-US" altLang="en-US" i="1" dirty="0" smtClean="0">
                <a:sym typeface="Symbol" panose="05050102010706020507" pitchFamily="18" charset="2"/>
              </a:rPr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go to step 2.  Otherwise, raise error condition, since process has exceeded its maximum claim.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2.	If </a:t>
            </a:r>
            <a:r>
              <a:rPr lang="en-US" altLang="en-US" i="1" dirty="0" err="1" smtClean="0"/>
              <a:t>Request</a:t>
            </a:r>
            <a:r>
              <a:rPr lang="en-US" altLang="en-US" i="1" baseline="-25000" dirty="0" err="1" smtClean="0"/>
              <a:t>i</a:t>
            </a:r>
            <a:r>
              <a:rPr lang="en-US" altLang="en-US" dirty="0" smtClean="0"/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 </a:t>
            </a:r>
            <a:r>
              <a:rPr lang="en-US" altLang="en-US" i="1" dirty="0" smtClean="0">
                <a:sym typeface="Symbol" panose="05050102010706020507" pitchFamily="18" charset="2"/>
              </a:rPr>
              <a:t>Available</a:t>
            </a:r>
            <a:r>
              <a:rPr lang="en-US" altLang="en-US" dirty="0" smtClean="0">
                <a:sym typeface="Symbol" panose="05050102010706020507" pitchFamily="18" charset="2"/>
              </a:rPr>
              <a:t>, go to step 3.  Otherwise </a:t>
            </a:r>
            <a:r>
              <a:rPr lang="en-US" altLang="en-US" i="1" dirty="0" smtClean="0">
                <a:sym typeface="Symbol" panose="05050102010706020507" pitchFamily="18" charset="2"/>
              </a:rPr>
              <a:t>P</a:t>
            </a:r>
            <a:r>
              <a:rPr lang="en-US" altLang="en-US" i="1" baseline="-25000" dirty="0" smtClean="0">
                <a:sym typeface="Symbol" panose="05050102010706020507" pitchFamily="18" charset="2"/>
              </a:rPr>
              <a:t>i</a:t>
            </a:r>
            <a:r>
              <a:rPr lang="en-US" altLang="en-US" dirty="0" smtClean="0">
                <a:sym typeface="Symbol" panose="05050102010706020507" pitchFamily="18" charset="2"/>
              </a:rPr>
              <a:t>  must wait, since resources are not available.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3.	Pretend to allocate requested resources to </a:t>
            </a:r>
            <a:r>
              <a:rPr lang="en-US" altLang="en-US" i="1" dirty="0" smtClean="0">
                <a:sym typeface="Symbol" panose="05050102010706020507" pitchFamily="18" charset="2"/>
              </a:rPr>
              <a:t>P</a:t>
            </a:r>
            <a:r>
              <a:rPr lang="en-US" altLang="en-US" i="1" baseline="-25000" dirty="0" smtClean="0">
                <a:sym typeface="Symbol" panose="05050102010706020507" pitchFamily="18" charset="2"/>
              </a:rPr>
              <a:t>i</a:t>
            </a:r>
            <a:r>
              <a:rPr lang="en-US" altLang="en-US" dirty="0" smtClean="0">
                <a:sym typeface="Symbol" panose="05050102010706020507" pitchFamily="18" charset="2"/>
              </a:rPr>
              <a:t> by modifying the state as follows: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		</a:t>
            </a:r>
            <a:r>
              <a:rPr lang="en-US" altLang="en-US" i="1" dirty="0" smtClean="0">
                <a:sym typeface="Symbol" panose="05050102010706020507" pitchFamily="18" charset="2"/>
              </a:rPr>
              <a:t>Available</a:t>
            </a:r>
            <a:r>
              <a:rPr lang="en-US" altLang="en-US" dirty="0" smtClean="0">
                <a:sym typeface="Symbol" panose="05050102010706020507" pitchFamily="18" charset="2"/>
              </a:rPr>
              <a:t> = </a:t>
            </a:r>
            <a:r>
              <a:rPr lang="en-US" altLang="en-US" i="1" dirty="0" smtClean="0">
                <a:sym typeface="Symbol" panose="05050102010706020507" pitchFamily="18" charset="2"/>
              </a:rPr>
              <a:t>Available  </a:t>
            </a:r>
            <a:r>
              <a:rPr lang="en-US" altLang="en-US" dirty="0" smtClean="0">
                <a:sym typeface="Symbol" panose="05050102010706020507" pitchFamily="18" charset="2"/>
              </a:rPr>
              <a:t>–</a:t>
            </a:r>
            <a:r>
              <a:rPr lang="en-US" altLang="en-US" i="1" dirty="0" smtClean="0">
                <a:sym typeface="Symbol" panose="05050102010706020507" pitchFamily="18" charset="2"/>
              </a:rPr>
              <a:t> Request;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		</a:t>
            </a:r>
            <a:r>
              <a:rPr lang="en-US" altLang="en-US" i="1" dirty="0" err="1" smtClean="0">
                <a:sym typeface="Symbol" panose="05050102010706020507" pitchFamily="18" charset="2"/>
              </a:rPr>
              <a:t>Allocation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i</a:t>
            </a:r>
            <a:r>
              <a:rPr lang="en-US" altLang="en-US" baseline="-25000" dirty="0" smtClean="0">
                <a:sym typeface="Symbol" panose="05050102010706020507" pitchFamily="18" charset="2"/>
              </a:rPr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= </a:t>
            </a:r>
            <a:r>
              <a:rPr lang="en-US" altLang="en-US" i="1" dirty="0" err="1" smtClean="0">
                <a:sym typeface="Symbol" panose="05050102010706020507" pitchFamily="18" charset="2"/>
              </a:rPr>
              <a:t>Allocation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i</a:t>
            </a:r>
            <a:r>
              <a:rPr lang="en-US" altLang="en-US" dirty="0" smtClean="0">
                <a:sym typeface="Symbol" panose="05050102010706020507" pitchFamily="18" charset="2"/>
              </a:rPr>
              <a:t> + </a:t>
            </a:r>
            <a:r>
              <a:rPr lang="en-US" altLang="en-US" i="1" dirty="0" err="1" smtClean="0">
                <a:sym typeface="Symbol" panose="05050102010706020507" pitchFamily="18" charset="2"/>
              </a:rPr>
              <a:t>Request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i</a:t>
            </a:r>
            <a:r>
              <a:rPr lang="en-US" altLang="en-US" dirty="0" smtClean="0">
                <a:sym typeface="Symbol" panose="05050102010706020507" pitchFamily="18" charset="2"/>
              </a:rPr>
              <a:t>;</a:t>
            </a:r>
          </a:p>
          <a:p>
            <a:pPr lvl="3">
              <a:lnSpc>
                <a:spcPct val="90000"/>
              </a:lnSpc>
              <a:buFontTx/>
              <a:buNone/>
            </a:pPr>
            <a:r>
              <a:rPr lang="en-US" altLang="en-US" dirty="0" smtClean="0">
                <a:sym typeface="Symbol" panose="05050102010706020507" pitchFamily="18" charset="2"/>
              </a:rPr>
              <a:t>		</a:t>
            </a:r>
            <a:r>
              <a:rPr lang="en-US" altLang="en-US" i="1" dirty="0" err="1" smtClean="0">
                <a:sym typeface="Symbol" panose="05050102010706020507" pitchFamily="18" charset="2"/>
              </a:rPr>
              <a:t>Need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i</a:t>
            </a:r>
            <a:r>
              <a:rPr lang="en-US" altLang="en-US" i="1" dirty="0" smtClean="0">
                <a:sym typeface="Symbol" panose="05050102010706020507" pitchFamily="18" charset="2"/>
              </a:rPr>
              <a:t> </a:t>
            </a:r>
            <a:r>
              <a:rPr lang="en-US" altLang="en-US" dirty="0" smtClean="0">
                <a:sym typeface="Symbol" panose="05050102010706020507" pitchFamily="18" charset="2"/>
              </a:rPr>
              <a:t>=</a:t>
            </a:r>
            <a:r>
              <a:rPr lang="en-US" altLang="en-US" i="1" dirty="0" smtClean="0">
                <a:sym typeface="Symbol" panose="05050102010706020507" pitchFamily="18" charset="2"/>
              </a:rPr>
              <a:t> </a:t>
            </a:r>
            <a:r>
              <a:rPr lang="en-US" altLang="en-US" i="1" dirty="0" err="1" smtClean="0">
                <a:sym typeface="Symbol" panose="05050102010706020507" pitchFamily="18" charset="2"/>
              </a:rPr>
              <a:t>Need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i</a:t>
            </a:r>
            <a:r>
              <a:rPr lang="en-US" altLang="en-US" dirty="0" smtClean="0">
                <a:sym typeface="Symbol" panose="05050102010706020507" pitchFamily="18" charset="2"/>
              </a:rPr>
              <a:t> – </a:t>
            </a:r>
            <a:r>
              <a:rPr lang="en-US" altLang="en-US" i="1" dirty="0" err="1" smtClean="0">
                <a:sym typeface="Symbol" panose="05050102010706020507" pitchFamily="18" charset="2"/>
              </a:rPr>
              <a:t>Request</a:t>
            </a:r>
            <a:r>
              <a:rPr lang="en-US" altLang="en-US" i="1" baseline="-25000" dirty="0" err="1" smtClean="0">
                <a:sym typeface="Symbol" panose="05050102010706020507" pitchFamily="18" charset="2"/>
              </a:rPr>
              <a:t>i</a:t>
            </a:r>
            <a:r>
              <a:rPr lang="en-US" altLang="en-US" i="1" dirty="0" smtClean="0">
                <a:sym typeface="Symbol" panose="05050102010706020507" pitchFamily="18" charset="2"/>
              </a:rPr>
              <a:t>;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i="1" dirty="0" smtClean="0">
                <a:sym typeface="Symbol" panose="05050102010706020507" pitchFamily="18" charset="2"/>
              </a:rPr>
              <a:t>If safe  the resources are allocated to Pi. </a:t>
            </a:r>
          </a:p>
          <a:p>
            <a:pPr lvl="2">
              <a:lnSpc>
                <a:spcPct val="90000"/>
              </a:lnSpc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lang="en-US" altLang="en-US" i="1" dirty="0" smtClean="0">
                <a:sym typeface="Symbol" panose="05050102010706020507" pitchFamily="18" charset="2"/>
              </a:rPr>
              <a:t>If unsafe  Pi must wait, and the old resource-allocation state is restored</a:t>
            </a:r>
          </a:p>
        </p:txBody>
      </p:sp>
    </p:spTree>
    <p:extLst>
      <p:ext uri="{BB962C8B-B14F-4D97-AF65-F5344CB8AC3E}">
        <p14:creationId xmlns:p14="http://schemas.microsoft.com/office/powerpoint/2010/main" val="5817295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2" y="576622"/>
            <a:ext cx="9601196" cy="1303867"/>
          </a:xfrm>
        </p:spPr>
        <p:txBody>
          <a:bodyPr/>
          <a:lstStyle/>
          <a:p>
            <a:pPr>
              <a:defRPr/>
            </a:pPr>
            <a:r>
              <a:rPr lang="en-US" dirty="0"/>
              <a:t>Example of Banker’s Algorithm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95402" y="1612265"/>
            <a:ext cx="7923212" cy="4540250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 smtClean="0"/>
              <a:t>5 processes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  </a:t>
            </a:r>
            <a:r>
              <a:rPr lang="en-US" altLang="en-US" dirty="0" smtClean="0"/>
              <a:t>through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; 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 smtClean="0"/>
              <a:t>      3 resource types: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 smtClean="0"/>
              <a:t>              </a:t>
            </a:r>
            <a:r>
              <a:rPr lang="en-US" altLang="en-US" i="1" dirty="0" smtClean="0"/>
              <a:t>A</a:t>
            </a:r>
            <a:r>
              <a:rPr lang="en-US" altLang="en-US" dirty="0" smtClean="0"/>
              <a:t> (10 instances),  </a:t>
            </a:r>
            <a:r>
              <a:rPr lang="en-US" altLang="en-US" i="1" dirty="0" smtClean="0"/>
              <a:t>B</a:t>
            </a:r>
            <a:r>
              <a:rPr lang="en-US" altLang="en-US" dirty="0" smtClean="0"/>
              <a:t> (5instances), and </a:t>
            </a:r>
            <a:r>
              <a:rPr lang="en-US" altLang="en-US" i="1" dirty="0" smtClean="0"/>
              <a:t>C</a:t>
            </a:r>
            <a:r>
              <a:rPr lang="en-US" altLang="en-US" dirty="0" smtClean="0"/>
              <a:t> (7 instances).</a:t>
            </a:r>
          </a:p>
          <a:p>
            <a:pPr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 smtClean="0"/>
              <a:t>Snapshot at time </a:t>
            </a:r>
            <a:r>
              <a:rPr lang="en-US" altLang="en-US" i="1" dirty="0" smtClean="0"/>
              <a:t>T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: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 smtClean="0"/>
              <a:t>			</a:t>
            </a:r>
            <a:r>
              <a:rPr lang="en-US" altLang="en-US" i="1" u="sng" dirty="0" smtClean="0"/>
              <a:t>Allocation</a:t>
            </a:r>
            <a:r>
              <a:rPr lang="en-US" altLang="en-US" i="1" dirty="0" smtClean="0"/>
              <a:t>	</a:t>
            </a:r>
            <a:r>
              <a:rPr lang="en-US" altLang="en-US" i="1" u="sng" dirty="0" smtClean="0"/>
              <a:t>Max</a:t>
            </a:r>
            <a:r>
              <a:rPr lang="en-US" altLang="en-US" i="1" dirty="0" smtClean="0"/>
              <a:t>	</a:t>
            </a:r>
            <a:r>
              <a:rPr lang="en-US" altLang="en-US" i="1" u="sng" dirty="0" smtClean="0"/>
              <a:t>Available</a:t>
            </a:r>
            <a:endParaRPr lang="en-US" altLang="en-US" i="1" dirty="0" smtClean="0"/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i="1" dirty="0" smtClean="0"/>
              <a:t>			A B C	A B C 	A B C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 smtClean="0"/>
              <a:t>		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	</a:t>
            </a:r>
            <a:r>
              <a:rPr lang="en-US" altLang="en-US" dirty="0" smtClean="0"/>
              <a:t>0 1 0	7 5 3 	3 3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	</a:t>
            </a:r>
            <a:r>
              <a:rPr lang="en-US" altLang="en-US" dirty="0" smtClean="0"/>
              <a:t>2 0 0 	3 2 2  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	3 0 2 	9 0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	2 1 1 	2 2 2</a:t>
            </a:r>
          </a:p>
          <a:p>
            <a:pPr>
              <a:buNone/>
              <a:tabLst>
                <a:tab pos="1371600" algn="l"/>
                <a:tab pos="2395538" algn="ctr"/>
                <a:tab pos="3594100" algn="ctr"/>
                <a:tab pos="4805363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	0 0 2	4 3 3  		</a:t>
            </a:r>
          </a:p>
        </p:txBody>
      </p:sp>
    </p:spTree>
    <p:extLst>
      <p:ext uri="{BB962C8B-B14F-4D97-AF65-F5344CB8AC3E}">
        <p14:creationId xmlns:p14="http://schemas.microsoft.com/office/powerpoint/2010/main" val="2575345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1" y="457876"/>
            <a:ext cx="9601196" cy="1303867"/>
          </a:xfrm>
        </p:spPr>
        <p:txBody>
          <a:bodyPr/>
          <a:lstStyle/>
          <a:p>
            <a:pPr>
              <a:defRPr/>
            </a:pPr>
            <a:r>
              <a:rPr lang="en-US" dirty="0"/>
              <a:t>Example (Cont.)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42881" y="1598613"/>
            <a:ext cx="9153716" cy="4640262"/>
          </a:xfrm>
        </p:spPr>
        <p:txBody>
          <a:bodyPr>
            <a:normAutofit fontScale="92500" lnSpcReduction="20000"/>
          </a:bodyPr>
          <a:lstStyle/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 smtClean="0"/>
              <a:t>The content of the matrix </a:t>
            </a:r>
            <a:r>
              <a:rPr lang="en-US" altLang="en-US" i="1" dirty="0" smtClean="0"/>
              <a:t>Need</a:t>
            </a:r>
            <a:r>
              <a:rPr lang="en-US" altLang="en-US" dirty="0" smtClean="0"/>
              <a:t> is defined to be </a:t>
            </a:r>
            <a:r>
              <a:rPr lang="en-US" altLang="en-US" i="1" dirty="0" smtClean="0"/>
              <a:t>Max</a:t>
            </a:r>
            <a:r>
              <a:rPr lang="en-US" altLang="en-US" dirty="0" smtClean="0"/>
              <a:t> – </a:t>
            </a:r>
            <a:r>
              <a:rPr lang="en-US" altLang="en-US" i="1" dirty="0" smtClean="0"/>
              <a:t>Allocation</a:t>
            </a:r>
            <a:r>
              <a:rPr lang="en-US" altLang="en-US" dirty="0" smtClean="0"/>
              <a:t>.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endParaRPr lang="en-US" altLang="en-US" dirty="0" smtClean="0"/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 smtClean="0"/>
              <a:t>			</a:t>
            </a:r>
            <a:r>
              <a:rPr lang="en-US" altLang="en-US" i="1" u="sng" dirty="0" smtClean="0"/>
              <a:t>Need</a:t>
            </a:r>
            <a:endParaRPr lang="en-US" altLang="en-US" u="sng" dirty="0" smtClean="0"/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 smtClean="0"/>
              <a:t>			</a:t>
            </a:r>
            <a:r>
              <a:rPr lang="en-US" altLang="en-US" i="1" dirty="0" smtClean="0"/>
              <a:t>A B C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	</a:t>
            </a:r>
            <a:r>
              <a:rPr lang="en-US" altLang="en-US" dirty="0" smtClean="0"/>
              <a:t>7 4 3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	</a:t>
            </a:r>
            <a:r>
              <a:rPr lang="en-US" altLang="en-US" dirty="0" smtClean="0"/>
              <a:t>1 2 2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	6 0 0 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	0 1 1</a:t>
            </a:r>
          </a:p>
          <a:p>
            <a:pPr>
              <a:buNone/>
              <a:tabLst>
                <a:tab pos="2452688" algn="l"/>
                <a:tab pos="3492500" algn="ctr"/>
              </a:tabLst>
            </a:pPr>
            <a:r>
              <a:rPr lang="en-US" altLang="en-US" dirty="0" smtClean="0"/>
              <a:t>		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	4 3 1 </a:t>
            </a:r>
            <a:br>
              <a:rPr lang="en-US" altLang="en-US" dirty="0" smtClean="0"/>
            </a:br>
            <a:endParaRPr lang="en-US" altLang="en-US" dirty="0" smtClean="0"/>
          </a:p>
          <a:p>
            <a:pPr>
              <a:tabLst>
                <a:tab pos="2452688" algn="l"/>
                <a:tab pos="3492500" algn="ctr"/>
              </a:tabLst>
            </a:pPr>
            <a:r>
              <a:rPr lang="en-US" altLang="en-US" dirty="0" smtClean="0"/>
              <a:t>The system is in a safe state since the sequence &lt;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&gt; satisfies safety criteria. </a:t>
            </a:r>
            <a:endParaRPr lang="en-US" altLang="en-US" baseline="-25000" dirty="0" smtClean="0"/>
          </a:p>
        </p:txBody>
      </p:sp>
    </p:spTree>
    <p:extLst>
      <p:ext uri="{BB962C8B-B14F-4D97-AF65-F5344CB8AC3E}">
        <p14:creationId xmlns:p14="http://schemas.microsoft.com/office/powerpoint/2010/main" val="2502484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95402" y="518836"/>
            <a:ext cx="9601196" cy="1303867"/>
          </a:xfrm>
        </p:spPr>
        <p:txBody>
          <a:bodyPr/>
          <a:lstStyle/>
          <a:p>
            <a:pPr>
              <a:defRPr/>
            </a:pPr>
            <a:r>
              <a:rPr lang="en-US" dirty="0"/>
              <a:t>Example:  </a:t>
            </a:r>
            <a:r>
              <a:rPr lang="en-US" i="1" dirty="0"/>
              <a:t>P</a:t>
            </a:r>
            <a:r>
              <a:rPr lang="en-US" baseline="-25000" dirty="0"/>
              <a:t>1</a:t>
            </a:r>
            <a:r>
              <a:rPr lang="en-US" dirty="0"/>
              <a:t> Request (1,0,2)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71764" y="1584960"/>
            <a:ext cx="10715436" cy="4724400"/>
          </a:xfrm>
        </p:spPr>
        <p:txBody>
          <a:bodyPr>
            <a:normAutofit fontScale="85000" lnSpcReduction="10000"/>
          </a:bodyPr>
          <a:lstStyle/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 smtClean="0"/>
              <a:t>Check that Request </a:t>
            </a:r>
            <a:r>
              <a:rPr lang="en-US" altLang="en-US" dirty="0" smtClean="0">
                <a:sym typeface="Symbol" panose="05050102010706020507" pitchFamily="18" charset="2"/>
              </a:rPr>
              <a:t> Available (that is, (1,0,2)  (3,3,2)  true</a:t>
            </a:r>
            <a:r>
              <a:rPr lang="en-US" altLang="en-US" i="1" dirty="0" smtClean="0">
                <a:sym typeface="Symbol" panose="05050102010706020507" pitchFamily="18" charset="2"/>
              </a:rPr>
              <a:t>.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 smtClean="0"/>
              <a:t>			</a:t>
            </a:r>
            <a:r>
              <a:rPr lang="en-US" altLang="en-US" i="1" u="sng" dirty="0" smtClean="0"/>
              <a:t>Allocation</a:t>
            </a:r>
            <a:r>
              <a:rPr lang="en-US" altLang="en-US" i="1" dirty="0" smtClean="0"/>
              <a:t>	</a:t>
            </a:r>
            <a:r>
              <a:rPr lang="en-US" altLang="en-US" i="1" u="sng" dirty="0" smtClean="0"/>
              <a:t>Need</a:t>
            </a:r>
            <a:r>
              <a:rPr lang="en-US" altLang="en-US" i="1" dirty="0" smtClean="0"/>
              <a:t>	</a:t>
            </a:r>
            <a:r>
              <a:rPr lang="en-US" altLang="en-US" i="1" u="sng" dirty="0" smtClean="0"/>
              <a:t>Available</a:t>
            </a:r>
            <a:endParaRPr lang="en-US" altLang="en-US" i="1" dirty="0" smtClean="0"/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i="1" dirty="0" smtClean="0"/>
              <a:t>			A B C	A B C	A B C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 smtClean="0"/>
              <a:t>		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	0 1 0 	7 4 3 	2 3 0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 smtClean="0"/>
              <a:t>		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	3 0 2	0 2 0 	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 smtClean="0"/>
              <a:t>		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	3 0 1 	6 0 0 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 smtClean="0"/>
              <a:t>		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	2 1 1 	0 1 1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 smtClean="0"/>
              <a:t>		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	0 0 2 	4 3 1 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 smtClean="0"/>
              <a:t>Executing safety algorithm shows that sequence &lt;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1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3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,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2</a:t>
            </a:r>
            <a:r>
              <a:rPr lang="en-US" altLang="en-US" dirty="0" smtClean="0"/>
              <a:t>&gt; satisfies safety requirement. 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 smtClean="0"/>
              <a:t>Can request for (3,3,0) by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4</a:t>
            </a:r>
            <a:r>
              <a:rPr lang="en-US" altLang="en-US" dirty="0" smtClean="0"/>
              <a:t> be granted?</a:t>
            </a:r>
          </a:p>
          <a:p>
            <a:pPr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r>
              <a:rPr lang="en-US" altLang="en-US" dirty="0" smtClean="0"/>
              <a:t>Can request for (0,2,0) by </a:t>
            </a:r>
            <a:r>
              <a:rPr lang="en-US" altLang="en-US" i="1" dirty="0" smtClean="0"/>
              <a:t>P</a:t>
            </a:r>
            <a:r>
              <a:rPr lang="en-US" altLang="en-US" baseline="-25000" dirty="0" smtClean="0"/>
              <a:t>0</a:t>
            </a:r>
            <a:r>
              <a:rPr lang="en-US" altLang="en-US" dirty="0" smtClean="0"/>
              <a:t> be granted?</a:t>
            </a:r>
          </a:p>
          <a:p>
            <a:pPr>
              <a:buNone/>
              <a:tabLst>
                <a:tab pos="1544638" algn="l"/>
                <a:tab pos="2452688" algn="ctr"/>
                <a:tab pos="3767138" algn="ctr"/>
                <a:tab pos="5022850" algn="ctr"/>
              </a:tabLst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7184156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77</TotalTime>
  <Words>952</Words>
  <Application>Microsoft Office PowerPoint</Application>
  <PresentationFormat>Widescreen</PresentationFormat>
  <Paragraphs>190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Garamond</vt:lpstr>
      <vt:lpstr>Helvetica</vt:lpstr>
      <vt:lpstr>Monotype Sorts</vt:lpstr>
      <vt:lpstr>Symbol</vt:lpstr>
      <vt:lpstr>Webdings</vt:lpstr>
      <vt:lpstr>Organic</vt:lpstr>
      <vt:lpstr>Operating Systems</vt:lpstr>
      <vt:lpstr>Chapter 7:  Deadlocks</vt:lpstr>
      <vt:lpstr>Chapter Objectives</vt:lpstr>
      <vt:lpstr>The Deadlock Problem</vt:lpstr>
      <vt:lpstr>Bridge Crossing Example</vt:lpstr>
      <vt:lpstr>System Model</vt:lpstr>
      <vt:lpstr>Deadlock Characterization</vt:lpstr>
      <vt:lpstr>Resource-Allocation Graph</vt:lpstr>
      <vt:lpstr>Resource-Allocation Graph (Cont.)</vt:lpstr>
      <vt:lpstr>Example of a Resource Allocation Graph</vt:lpstr>
      <vt:lpstr>Resource Allocation Graph With A Deadlock</vt:lpstr>
      <vt:lpstr>Graph With A Cycle But No Deadlock</vt:lpstr>
      <vt:lpstr>Basic Facts</vt:lpstr>
      <vt:lpstr>Methods for Handling Deadlocks</vt:lpstr>
      <vt:lpstr>Deadlock Prevention</vt:lpstr>
      <vt:lpstr>Deadlock Prevention (Cont.)</vt:lpstr>
      <vt:lpstr>Deadlock Avoidance</vt:lpstr>
      <vt:lpstr>Safe State</vt:lpstr>
      <vt:lpstr>Basic Facts</vt:lpstr>
      <vt:lpstr>Safe, Unsafe , Deadlock State </vt:lpstr>
      <vt:lpstr>Avoidance algorithms</vt:lpstr>
      <vt:lpstr>Resource-Allocation Graph Scheme</vt:lpstr>
      <vt:lpstr>Resource-Allocation Graph</vt:lpstr>
      <vt:lpstr>Unsafe State In Resource-Allocation Graph</vt:lpstr>
      <vt:lpstr>Resource-Allocation Graph Algorithm</vt:lpstr>
      <vt:lpstr>Banker’s Algorithm</vt:lpstr>
      <vt:lpstr>Data Structures for the Banker’s Algorithm </vt:lpstr>
      <vt:lpstr>Safety Algorithm</vt:lpstr>
      <vt:lpstr>Resource-Request Algorithm for Process Pi</vt:lpstr>
      <vt:lpstr>Example of Banker’s Algorithm</vt:lpstr>
      <vt:lpstr>Example (Cont.)</vt:lpstr>
      <vt:lpstr>Example:  P1 Request (1,0,2)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Operating Systems</dc:title>
  <dc:creator>Azizul Sanam</dc:creator>
  <cp:lastModifiedBy>Azizul Sanam</cp:lastModifiedBy>
  <cp:revision>5</cp:revision>
  <dcterms:created xsi:type="dcterms:W3CDTF">2023-10-10T02:30:50Z</dcterms:created>
  <dcterms:modified xsi:type="dcterms:W3CDTF">2023-10-11T02:38:59Z</dcterms:modified>
</cp:coreProperties>
</file>