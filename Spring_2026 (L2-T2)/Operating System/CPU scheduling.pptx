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317" r:id="rId23"/>
    <p:sldId id="318" r:id="rId24"/>
    <p:sldId id="319" r:id="rId2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3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10668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1066800"/>
          </a:xfrm>
          <a:custGeom>
            <a:avLst/>
            <a:gdLst/>
            <a:ahLst/>
            <a:cxnLst/>
            <a:rect l="l" t="t" r="r" b="b"/>
            <a:pathLst>
              <a:path w="9144000" h="1066800">
                <a:moveTo>
                  <a:pt x="0" y="1143"/>
                </a:moveTo>
                <a:lnTo>
                  <a:pt x="0" y="507"/>
                </a:lnTo>
                <a:lnTo>
                  <a:pt x="528" y="0"/>
                </a:lnTo>
                <a:lnTo>
                  <a:pt x="1179" y="0"/>
                </a:lnTo>
                <a:lnTo>
                  <a:pt x="9142857" y="0"/>
                </a:lnTo>
                <a:lnTo>
                  <a:pt x="9143492" y="0"/>
                </a:lnTo>
                <a:lnTo>
                  <a:pt x="9144000" y="507"/>
                </a:lnTo>
                <a:lnTo>
                  <a:pt x="9144000" y="1143"/>
                </a:lnTo>
                <a:lnTo>
                  <a:pt x="9144000" y="1065657"/>
                </a:lnTo>
                <a:lnTo>
                  <a:pt x="9144000" y="1066291"/>
                </a:lnTo>
                <a:lnTo>
                  <a:pt x="9143492" y="1066800"/>
                </a:lnTo>
                <a:lnTo>
                  <a:pt x="9142857" y="1066800"/>
                </a:lnTo>
                <a:lnTo>
                  <a:pt x="1179" y="1066800"/>
                </a:lnTo>
                <a:lnTo>
                  <a:pt x="528" y="1066800"/>
                </a:lnTo>
                <a:lnTo>
                  <a:pt x="0" y="1066291"/>
                </a:lnTo>
                <a:lnTo>
                  <a:pt x="0" y="1065657"/>
                </a:lnTo>
                <a:lnTo>
                  <a:pt x="0" y="1143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4090" y="-98932"/>
            <a:ext cx="7795818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5753" y="1150086"/>
            <a:ext cx="7092492" cy="4534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92769" y="6524745"/>
            <a:ext cx="271779" cy="21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40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5252" y="2969767"/>
            <a:ext cx="433070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0" dirty="0">
                <a:solidFill>
                  <a:srgbClr val="006FC0"/>
                </a:solidFill>
              </a:rPr>
              <a:t>CPU</a:t>
            </a:r>
            <a:r>
              <a:rPr sz="4300" spc="-50" dirty="0">
                <a:solidFill>
                  <a:srgbClr val="006FC0"/>
                </a:solidFill>
              </a:rPr>
              <a:t> </a:t>
            </a:r>
            <a:r>
              <a:rPr sz="4300" spc="-10" dirty="0">
                <a:solidFill>
                  <a:srgbClr val="006FC0"/>
                </a:solidFill>
              </a:rPr>
              <a:t>Scheduling</a:t>
            </a:r>
            <a:endParaRPr sz="4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0513" y="113538"/>
            <a:ext cx="44373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CPU</a:t>
            </a:r>
            <a:r>
              <a:rPr sz="4400" spc="-65" dirty="0"/>
              <a:t> </a:t>
            </a:r>
            <a:r>
              <a:rPr sz="4400" spc="-5" dirty="0"/>
              <a:t>Scheduling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36142" y="1154049"/>
            <a:ext cx="4259580" cy="35375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675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Basic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Concepts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Scheduling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Criteria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Scheduling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Algorithms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Thread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Scheduling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Multiple-Processor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Scheduling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Real-Time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CPU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Scheduling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Operating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Systems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Examples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Algorithm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Evaluation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4020" y="142113"/>
            <a:ext cx="42354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Basic</a:t>
            </a:r>
            <a:r>
              <a:rPr sz="4400" spc="-100" dirty="0"/>
              <a:t> </a:t>
            </a:r>
            <a:r>
              <a:rPr sz="4400" dirty="0"/>
              <a:t>Concepts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20292" y="1306144"/>
            <a:ext cx="3808095" cy="426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226695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Maximum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CPU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utilization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obtained with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multiprogramming</a:t>
            </a:r>
            <a:endParaRPr sz="2400">
              <a:latin typeface="Tahoma"/>
              <a:cs typeface="Tahoma"/>
            </a:endParaRPr>
          </a:p>
          <a:p>
            <a:pPr marL="243840" marR="5080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CPU–I/O Burst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Cycle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–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 execution consists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b="1" spc="-10" dirty="0">
                <a:solidFill>
                  <a:srgbClr val="3366FF"/>
                </a:solidFill>
                <a:latin typeface="Tahoma"/>
                <a:cs typeface="Tahoma"/>
              </a:rPr>
              <a:t>cycle</a:t>
            </a:r>
            <a:r>
              <a:rPr sz="2400" b="1" spc="6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CPU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execution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5" dirty="0">
                <a:latin typeface="Tahoma"/>
                <a:cs typeface="Tahoma"/>
              </a:rPr>
              <a:t> I/O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wait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80"/>
              </a:spcBef>
              <a:buFont typeface="Tahoma"/>
              <a:buChar char="•"/>
              <a:tabLst>
                <a:tab pos="244475" algn="l"/>
              </a:tabLst>
            </a:pPr>
            <a:r>
              <a:rPr sz="2400" b="1" spc="-10" dirty="0">
                <a:solidFill>
                  <a:srgbClr val="3366FF"/>
                </a:solidFill>
                <a:latin typeface="Tahoma"/>
                <a:cs typeface="Tahoma"/>
              </a:rPr>
              <a:t>CPU </a:t>
            </a:r>
            <a:r>
              <a:rPr sz="2400" b="1" dirty="0">
                <a:solidFill>
                  <a:srgbClr val="3366FF"/>
                </a:solidFill>
                <a:latin typeface="Tahoma"/>
                <a:cs typeface="Tahoma"/>
              </a:rPr>
              <a:t>burst</a:t>
            </a:r>
            <a:r>
              <a:rPr sz="2400" b="1" spc="-2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followed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by</a:t>
            </a:r>
            <a:endParaRPr sz="2400">
              <a:latin typeface="Tahoma"/>
              <a:cs typeface="Tahoma"/>
            </a:endParaRPr>
          </a:p>
          <a:p>
            <a:pPr marL="243840">
              <a:lnSpc>
                <a:spcPct val="100000"/>
              </a:lnSpc>
            </a:pPr>
            <a:r>
              <a:rPr sz="2400" b="1" spc="-5" dirty="0">
                <a:solidFill>
                  <a:srgbClr val="3366FF"/>
                </a:solidFill>
                <a:latin typeface="Tahoma"/>
                <a:cs typeface="Tahoma"/>
              </a:rPr>
              <a:t>I/O</a:t>
            </a:r>
            <a:r>
              <a:rPr sz="2400" b="1" spc="-40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400" b="1" spc="-5" dirty="0">
                <a:solidFill>
                  <a:srgbClr val="3366FF"/>
                </a:solidFill>
                <a:latin typeface="Tahoma"/>
                <a:cs typeface="Tahoma"/>
              </a:rPr>
              <a:t>burst</a:t>
            </a:r>
            <a:endParaRPr sz="2400">
              <a:latin typeface="Tahoma"/>
              <a:cs typeface="Tahoma"/>
            </a:endParaRPr>
          </a:p>
          <a:p>
            <a:pPr marL="243840" marR="32893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CPU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burst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distribution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main </a:t>
            </a:r>
            <a:r>
              <a:rPr sz="2400" spc="-5" dirty="0">
                <a:latin typeface="Tahoma"/>
                <a:cs typeface="Tahoma"/>
              </a:rPr>
              <a:t>concern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13672" y="2703807"/>
            <a:ext cx="1381125" cy="457200"/>
            <a:chOff x="5213672" y="2703807"/>
            <a:chExt cx="1381125" cy="457200"/>
          </a:xfrm>
        </p:grpSpPr>
        <p:sp>
          <p:nvSpPr>
            <p:cNvPr id="5" name="object 5"/>
            <p:cNvSpPr/>
            <p:nvPr/>
          </p:nvSpPr>
          <p:spPr>
            <a:xfrm>
              <a:off x="5217721" y="2707856"/>
              <a:ext cx="1372870" cy="448945"/>
            </a:xfrm>
            <a:custGeom>
              <a:avLst/>
              <a:gdLst/>
              <a:ahLst/>
              <a:cxnLst/>
              <a:rect l="l" t="t" r="r" b="b"/>
              <a:pathLst>
                <a:path w="1372870" h="448944">
                  <a:moveTo>
                    <a:pt x="1372471" y="0"/>
                  </a:moveTo>
                  <a:lnTo>
                    <a:pt x="0" y="0"/>
                  </a:lnTo>
                  <a:lnTo>
                    <a:pt x="0" y="448511"/>
                  </a:lnTo>
                  <a:lnTo>
                    <a:pt x="1372471" y="448511"/>
                  </a:lnTo>
                  <a:lnTo>
                    <a:pt x="1372471" y="0"/>
                  </a:lnTo>
                  <a:close/>
                </a:path>
              </a:pathLst>
            </a:custGeom>
            <a:solidFill>
              <a:srgbClr val="C6E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17721" y="2707856"/>
              <a:ext cx="1372870" cy="448945"/>
            </a:xfrm>
            <a:custGeom>
              <a:avLst/>
              <a:gdLst/>
              <a:ahLst/>
              <a:cxnLst/>
              <a:rect l="l" t="t" r="r" b="b"/>
              <a:pathLst>
                <a:path w="1372870" h="448944">
                  <a:moveTo>
                    <a:pt x="0" y="0"/>
                  </a:moveTo>
                  <a:lnTo>
                    <a:pt x="1372471" y="0"/>
                  </a:lnTo>
                  <a:lnTo>
                    <a:pt x="1372471" y="448511"/>
                  </a:lnTo>
                  <a:lnTo>
                    <a:pt x="0" y="448511"/>
                  </a:lnTo>
                  <a:lnTo>
                    <a:pt x="0" y="0"/>
                  </a:lnTo>
                  <a:close/>
                </a:path>
              </a:pathLst>
            </a:custGeom>
            <a:ln w="8098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6528" y="2875015"/>
              <a:ext cx="286841" cy="1170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8658" y="2872143"/>
              <a:ext cx="196263" cy="1199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7466" y="2870886"/>
              <a:ext cx="210857" cy="121195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7229833" y="1688380"/>
            <a:ext cx="129539" cy="4396105"/>
          </a:xfrm>
          <a:custGeom>
            <a:avLst/>
            <a:gdLst/>
            <a:ahLst/>
            <a:cxnLst/>
            <a:rect l="l" t="t" r="r" b="b"/>
            <a:pathLst>
              <a:path w="129540" h="4396105">
                <a:moveTo>
                  <a:pt x="0" y="884814"/>
                </a:moveTo>
                <a:lnTo>
                  <a:pt x="28937" y="879155"/>
                </a:lnTo>
                <a:lnTo>
                  <a:pt x="52472" y="863784"/>
                </a:lnTo>
                <a:lnTo>
                  <a:pt x="68291" y="841108"/>
                </a:lnTo>
                <a:lnTo>
                  <a:pt x="74078" y="813533"/>
                </a:lnTo>
                <a:lnTo>
                  <a:pt x="74078" y="510456"/>
                </a:lnTo>
                <a:lnTo>
                  <a:pt x="76865" y="482892"/>
                </a:lnTo>
                <a:lnTo>
                  <a:pt x="86082" y="461641"/>
                </a:lnTo>
                <a:lnTo>
                  <a:pt x="103016" y="447964"/>
                </a:lnTo>
                <a:lnTo>
                  <a:pt x="128952" y="443125"/>
                </a:lnTo>
                <a:lnTo>
                  <a:pt x="103016" y="437663"/>
                </a:lnTo>
                <a:lnTo>
                  <a:pt x="86082" y="422724"/>
                </a:lnTo>
                <a:lnTo>
                  <a:pt x="76865" y="400479"/>
                </a:lnTo>
                <a:lnTo>
                  <a:pt x="74078" y="373101"/>
                </a:lnTo>
                <a:lnTo>
                  <a:pt x="74078" y="72717"/>
                </a:lnTo>
                <a:lnTo>
                  <a:pt x="68291" y="44311"/>
                </a:lnTo>
                <a:lnTo>
                  <a:pt x="52472" y="21209"/>
                </a:lnTo>
                <a:lnTo>
                  <a:pt x="28937" y="5681"/>
                </a:lnTo>
                <a:lnTo>
                  <a:pt x="0" y="0"/>
                </a:lnTo>
              </a:path>
              <a:path w="129540" h="4396105">
                <a:moveTo>
                  <a:pt x="0" y="1567637"/>
                </a:moveTo>
                <a:lnTo>
                  <a:pt x="28937" y="1561955"/>
                </a:lnTo>
                <a:lnTo>
                  <a:pt x="52472" y="1546427"/>
                </a:lnTo>
                <a:lnTo>
                  <a:pt x="68291" y="1523325"/>
                </a:lnTo>
                <a:lnTo>
                  <a:pt x="74078" y="1494919"/>
                </a:lnTo>
                <a:lnTo>
                  <a:pt x="74078" y="1291671"/>
                </a:lnTo>
                <a:lnTo>
                  <a:pt x="76865" y="1264107"/>
                </a:lnTo>
                <a:lnTo>
                  <a:pt x="86082" y="1242856"/>
                </a:lnTo>
                <a:lnTo>
                  <a:pt x="103016" y="1229179"/>
                </a:lnTo>
                <a:lnTo>
                  <a:pt x="128952" y="1224340"/>
                </a:lnTo>
                <a:lnTo>
                  <a:pt x="103016" y="1218875"/>
                </a:lnTo>
                <a:lnTo>
                  <a:pt x="86082" y="1203916"/>
                </a:lnTo>
                <a:lnTo>
                  <a:pt x="76865" y="1181619"/>
                </a:lnTo>
                <a:lnTo>
                  <a:pt x="74078" y="1154137"/>
                </a:lnTo>
                <a:lnTo>
                  <a:pt x="74078" y="965611"/>
                </a:lnTo>
                <a:lnTo>
                  <a:pt x="68291" y="938036"/>
                </a:lnTo>
                <a:lnTo>
                  <a:pt x="52472" y="915360"/>
                </a:lnTo>
                <a:lnTo>
                  <a:pt x="28937" y="899989"/>
                </a:lnTo>
                <a:lnTo>
                  <a:pt x="0" y="894330"/>
                </a:lnTo>
              </a:path>
              <a:path w="129540" h="4396105">
                <a:moveTo>
                  <a:pt x="0" y="2087609"/>
                </a:moveTo>
                <a:lnTo>
                  <a:pt x="28937" y="2081947"/>
                </a:lnTo>
                <a:lnTo>
                  <a:pt x="52472" y="2066557"/>
                </a:lnTo>
                <a:lnTo>
                  <a:pt x="68291" y="2043827"/>
                </a:lnTo>
                <a:lnTo>
                  <a:pt x="74078" y="2016148"/>
                </a:lnTo>
                <a:lnTo>
                  <a:pt x="74078" y="1919192"/>
                </a:lnTo>
                <a:lnTo>
                  <a:pt x="76865" y="1892235"/>
                </a:lnTo>
                <a:lnTo>
                  <a:pt x="86082" y="1870916"/>
                </a:lnTo>
                <a:lnTo>
                  <a:pt x="103016" y="1856903"/>
                </a:lnTo>
                <a:lnTo>
                  <a:pt x="128952" y="1851862"/>
                </a:lnTo>
                <a:lnTo>
                  <a:pt x="103016" y="1846621"/>
                </a:lnTo>
                <a:lnTo>
                  <a:pt x="86082" y="1832156"/>
                </a:lnTo>
                <a:lnTo>
                  <a:pt x="76865" y="1810352"/>
                </a:lnTo>
                <a:lnTo>
                  <a:pt x="74078" y="1783095"/>
                </a:lnTo>
                <a:lnTo>
                  <a:pt x="74078" y="1639097"/>
                </a:lnTo>
                <a:lnTo>
                  <a:pt x="68291" y="1611418"/>
                </a:lnTo>
                <a:lnTo>
                  <a:pt x="52472" y="1588689"/>
                </a:lnTo>
                <a:lnTo>
                  <a:pt x="28937" y="1573298"/>
                </a:lnTo>
                <a:lnTo>
                  <a:pt x="0" y="1567637"/>
                </a:lnTo>
              </a:path>
              <a:path w="129540" h="4396105">
                <a:moveTo>
                  <a:pt x="0" y="2716567"/>
                </a:moveTo>
                <a:lnTo>
                  <a:pt x="28937" y="2710905"/>
                </a:lnTo>
                <a:lnTo>
                  <a:pt x="52472" y="2695515"/>
                </a:lnTo>
                <a:lnTo>
                  <a:pt x="68291" y="2672785"/>
                </a:lnTo>
                <a:lnTo>
                  <a:pt x="74078" y="2645106"/>
                </a:lnTo>
                <a:lnTo>
                  <a:pt x="74078" y="2494286"/>
                </a:lnTo>
                <a:lnTo>
                  <a:pt x="76865" y="2467328"/>
                </a:lnTo>
                <a:lnTo>
                  <a:pt x="86082" y="2446010"/>
                </a:lnTo>
                <a:lnTo>
                  <a:pt x="103016" y="2431996"/>
                </a:lnTo>
                <a:lnTo>
                  <a:pt x="128952" y="2426955"/>
                </a:lnTo>
                <a:lnTo>
                  <a:pt x="103016" y="2421695"/>
                </a:lnTo>
                <a:lnTo>
                  <a:pt x="86082" y="2407093"/>
                </a:lnTo>
                <a:lnTo>
                  <a:pt x="76865" y="2384916"/>
                </a:lnTo>
                <a:lnTo>
                  <a:pt x="74078" y="2356931"/>
                </a:lnTo>
                <a:lnTo>
                  <a:pt x="74078" y="2168405"/>
                </a:lnTo>
                <a:lnTo>
                  <a:pt x="68291" y="2140727"/>
                </a:lnTo>
                <a:lnTo>
                  <a:pt x="52472" y="2117997"/>
                </a:lnTo>
                <a:lnTo>
                  <a:pt x="28937" y="2102607"/>
                </a:lnTo>
                <a:lnTo>
                  <a:pt x="0" y="2096945"/>
                </a:lnTo>
              </a:path>
              <a:path w="129540" h="4396105">
                <a:moveTo>
                  <a:pt x="0" y="3722594"/>
                </a:moveTo>
                <a:lnTo>
                  <a:pt x="28937" y="3716913"/>
                </a:lnTo>
                <a:lnTo>
                  <a:pt x="52472" y="3701383"/>
                </a:lnTo>
                <a:lnTo>
                  <a:pt x="68291" y="3678275"/>
                </a:lnTo>
                <a:lnTo>
                  <a:pt x="74078" y="3649859"/>
                </a:lnTo>
                <a:lnTo>
                  <a:pt x="74078" y="3302397"/>
                </a:lnTo>
                <a:lnTo>
                  <a:pt x="76865" y="3275391"/>
                </a:lnTo>
                <a:lnTo>
                  <a:pt x="86082" y="3254072"/>
                </a:lnTo>
                <a:lnTo>
                  <a:pt x="103016" y="3240078"/>
                </a:lnTo>
                <a:lnTo>
                  <a:pt x="128952" y="3235049"/>
                </a:lnTo>
                <a:lnTo>
                  <a:pt x="103016" y="3229788"/>
                </a:lnTo>
                <a:lnTo>
                  <a:pt x="86082" y="3215184"/>
                </a:lnTo>
                <a:lnTo>
                  <a:pt x="76865" y="3193001"/>
                </a:lnTo>
                <a:lnTo>
                  <a:pt x="74078" y="3165007"/>
                </a:lnTo>
                <a:lnTo>
                  <a:pt x="74078" y="2797363"/>
                </a:lnTo>
                <a:lnTo>
                  <a:pt x="68291" y="2769685"/>
                </a:lnTo>
                <a:lnTo>
                  <a:pt x="52472" y="2746955"/>
                </a:lnTo>
                <a:lnTo>
                  <a:pt x="28937" y="2731565"/>
                </a:lnTo>
                <a:lnTo>
                  <a:pt x="0" y="2725903"/>
                </a:lnTo>
              </a:path>
              <a:path w="129540" h="4396105">
                <a:moveTo>
                  <a:pt x="0" y="4396008"/>
                </a:moveTo>
                <a:lnTo>
                  <a:pt x="28937" y="4390325"/>
                </a:lnTo>
                <a:lnTo>
                  <a:pt x="52472" y="4374790"/>
                </a:lnTo>
                <a:lnTo>
                  <a:pt x="68291" y="4351681"/>
                </a:lnTo>
                <a:lnTo>
                  <a:pt x="74078" y="4323273"/>
                </a:lnTo>
                <a:lnTo>
                  <a:pt x="74078" y="4127979"/>
                </a:lnTo>
                <a:lnTo>
                  <a:pt x="76865" y="4100983"/>
                </a:lnTo>
                <a:lnTo>
                  <a:pt x="86082" y="4079669"/>
                </a:lnTo>
                <a:lnTo>
                  <a:pt x="103016" y="4065677"/>
                </a:lnTo>
                <a:lnTo>
                  <a:pt x="128952" y="4060648"/>
                </a:lnTo>
                <a:lnTo>
                  <a:pt x="103016" y="4055409"/>
                </a:lnTo>
                <a:lnTo>
                  <a:pt x="86082" y="4040952"/>
                </a:lnTo>
                <a:lnTo>
                  <a:pt x="76865" y="4019169"/>
                </a:lnTo>
                <a:lnTo>
                  <a:pt x="74078" y="3991953"/>
                </a:lnTo>
                <a:lnTo>
                  <a:pt x="74078" y="3803409"/>
                </a:lnTo>
                <a:lnTo>
                  <a:pt x="68291" y="3774993"/>
                </a:lnTo>
                <a:lnTo>
                  <a:pt x="52472" y="3751885"/>
                </a:lnTo>
                <a:lnTo>
                  <a:pt x="28937" y="3736355"/>
                </a:lnTo>
                <a:lnTo>
                  <a:pt x="0" y="3730674"/>
                </a:lnTo>
              </a:path>
            </a:pathLst>
          </a:custGeom>
          <a:ln w="8159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213672" y="3906601"/>
            <a:ext cx="1381125" cy="458470"/>
            <a:chOff x="5213672" y="3906601"/>
            <a:chExt cx="1381125" cy="458470"/>
          </a:xfrm>
        </p:grpSpPr>
        <p:sp>
          <p:nvSpPr>
            <p:cNvPr id="12" name="object 12"/>
            <p:cNvSpPr/>
            <p:nvPr/>
          </p:nvSpPr>
          <p:spPr>
            <a:xfrm>
              <a:off x="5217721" y="3910651"/>
              <a:ext cx="1372870" cy="450215"/>
            </a:xfrm>
            <a:custGeom>
              <a:avLst/>
              <a:gdLst/>
              <a:ahLst/>
              <a:cxnLst/>
              <a:rect l="l" t="t" r="r" b="b"/>
              <a:pathLst>
                <a:path w="1372870" h="450214">
                  <a:moveTo>
                    <a:pt x="0" y="0"/>
                  </a:moveTo>
                  <a:lnTo>
                    <a:pt x="1372471" y="0"/>
                  </a:lnTo>
                  <a:lnTo>
                    <a:pt x="1372471" y="449768"/>
                  </a:lnTo>
                  <a:lnTo>
                    <a:pt x="0" y="449768"/>
                  </a:lnTo>
                  <a:lnTo>
                    <a:pt x="0" y="0"/>
                  </a:lnTo>
                  <a:close/>
                </a:path>
              </a:pathLst>
            </a:custGeom>
            <a:ln w="8098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6528" y="4077631"/>
              <a:ext cx="286841" cy="11724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8658" y="4076194"/>
              <a:ext cx="196263" cy="11868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7467" y="4074937"/>
              <a:ext cx="210857" cy="121195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5213672" y="5541605"/>
            <a:ext cx="1381125" cy="457200"/>
            <a:chOff x="5213672" y="5541605"/>
            <a:chExt cx="1381125" cy="457200"/>
          </a:xfrm>
        </p:grpSpPr>
        <p:sp>
          <p:nvSpPr>
            <p:cNvPr id="17" name="object 17"/>
            <p:cNvSpPr/>
            <p:nvPr/>
          </p:nvSpPr>
          <p:spPr>
            <a:xfrm>
              <a:off x="5217721" y="5545654"/>
              <a:ext cx="1372870" cy="448945"/>
            </a:xfrm>
            <a:custGeom>
              <a:avLst/>
              <a:gdLst/>
              <a:ahLst/>
              <a:cxnLst/>
              <a:rect l="l" t="t" r="r" b="b"/>
              <a:pathLst>
                <a:path w="1372870" h="448945">
                  <a:moveTo>
                    <a:pt x="1372471" y="0"/>
                  </a:moveTo>
                  <a:lnTo>
                    <a:pt x="0" y="0"/>
                  </a:lnTo>
                  <a:lnTo>
                    <a:pt x="0" y="448493"/>
                  </a:lnTo>
                  <a:lnTo>
                    <a:pt x="1372471" y="448493"/>
                  </a:lnTo>
                  <a:lnTo>
                    <a:pt x="1372471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17721" y="5545654"/>
              <a:ext cx="1372870" cy="448945"/>
            </a:xfrm>
            <a:custGeom>
              <a:avLst/>
              <a:gdLst/>
              <a:ahLst/>
              <a:cxnLst/>
              <a:rect l="l" t="t" r="r" b="b"/>
              <a:pathLst>
                <a:path w="1372870" h="448945">
                  <a:moveTo>
                    <a:pt x="0" y="0"/>
                  </a:moveTo>
                  <a:lnTo>
                    <a:pt x="1372471" y="0"/>
                  </a:lnTo>
                  <a:lnTo>
                    <a:pt x="1372471" y="448493"/>
                  </a:lnTo>
                  <a:lnTo>
                    <a:pt x="0" y="448493"/>
                  </a:lnTo>
                  <a:lnTo>
                    <a:pt x="0" y="0"/>
                  </a:lnTo>
                  <a:close/>
                </a:path>
              </a:pathLst>
            </a:custGeom>
            <a:ln w="8098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6528" y="5711306"/>
              <a:ext cx="286841" cy="11717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8658" y="5709959"/>
              <a:ext cx="196263" cy="11851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97466" y="5708612"/>
              <a:ext cx="210857" cy="121213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7430120" y="2072255"/>
            <a:ext cx="327025" cy="121285"/>
            <a:chOff x="7430120" y="2072255"/>
            <a:chExt cx="327025" cy="121285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30120" y="2072255"/>
              <a:ext cx="104259" cy="12119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56329" y="2074948"/>
              <a:ext cx="87980" cy="11580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64795" y="2074948"/>
              <a:ext cx="92004" cy="118501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7826854" y="2074948"/>
            <a:ext cx="349885" cy="118745"/>
            <a:chOff x="7826854" y="2074948"/>
            <a:chExt cx="349885" cy="118745"/>
          </a:xfrm>
        </p:grpSpPr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26854" y="2074948"/>
              <a:ext cx="161876" cy="11850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12143" y="2083028"/>
              <a:ext cx="164071" cy="110422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5290461" y="1895758"/>
            <a:ext cx="967740" cy="476884"/>
            <a:chOff x="5290461" y="1895758"/>
            <a:chExt cx="967740" cy="476884"/>
          </a:xfrm>
        </p:grpSpPr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90461" y="1895758"/>
              <a:ext cx="807005" cy="47688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111202" y="2255405"/>
              <a:ext cx="147320" cy="117475"/>
            </a:xfrm>
            <a:custGeom>
              <a:avLst/>
              <a:gdLst/>
              <a:ahLst/>
              <a:cxnLst/>
              <a:rect l="l" t="t" r="r" b="b"/>
              <a:pathLst>
                <a:path w="147320" h="117475">
                  <a:moveTo>
                    <a:pt x="15087" y="31051"/>
                  </a:moveTo>
                  <a:lnTo>
                    <a:pt x="0" y="31051"/>
                  </a:lnTo>
                  <a:lnTo>
                    <a:pt x="0" y="114541"/>
                  </a:lnTo>
                  <a:lnTo>
                    <a:pt x="15087" y="114541"/>
                  </a:lnTo>
                  <a:lnTo>
                    <a:pt x="15087" y="31051"/>
                  </a:lnTo>
                  <a:close/>
                </a:path>
                <a:path w="147320" h="117475">
                  <a:moveTo>
                    <a:pt x="15087" y="0"/>
                  </a:moveTo>
                  <a:lnTo>
                    <a:pt x="0" y="0"/>
                  </a:lnTo>
                  <a:lnTo>
                    <a:pt x="0" y="16154"/>
                  </a:lnTo>
                  <a:lnTo>
                    <a:pt x="15087" y="16154"/>
                  </a:lnTo>
                  <a:lnTo>
                    <a:pt x="15087" y="0"/>
                  </a:lnTo>
                  <a:close/>
                </a:path>
                <a:path w="147320" h="117475">
                  <a:moveTo>
                    <a:pt x="50774" y="0"/>
                  </a:moveTo>
                  <a:lnTo>
                    <a:pt x="37058" y="0"/>
                  </a:lnTo>
                  <a:lnTo>
                    <a:pt x="37058" y="114541"/>
                  </a:lnTo>
                  <a:lnTo>
                    <a:pt x="50774" y="114541"/>
                  </a:lnTo>
                  <a:lnTo>
                    <a:pt x="50774" y="0"/>
                  </a:lnTo>
                  <a:close/>
                </a:path>
                <a:path w="147320" h="117475">
                  <a:moveTo>
                    <a:pt x="146837" y="76847"/>
                  </a:moveTo>
                  <a:lnTo>
                    <a:pt x="145592" y="66065"/>
                  </a:lnTo>
                  <a:lnTo>
                    <a:pt x="144526" y="56769"/>
                  </a:lnTo>
                  <a:lnTo>
                    <a:pt x="137731" y="41833"/>
                  </a:lnTo>
                  <a:lnTo>
                    <a:pt x="137579" y="41490"/>
                  </a:lnTo>
                  <a:lnTo>
                    <a:pt x="131749" y="36601"/>
                  </a:lnTo>
                  <a:lnTo>
                    <a:pt x="131749" y="66065"/>
                  </a:lnTo>
                  <a:lnTo>
                    <a:pt x="83718" y="66065"/>
                  </a:lnTo>
                  <a:lnTo>
                    <a:pt x="85648" y="57124"/>
                  </a:lnTo>
                  <a:lnTo>
                    <a:pt x="90919" y="49364"/>
                  </a:lnTo>
                  <a:lnTo>
                    <a:pt x="98755" y="43903"/>
                  </a:lnTo>
                  <a:lnTo>
                    <a:pt x="108407" y="41833"/>
                  </a:lnTo>
                  <a:lnTo>
                    <a:pt x="118808" y="43903"/>
                  </a:lnTo>
                  <a:lnTo>
                    <a:pt x="125742" y="49364"/>
                  </a:lnTo>
                  <a:lnTo>
                    <a:pt x="129832" y="57124"/>
                  </a:lnTo>
                  <a:lnTo>
                    <a:pt x="131749" y="66065"/>
                  </a:lnTo>
                  <a:lnTo>
                    <a:pt x="131749" y="36601"/>
                  </a:lnTo>
                  <a:lnTo>
                    <a:pt x="125996" y="31775"/>
                  </a:lnTo>
                  <a:lnTo>
                    <a:pt x="109778" y="28359"/>
                  </a:lnTo>
                  <a:lnTo>
                    <a:pt x="91770" y="32131"/>
                  </a:lnTo>
                  <a:lnTo>
                    <a:pt x="78905" y="42329"/>
                  </a:lnTo>
                  <a:lnTo>
                    <a:pt x="71183" y="57302"/>
                  </a:lnTo>
                  <a:lnTo>
                    <a:pt x="68605" y="75399"/>
                  </a:lnTo>
                  <a:lnTo>
                    <a:pt x="71335" y="92163"/>
                  </a:lnTo>
                  <a:lnTo>
                    <a:pt x="79070" y="105410"/>
                  </a:lnTo>
                  <a:lnTo>
                    <a:pt x="91186" y="114109"/>
                  </a:lnTo>
                  <a:lnTo>
                    <a:pt x="107035" y="117246"/>
                  </a:lnTo>
                  <a:lnTo>
                    <a:pt x="120777" y="117246"/>
                  </a:lnTo>
                  <a:lnTo>
                    <a:pt x="145465" y="88874"/>
                  </a:lnTo>
                  <a:lnTo>
                    <a:pt x="131749" y="88874"/>
                  </a:lnTo>
                  <a:lnTo>
                    <a:pt x="129476" y="93675"/>
                  </a:lnTo>
                  <a:lnTo>
                    <a:pt x="124879" y="98971"/>
                  </a:lnTo>
                  <a:lnTo>
                    <a:pt x="118237" y="103263"/>
                  </a:lnTo>
                  <a:lnTo>
                    <a:pt x="109778" y="105029"/>
                  </a:lnTo>
                  <a:lnTo>
                    <a:pt x="98755" y="103073"/>
                  </a:lnTo>
                  <a:lnTo>
                    <a:pt x="90576" y="97472"/>
                  </a:lnTo>
                  <a:lnTo>
                    <a:pt x="85471" y="88595"/>
                  </a:lnTo>
                  <a:lnTo>
                    <a:pt x="83718" y="76847"/>
                  </a:lnTo>
                  <a:lnTo>
                    <a:pt x="146837" y="7684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290461" y="3305932"/>
            <a:ext cx="392529" cy="110422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5746102" y="3297859"/>
            <a:ext cx="771525" cy="118745"/>
          </a:xfrm>
          <a:custGeom>
            <a:avLst/>
            <a:gdLst/>
            <a:ahLst/>
            <a:cxnLst/>
            <a:rect l="l" t="t" r="r" b="b"/>
            <a:pathLst>
              <a:path w="771525" h="118745">
                <a:moveTo>
                  <a:pt x="21971" y="30886"/>
                </a:moveTo>
                <a:lnTo>
                  <a:pt x="0" y="30886"/>
                </a:lnTo>
                <a:lnTo>
                  <a:pt x="0" y="115811"/>
                </a:lnTo>
                <a:lnTo>
                  <a:pt x="21971" y="115811"/>
                </a:lnTo>
                <a:lnTo>
                  <a:pt x="21971" y="30886"/>
                </a:lnTo>
                <a:close/>
              </a:path>
              <a:path w="771525" h="118745">
                <a:moveTo>
                  <a:pt x="21971" y="0"/>
                </a:moveTo>
                <a:lnTo>
                  <a:pt x="0" y="0"/>
                </a:lnTo>
                <a:lnTo>
                  <a:pt x="0" y="20104"/>
                </a:lnTo>
                <a:lnTo>
                  <a:pt x="21971" y="20104"/>
                </a:lnTo>
                <a:lnTo>
                  <a:pt x="21971" y="0"/>
                </a:lnTo>
                <a:close/>
              </a:path>
              <a:path w="771525" h="118745">
                <a:moveTo>
                  <a:pt x="123545" y="56553"/>
                </a:moveTo>
                <a:lnTo>
                  <a:pt x="121691" y="47040"/>
                </a:lnTo>
                <a:lnTo>
                  <a:pt x="121145" y="44170"/>
                </a:lnTo>
                <a:lnTo>
                  <a:pt x="120345" y="43091"/>
                </a:lnTo>
                <a:lnTo>
                  <a:pt x="114617" y="35306"/>
                </a:lnTo>
                <a:lnTo>
                  <a:pt x="105003" y="29972"/>
                </a:lnTo>
                <a:lnTo>
                  <a:pt x="93345" y="28194"/>
                </a:lnTo>
                <a:lnTo>
                  <a:pt x="82702" y="29756"/>
                </a:lnTo>
                <a:lnTo>
                  <a:pt x="75145" y="33616"/>
                </a:lnTo>
                <a:lnTo>
                  <a:pt x="70180" y="38493"/>
                </a:lnTo>
                <a:lnTo>
                  <a:pt x="67259" y="43091"/>
                </a:lnTo>
                <a:lnTo>
                  <a:pt x="67259" y="30886"/>
                </a:lnTo>
                <a:lnTo>
                  <a:pt x="45313" y="30886"/>
                </a:lnTo>
                <a:lnTo>
                  <a:pt x="45313" y="115811"/>
                </a:lnTo>
                <a:lnTo>
                  <a:pt x="67259" y="115811"/>
                </a:lnTo>
                <a:lnTo>
                  <a:pt x="67259" y="67335"/>
                </a:lnTo>
                <a:lnTo>
                  <a:pt x="68694" y="58483"/>
                </a:lnTo>
                <a:lnTo>
                  <a:pt x="72580" y="52133"/>
                </a:lnTo>
                <a:lnTo>
                  <a:pt x="78270" y="48310"/>
                </a:lnTo>
                <a:lnTo>
                  <a:pt x="85115" y="47040"/>
                </a:lnTo>
                <a:lnTo>
                  <a:pt x="100203" y="47040"/>
                </a:lnTo>
                <a:lnTo>
                  <a:pt x="100203" y="115811"/>
                </a:lnTo>
                <a:lnTo>
                  <a:pt x="123545" y="115811"/>
                </a:lnTo>
                <a:lnTo>
                  <a:pt x="123545" y="56553"/>
                </a:lnTo>
                <a:close/>
              </a:path>
              <a:path w="771525" h="118745">
                <a:moveTo>
                  <a:pt x="220980" y="60502"/>
                </a:moveTo>
                <a:lnTo>
                  <a:pt x="215747" y="44704"/>
                </a:lnTo>
                <a:lnTo>
                  <a:pt x="205879" y="34785"/>
                </a:lnTo>
                <a:lnTo>
                  <a:pt x="193954" y="29654"/>
                </a:lnTo>
                <a:lnTo>
                  <a:pt x="182549" y="28194"/>
                </a:lnTo>
                <a:lnTo>
                  <a:pt x="163156" y="31775"/>
                </a:lnTo>
                <a:lnTo>
                  <a:pt x="149948" y="41694"/>
                </a:lnTo>
                <a:lnTo>
                  <a:pt x="142405" y="56667"/>
                </a:lnTo>
                <a:lnTo>
                  <a:pt x="140004" y="75412"/>
                </a:lnTo>
                <a:lnTo>
                  <a:pt x="141782" y="89484"/>
                </a:lnTo>
                <a:lnTo>
                  <a:pt x="148069" y="103492"/>
                </a:lnTo>
                <a:lnTo>
                  <a:pt x="160274" y="114211"/>
                </a:lnTo>
                <a:lnTo>
                  <a:pt x="179806" y="118503"/>
                </a:lnTo>
                <a:lnTo>
                  <a:pt x="199923" y="114363"/>
                </a:lnTo>
                <a:lnTo>
                  <a:pt x="196265" y="88874"/>
                </a:lnTo>
                <a:lnTo>
                  <a:pt x="193522" y="99644"/>
                </a:lnTo>
                <a:lnTo>
                  <a:pt x="181178" y="99644"/>
                </a:lnTo>
                <a:lnTo>
                  <a:pt x="171450" y="96558"/>
                </a:lnTo>
                <a:lnTo>
                  <a:pt x="166090" y="89027"/>
                </a:lnTo>
                <a:lnTo>
                  <a:pt x="163817" y="79730"/>
                </a:lnTo>
                <a:lnTo>
                  <a:pt x="163347" y="71285"/>
                </a:lnTo>
                <a:lnTo>
                  <a:pt x="164223" y="63550"/>
                </a:lnTo>
                <a:lnTo>
                  <a:pt x="167284" y="55664"/>
                </a:lnTo>
                <a:lnTo>
                  <a:pt x="173177" y="49517"/>
                </a:lnTo>
                <a:lnTo>
                  <a:pt x="182549" y="47040"/>
                </a:lnTo>
                <a:lnTo>
                  <a:pt x="192151" y="47040"/>
                </a:lnTo>
                <a:lnTo>
                  <a:pt x="196265" y="55118"/>
                </a:lnTo>
                <a:lnTo>
                  <a:pt x="197637" y="60502"/>
                </a:lnTo>
                <a:lnTo>
                  <a:pt x="220980" y="60502"/>
                </a:lnTo>
                <a:close/>
              </a:path>
              <a:path w="771525" h="118745">
                <a:moveTo>
                  <a:pt x="286867" y="28194"/>
                </a:moveTo>
                <a:lnTo>
                  <a:pt x="282752" y="28194"/>
                </a:lnTo>
                <a:lnTo>
                  <a:pt x="273888" y="29603"/>
                </a:lnTo>
                <a:lnTo>
                  <a:pt x="267474" y="33413"/>
                </a:lnTo>
                <a:lnTo>
                  <a:pt x="262864" y="39014"/>
                </a:lnTo>
                <a:lnTo>
                  <a:pt x="259410" y="45783"/>
                </a:lnTo>
                <a:lnTo>
                  <a:pt x="258038" y="45783"/>
                </a:lnTo>
                <a:lnTo>
                  <a:pt x="258038" y="30886"/>
                </a:lnTo>
                <a:lnTo>
                  <a:pt x="236067" y="30886"/>
                </a:lnTo>
                <a:lnTo>
                  <a:pt x="236067" y="115811"/>
                </a:lnTo>
                <a:lnTo>
                  <a:pt x="259410" y="115811"/>
                </a:lnTo>
                <a:lnTo>
                  <a:pt x="259410" y="71285"/>
                </a:lnTo>
                <a:lnTo>
                  <a:pt x="260311" y="64198"/>
                </a:lnTo>
                <a:lnTo>
                  <a:pt x="263525" y="57721"/>
                </a:lnTo>
                <a:lnTo>
                  <a:pt x="269836" y="52997"/>
                </a:lnTo>
                <a:lnTo>
                  <a:pt x="280009" y="51168"/>
                </a:lnTo>
                <a:lnTo>
                  <a:pt x="286867" y="51168"/>
                </a:lnTo>
                <a:lnTo>
                  <a:pt x="286867" y="28194"/>
                </a:lnTo>
                <a:close/>
              </a:path>
              <a:path w="771525" h="118745">
                <a:moveTo>
                  <a:pt x="376072" y="75412"/>
                </a:moveTo>
                <a:lnTo>
                  <a:pt x="362343" y="37122"/>
                </a:lnTo>
                <a:lnTo>
                  <a:pt x="352729" y="31877"/>
                </a:lnTo>
                <a:lnTo>
                  <a:pt x="352729" y="64630"/>
                </a:lnTo>
                <a:lnTo>
                  <a:pt x="317042" y="64630"/>
                </a:lnTo>
                <a:lnTo>
                  <a:pt x="318439" y="53860"/>
                </a:lnTo>
                <a:lnTo>
                  <a:pt x="325297" y="47040"/>
                </a:lnTo>
                <a:lnTo>
                  <a:pt x="343128" y="47040"/>
                </a:lnTo>
                <a:lnTo>
                  <a:pt x="351358" y="51168"/>
                </a:lnTo>
                <a:lnTo>
                  <a:pt x="352729" y="64630"/>
                </a:lnTo>
                <a:lnTo>
                  <a:pt x="352729" y="31877"/>
                </a:lnTo>
                <a:lnTo>
                  <a:pt x="349427" y="30060"/>
                </a:lnTo>
                <a:lnTo>
                  <a:pt x="336270" y="28194"/>
                </a:lnTo>
                <a:lnTo>
                  <a:pt x="313410" y="33401"/>
                </a:lnTo>
                <a:lnTo>
                  <a:pt x="300583" y="45694"/>
                </a:lnTo>
                <a:lnTo>
                  <a:pt x="294970" y="60007"/>
                </a:lnTo>
                <a:lnTo>
                  <a:pt x="293725" y="71285"/>
                </a:lnTo>
                <a:lnTo>
                  <a:pt x="297103" y="93433"/>
                </a:lnTo>
                <a:lnTo>
                  <a:pt x="306412" y="108013"/>
                </a:lnTo>
                <a:lnTo>
                  <a:pt x="320357" y="116039"/>
                </a:lnTo>
                <a:lnTo>
                  <a:pt x="337642" y="118503"/>
                </a:lnTo>
                <a:lnTo>
                  <a:pt x="349046" y="117094"/>
                </a:lnTo>
                <a:lnTo>
                  <a:pt x="359943" y="112395"/>
                </a:lnTo>
                <a:lnTo>
                  <a:pt x="369290" y="103657"/>
                </a:lnTo>
                <a:lnTo>
                  <a:pt x="371297" y="99644"/>
                </a:lnTo>
                <a:lnTo>
                  <a:pt x="376072" y="90131"/>
                </a:lnTo>
                <a:lnTo>
                  <a:pt x="352729" y="90131"/>
                </a:lnTo>
                <a:lnTo>
                  <a:pt x="349986" y="96951"/>
                </a:lnTo>
                <a:lnTo>
                  <a:pt x="343128" y="99644"/>
                </a:lnTo>
                <a:lnTo>
                  <a:pt x="337642" y="99644"/>
                </a:lnTo>
                <a:lnTo>
                  <a:pt x="326313" y="97434"/>
                </a:lnTo>
                <a:lnTo>
                  <a:pt x="320141" y="92062"/>
                </a:lnTo>
                <a:lnTo>
                  <a:pt x="317563" y="85407"/>
                </a:lnTo>
                <a:lnTo>
                  <a:pt x="317042" y="79362"/>
                </a:lnTo>
                <a:lnTo>
                  <a:pt x="376072" y="79362"/>
                </a:lnTo>
                <a:lnTo>
                  <a:pt x="376072" y="75412"/>
                </a:lnTo>
                <a:close/>
              </a:path>
              <a:path w="771525" h="118745">
                <a:moveTo>
                  <a:pt x="517436" y="56553"/>
                </a:moveTo>
                <a:lnTo>
                  <a:pt x="515594" y="47040"/>
                </a:lnTo>
                <a:lnTo>
                  <a:pt x="515035" y="44170"/>
                </a:lnTo>
                <a:lnTo>
                  <a:pt x="514248" y="43091"/>
                </a:lnTo>
                <a:lnTo>
                  <a:pt x="513181" y="41656"/>
                </a:lnTo>
                <a:lnTo>
                  <a:pt x="508520" y="35306"/>
                </a:lnTo>
                <a:lnTo>
                  <a:pt x="498906" y="29972"/>
                </a:lnTo>
                <a:lnTo>
                  <a:pt x="487248" y="28194"/>
                </a:lnTo>
                <a:lnTo>
                  <a:pt x="477608" y="29730"/>
                </a:lnTo>
                <a:lnTo>
                  <a:pt x="470941" y="33439"/>
                </a:lnTo>
                <a:lnTo>
                  <a:pt x="466585" y="37884"/>
                </a:lnTo>
                <a:lnTo>
                  <a:pt x="463905" y="41656"/>
                </a:lnTo>
                <a:lnTo>
                  <a:pt x="458889" y="35610"/>
                </a:lnTo>
                <a:lnTo>
                  <a:pt x="453618" y="31419"/>
                </a:lnTo>
                <a:lnTo>
                  <a:pt x="447306" y="28981"/>
                </a:lnTo>
                <a:lnTo>
                  <a:pt x="439216" y="28194"/>
                </a:lnTo>
                <a:lnTo>
                  <a:pt x="429361" y="29756"/>
                </a:lnTo>
                <a:lnTo>
                  <a:pt x="422224" y="33616"/>
                </a:lnTo>
                <a:lnTo>
                  <a:pt x="417398" y="38493"/>
                </a:lnTo>
                <a:lnTo>
                  <a:pt x="414502" y="43091"/>
                </a:lnTo>
                <a:lnTo>
                  <a:pt x="414502" y="30886"/>
                </a:lnTo>
                <a:lnTo>
                  <a:pt x="392531" y="30886"/>
                </a:lnTo>
                <a:lnTo>
                  <a:pt x="392531" y="115811"/>
                </a:lnTo>
                <a:lnTo>
                  <a:pt x="415874" y="115811"/>
                </a:lnTo>
                <a:lnTo>
                  <a:pt x="415874" y="55118"/>
                </a:lnTo>
                <a:lnTo>
                  <a:pt x="418617" y="47040"/>
                </a:lnTo>
                <a:lnTo>
                  <a:pt x="443331" y="47040"/>
                </a:lnTo>
                <a:lnTo>
                  <a:pt x="443331" y="115811"/>
                </a:lnTo>
                <a:lnTo>
                  <a:pt x="466648" y="115811"/>
                </a:lnTo>
                <a:lnTo>
                  <a:pt x="466648" y="55118"/>
                </a:lnTo>
                <a:lnTo>
                  <a:pt x="470763" y="47040"/>
                </a:lnTo>
                <a:lnTo>
                  <a:pt x="488619" y="47040"/>
                </a:lnTo>
                <a:lnTo>
                  <a:pt x="494106" y="51168"/>
                </a:lnTo>
                <a:lnTo>
                  <a:pt x="494106" y="115811"/>
                </a:lnTo>
                <a:lnTo>
                  <a:pt x="517436" y="115811"/>
                </a:lnTo>
                <a:lnTo>
                  <a:pt x="517436" y="56553"/>
                </a:lnTo>
                <a:close/>
              </a:path>
              <a:path w="771525" h="118745">
                <a:moveTo>
                  <a:pt x="614883" y="75412"/>
                </a:moveTo>
                <a:lnTo>
                  <a:pt x="613105" y="64630"/>
                </a:lnTo>
                <a:lnTo>
                  <a:pt x="610958" y="51523"/>
                </a:lnTo>
                <a:lnTo>
                  <a:pt x="607847" y="47040"/>
                </a:lnTo>
                <a:lnTo>
                  <a:pt x="600976" y="37122"/>
                </a:lnTo>
                <a:lnTo>
                  <a:pt x="591540" y="32118"/>
                </a:lnTo>
                <a:lnTo>
                  <a:pt x="591540" y="64630"/>
                </a:lnTo>
                <a:lnTo>
                  <a:pt x="555866" y="64630"/>
                </a:lnTo>
                <a:lnTo>
                  <a:pt x="557237" y="53860"/>
                </a:lnTo>
                <a:lnTo>
                  <a:pt x="562724" y="47040"/>
                </a:lnTo>
                <a:lnTo>
                  <a:pt x="580567" y="47040"/>
                </a:lnTo>
                <a:lnTo>
                  <a:pt x="590169" y="51168"/>
                </a:lnTo>
                <a:lnTo>
                  <a:pt x="591540" y="64630"/>
                </a:lnTo>
                <a:lnTo>
                  <a:pt x="591540" y="32118"/>
                </a:lnTo>
                <a:lnTo>
                  <a:pt x="587667" y="30060"/>
                </a:lnTo>
                <a:lnTo>
                  <a:pt x="573709" y="28194"/>
                </a:lnTo>
                <a:lnTo>
                  <a:pt x="551053" y="33401"/>
                </a:lnTo>
                <a:lnTo>
                  <a:pt x="538708" y="45694"/>
                </a:lnTo>
                <a:lnTo>
                  <a:pt x="533565" y="60007"/>
                </a:lnTo>
                <a:lnTo>
                  <a:pt x="532536" y="71285"/>
                </a:lnTo>
                <a:lnTo>
                  <a:pt x="535698" y="93433"/>
                </a:lnTo>
                <a:lnTo>
                  <a:pt x="544537" y="108013"/>
                </a:lnTo>
                <a:lnTo>
                  <a:pt x="557999" y="116039"/>
                </a:lnTo>
                <a:lnTo>
                  <a:pt x="575081" y="118503"/>
                </a:lnTo>
                <a:lnTo>
                  <a:pt x="586676" y="117094"/>
                </a:lnTo>
                <a:lnTo>
                  <a:pt x="597890" y="112395"/>
                </a:lnTo>
                <a:lnTo>
                  <a:pt x="607314" y="103657"/>
                </a:lnTo>
                <a:lnTo>
                  <a:pt x="609142" y="99644"/>
                </a:lnTo>
                <a:lnTo>
                  <a:pt x="613511" y="90131"/>
                </a:lnTo>
                <a:lnTo>
                  <a:pt x="590169" y="90131"/>
                </a:lnTo>
                <a:lnTo>
                  <a:pt x="588797" y="96951"/>
                </a:lnTo>
                <a:lnTo>
                  <a:pt x="581939" y="99644"/>
                </a:lnTo>
                <a:lnTo>
                  <a:pt x="575081" y="99644"/>
                </a:lnTo>
                <a:lnTo>
                  <a:pt x="564527" y="97434"/>
                </a:lnTo>
                <a:lnTo>
                  <a:pt x="558609" y="92062"/>
                </a:lnTo>
                <a:lnTo>
                  <a:pt x="555790" y="85407"/>
                </a:lnTo>
                <a:lnTo>
                  <a:pt x="554494" y="79362"/>
                </a:lnTo>
                <a:lnTo>
                  <a:pt x="614883" y="79362"/>
                </a:lnTo>
                <a:lnTo>
                  <a:pt x="614883" y="75412"/>
                </a:lnTo>
                <a:close/>
              </a:path>
              <a:path w="771525" h="118745">
                <a:moveTo>
                  <a:pt x="709574" y="56553"/>
                </a:moveTo>
                <a:lnTo>
                  <a:pt x="707174" y="44170"/>
                </a:lnTo>
                <a:lnTo>
                  <a:pt x="700659" y="35306"/>
                </a:lnTo>
                <a:lnTo>
                  <a:pt x="691057" y="29972"/>
                </a:lnTo>
                <a:lnTo>
                  <a:pt x="679386" y="28194"/>
                </a:lnTo>
                <a:lnTo>
                  <a:pt x="668743" y="29756"/>
                </a:lnTo>
                <a:lnTo>
                  <a:pt x="661200" y="33616"/>
                </a:lnTo>
                <a:lnTo>
                  <a:pt x="656221" y="38493"/>
                </a:lnTo>
                <a:lnTo>
                  <a:pt x="653313" y="43091"/>
                </a:lnTo>
                <a:lnTo>
                  <a:pt x="651941" y="43091"/>
                </a:lnTo>
                <a:lnTo>
                  <a:pt x="651941" y="30886"/>
                </a:lnTo>
                <a:lnTo>
                  <a:pt x="629970" y="30886"/>
                </a:lnTo>
                <a:lnTo>
                  <a:pt x="629970" y="115811"/>
                </a:lnTo>
                <a:lnTo>
                  <a:pt x="653313" y="115811"/>
                </a:lnTo>
                <a:lnTo>
                  <a:pt x="653313" y="67335"/>
                </a:lnTo>
                <a:lnTo>
                  <a:pt x="654748" y="58483"/>
                </a:lnTo>
                <a:lnTo>
                  <a:pt x="658622" y="52133"/>
                </a:lnTo>
                <a:lnTo>
                  <a:pt x="664298" y="48323"/>
                </a:lnTo>
                <a:lnTo>
                  <a:pt x="671144" y="47040"/>
                </a:lnTo>
                <a:lnTo>
                  <a:pt x="686244" y="47040"/>
                </a:lnTo>
                <a:lnTo>
                  <a:pt x="686244" y="115811"/>
                </a:lnTo>
                <a:lnTo>
                  <a:pt x="709574" y="115811"/>
                </a:lnTo>
                <a:lnTo>
                  <a:pt x="709574" y="56553"/>
                </a:lnTo>
                <a:close/>
              </a:path>
              <a:path w="771525" h="118745">
                <a:moveTo>
                  <a:pt x="771334" y="30886"/>
                </a:moveTo>
                <a:lnTo>
                  <a:pt x="756246" y="30886"/>
                </a:lnTo>
                <a:lnTo>
                  <a:pt x="756246" y="8077"/>
                </a:lnTo>
                <a:lnTo>
                  <a:pt x="734288" y="8077"/>
                </a:lnTo>
                <a:lnTo>
                  <a:pt x="734288" y="30886"/>
                </a:lnTo>
                <a:lnTo>
                  <a:pt x="721931" y="30886"/>
                </a:lnTo>
                <a:lnTo>
                  <a:pt x="721931" y="47040"/>
                </a:lnTo>
                <a:lnTo>
                  <a:pt x="734288" y="47040"/>
                </a:lnTo>
                <a:lnTo>
                  <a:pt x="734288" y="98209"/>
                </a:lnTo>
                <a:lnTo>
                  <a:pt x="735037" y="105702"/>
                </a:lnTo>
                <a:lnTo>
                  <a:pt x="738225" y="111683"/>
                </a:lnTo>
                <a:lnTo>
                  <a:pt x="745286" y="115633"/>
                </a:lnTo>
                <a:lnTo>
                  <a:pt x="757618" y="117068"/>
                </a:lnTo>
                <a:lnTo>
                  <a:pt x="767219" y="117068"/>
                </a:lnTo>
                <a:lnTo>
                  <a:pt x="771334" y="115811"/>
                </a:lnTo>
                <a:lnTo>
                  <a:pt x="771334" y="99644"/>
                </a:lnTo>
                <a:lnTo>
                  <a:pt x="757618" y="99644"/>
                </a:lnTo>
                <a:lnTo>
                  <a:pt x="756246" y="98209"/>
                </a:lnTo>
                <a:lnTo>
                  <a:pt x="756246" y="47040"/>
                </a:lnTo>
                <a:lnTo>
                  <a:pt x="771334" y="47040"/>
                </a:lnTo>
                <a:lnTo>
                  <a:pt x="771334" y="30886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5297324" y="3476862"/>
            <a:ext cx="415925" cy="118745"/>
            <a:chOff x="5297324" y="3476862"/>
            <a:chExt cx="415925" cy="118745"/>
          </a:xfrm>
        </p:grpSpPr>
        <p:sp>
          <p:nvSpPr>
            <p:cNvPr id="35" name="object 35"/>
            <p:cNvSpPr/>
            <p:nvPr/>
          </p:nvSpPr>
          <p:spPr>
            <a:xfrm>
              <a:off x="5297322" y="3476866"/>
              <a:ext cx="23495" cy="116205"/>
            </a:xfrm>
            <a:custGeom>
              <a:avLst/>
              <a:gdLst/>
              <a:ahLst/>
              <a:cxnLst/>
              <a:rect l="l" t="t" r="r" b="b"/>
              <a:pathLst>
                <a:path w="23495" h="116204">
                  <a:moveTo>
                    <a:pt x="23329" y="31064"/>
                  </a:moveTo>
                  <a:lnTo>
                    <a:pt x="0" y="31064"/>
                  </a:lnTo>
                  <a:lnTo>
                    <a:pt x="0" y="115989"/>
                  </a:lnTo>
                  <a:lnTo>
                    <a:pt x="23329" y="115989"/>
                  </a:lnTo>
                  <a:lnTo>
                    <a:pt x="23329" y="31064"/>
                  </a:lnTo>
                  <a:close/>
                </a:path>
                <a:path w="23495" h="116204">
                  <a:moveTo>
                    <a:pt x="23329" y="0"/>
                  </a:moveTo>
                  <a:lnTo>
                    <a:pt x="0" y="0"/>
                  </a:lnTo>
                  <a:lnTo>
                    <a:pt x="0" y="21729"/>
                  </a:lnTo>
                  <a:lnTo>
                    <a:pt x="23329" y="21729"/>
                  </a:lnTo>
                  <a:lnTo>
                    <a:pt x="23329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42616" y="3478298"/>
              <a:ext cx="370572" cy="117245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287717" y="3656051"/>
            <a:ext cx="377420" cy="11850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718676" y="3665567"/>
            <a:ext cx="129007" cy="108985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5901203" y="3656051"/>
            <a:ext cx="201930" cy="118745"/>
            <a:chOff x="5901203" y="3656051"/>
            <a:chExt cx="201930" cy="118745"/>
          </a:xfrm>
        </p:grpSpPr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901203" y="3656051"/>
              <a:ext cx="68628" cy="11724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993168" y="3657498"/>
              <a:ext cx="109855" cy="117475"/>
            </a:xfrm>
            <a:custGeom>
              <a:avLst/>
              <a:gdLst/>
              <a:ahLst/>
              <a:cxnLst/>
              <a:rect l="l" t="t" r="r" b="b"/>
              <a:pathLst>
                <a:path w="109854" h="117475">
                  <a:moveTo>
                    <a:pt x="13716" y="0"/>
                  </a:moveTo>
                  <a:lnTo>
                    <a:pt x="0" y="0"/>
                  </a:lnTo>
                  <a:lnTo>
                    <a:pt x="0" y="115798"/>
                  </a:lnTo>
                  <a:lnTo>
                    <a:pt x="13716" y="115798"/>
                  </a:lnTo>
                  <a:lnTo>
                    <a:pt x="13716" y="0"/>
                  </a:lnTo>
                  <a:close/>
                </a:path>
                <a:path w="109854" h="117475">
                  <a:moveTo>
                    <a:pt x="109804" y="78105"/>
                  </a:moveTo>
                  <a:lnTo>
                    <a:pt x="108559" y="67322"/>
                  </a:lnTo>
                  <a:lnTo>
                    <a:pt x="107480" y="58026"/>
                  </a:lnTo>
                  <a:lnTo>
                    <a:pt x="100533" y="42748"/>
                  </a:lnTo>
                  <a:lnTo>
                    <a:pt x="99225" y="41656"/>
                  </a:lnTo>
                  <a:lnTo>
                    <a:pt x="94691" y="37858"/>
                  </a:lnTo>
                  <a:lnTo>
                    <a:pt x="94691" y="67322"/>
                  </a:lnTo>
                  <a:lnTo>
                    <a:pt x="46659" y="67322"/>
                  </a:lnTo>
                  <a:lnTo>
                    <a:pt x="81178" y="43764"/>
                  </a:lnTo>
                  <a:lnTo>
                    <a:pt x="94691" y="67322"/>
                  </a:lnTo>
                  <a:lnTo>
                    <a:pt x="94691" y="37858"/>
                  </a:lnTo>
                  <a:lnTo>
                    <a:pt x="88950" y="33032"/>
                  </a:lnTo>
                  <a:lnTo>
                    <a:pt x="72745" y="29616"/>
                  </a:lnTo>
                  <a:lnTo>
                    <a:pt x="54140" y="33159"/>
                  </a:lnTo>
                  <a:lnTo>
                    <a:pt x="41338" y="42887"/>
                  </a:lnTo>
                  <a:lnTo>
                    <a:pt x="33947" y="57416"/>
                  </a:lnTo>
                  <a:lnTo>
                    <a:pt x="31572" y="75399"/>
                  </a:lnTo>
                  <a:lnTo>
                    <a:pt x="34099" y="92138"/>
                  </a:lnTo>
                  <a:lnTo>
                    <a:pt x="41516" y="105321"/>
                  </a:lnTo>
                  <a:lnTo>
                    <a:pt x="53555" y="113957"/>
                  </a:lnTo>
                  <a:lnTo>
                    <a:pt x="69977" y="117055"/>
                  </a:lnTo>
                  <a:lnTo>
                    <a:pt x="83718" y="117055"/>
                  </a:lnTo>
                  <a:lnTo>
                    <a:pt x="89204" y="114363"/>
                  </a:lnTo>
                  <a:lnTo>
                    <a:pt x="93319" y="111671"/>
                  </a:lnTo>
                  <a:lnTo>
                    <a:pt x="100114" y="105867"/>
                  </a:lnTo>
                  <a:lnTo>
                    <a:pt x="100660" y="105029"/>
                  </a:lnTo>
                  <a:lnTo>
                    <a:pt x="104470" y="99263"/>
                  </a:lnTo>
                  <a:lnTo>
                    <a:pt x="107010" y="93167"/>
                  </a:lnTo>
                  <a:lnTo>
                    <a:pt x="108407" y="88874"/>
                  </a:lnTo>
                  <a:lnTo>
                    <a:pt x="93319" y="88874"/>
                  </a:lnTo>
                  <a:lnTo>
                    <a:pt x="91821" y="94195"/>
                  </a:lnTo>
                  <a:lnTo>
                    <a:pt x="87490" y="99441"/>
                  </a:lnTo>
                  <a:lnTo>
                    <a:pt x="80581" y="103441"/>
                  </a:lnTo>
                  <a:lnTo>
                    <a:pt x="71374" y="105029"/>
                  </a:lnTo>
                  <a:lnTo>
                    <a:pt x="60553" y="103276"/>
                  </a:lnTo>
                  <a:lnTo>
                    <a:pt x="52832" y="98094"/>
                  </a:lnTo>
                  <a:lnTo>
                    <a:pt x="48196" y="89649"/>
                  </a:lnTo>
                  <a:lnTo>
                    <a:pt x="46659" y="78105"/>
                  </a:lnTo>
                  <a:lnTo>
                    <a:pt x="109804" y="7810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5290461" y="4717362"/>
            <a:ext cx="967740" cy="476884"/>
            <a:chOff x="5290461" y="4717362"/>
            <a:chExt cx="967740" cy="476884"/>
          </a:xfrm>
        </p:grpSpPr>
        <p:pic>
          <p:nvPicPr>
            <p:cNvPr id="43" name="object 4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90461" y="4717362"/>
              <a:ext cx="807005" cy="47677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111202" y="5076964"/>
              <a:ext cx="147320" cy="117475"/>
            </a:xfrm>
            <a:custGeom>
              <a:avLst/>
              <a:gdLst/>
              <a:ahLst/>
              <a:cxnLst/>
              <a:rect l="l" t="t" r="r" b="b"/>
              <a:pathLst>
                <a:path w="147320" h="117475">
                  <a:moveTo>
                    <a:pt x="15087" y="30975"/>
                  </a:moveTo>
                  <a:lnTo>
                    <a:pt x="0" y="30975"/>
                  </a:lnTo>
                  <a:lnTo>
                    <a:pt x="0" y="114477"/>
                  </a:lnTo>
                  <a:lnTo>
                    <a:pt x="15087" y="114477"/>
                  </a:lnTo>
                  <a:lnTo>
                    <a:pt x="15087" y="30975"/>
                  </a:lnTo>
                  <a:close/>
                </a:path>
                <a:path w="147320" h="117475">
                  <a:moveTo>
                    <a:pt x="15087" y="0"/>
                  </a:moveTo>
                  <a:lnTo>
                    <a:pt x="0" y="0"/>
                  </a:lnTo>
                  <a:lnTo>
                    <a:pt x="0" y="14820"/>
                  </a:lnTo>
                  <a:lnTo>
                    <a:pt x="15087" y="14820"/>
                  </a:lnTo>
                  <a:lnTo>
                    <a:pt x="15087" y="0"/>
                  </a:lnTo>
                  <a:close/>
                </a:path>
                <a:path w="147320" h="117475">
                  <a:moveTo>
                    <a:pt x="50774" y="0"/>
                  </a:moveTo>
                  <a:lnTo>
                    <a:pt x="37058" y="0"/>
                  </a:lnTo>
                  <a:lnTo>
                    <a:pt x="37058" y="114477"/>
                  </a:lnTo>
                  <a:lnTo>
                    <a:pt x="50774" y="114477"/>
                  </a:lnTo>
                  <a:lnTo>
                    <a:pt x="50774" y="0"/>
                  </a:lnTo>
                  <a:close/>
                </a:path>
                <a:path w="147320" h="117475">
                  <a:moveTo>
                    <a:pt x="146837" y="76784"/>
                  </a:moveTo>
                  <a:lnTo>
                    <a:pt x="145592" y="66001"/>
                  </a:lnTo>
                  <a:lnTo>
                    <a:pt x="144526" y="56705"/>
                  </a:lnTo>
                  <a:lnTo>
                    <a:pt x="137579" y="41414"/>
                  </a:lnTo>
                  <a:lnTo>
                    <a:pt x="136385" y="40424"/>
                  </a:lnTo>
                  <a:lnTo>
                    <a:pt x="131749" y="36537"/>
                  </a:lnTo>
                  <a:lnTo>
                    <a:pt x="131749" y="66001"/>
                  </a:lnTo>
                  <a:lnTo>
                    <a:pt x="83718" y="66001"/>
                  </a:lnTo>
                  <a:lnTo>
                    <a:pt x="85648" y="56324"/>
                  </a:lnTo>
                  <a:lnTo>
                    <a:pt x="90919" y="48158"/>
                  </a:lnTo>
                  <a:lnTo>
                    <a:pt x="98755" y="42519"/>
                  </a:lnTo>
                  <a:lnTo>
                    <a:pt x="108407" y="40424"/>
                  </a:lnTo>
                  <a:lnTo>
                    <a:pt x="118808" y="42519"/>
                  </a:lnTo>
                  <a:lnTo>
                    <a:pt x="125742" y="48158"/>
                  </a:lnTo>
                  <a:lnTo>
                    <a:pt x="129832" y="56324"/>
                  </a:lnTo>
                  <a:lnTo>
                    <a:pt x="131749" y="66001"/>
                  </a:lnTo>
                  <a:lnTo>
                    <a:pt x="131749" y="36537"/>
                  </a:lnTo>
                  <a:lnTo>
                    <a:pt x="125996" y="31699"/>
                  </a:lnTo>
                  <a:lnTo>
                    <a:pt x="109778" y="28282"/>
                  </a:lnTo>
                  <a:lnTo>
                    <a:pt x="91770" y="31864"/>
                  </a:lnTo>
                  <a:lnTo>
                    <a:pt x="78905" y="41757"/>
                  </a:lnTo>
                  <a:lnTo>
                    <a:pt x="71183" y="56705"/>
                  </a:lnTo>
                  <a:lnTo>
                    <a:pt x="68605" y="75425"/>
                  </a:lnTo>
                  <a:lnTo>
                    <a:pt x="71335" y="92176"/>
                  </a:lnTo>
                  <a:lnTo>
                    <a:pt x="79070" y="105397"/>
                  </a:lnTo>
                  <a:lnTo>
                    <a:pt x="91186" y="114058"/>
                  </a:lnTo>
                  <a:lnTo>
                    <a:pt x="107035" y="117170"/>
                  </a:lnTo>
                  <a:lnTo>
                    <a:pt x="120777" y="117170"/>
                  </a:lnTo>
                  <a:lnTo>
                    <a:pt x="126263" y="113131"/>
                  </a:lnTo>
                  <a:lnTo>
                    <a:pt x="130378" y="110439"/>
                  </a:lnTo>
                  <a:lnTo>
                    <a:pt x="136804" y="105054"/>
                  </a:lnTo>
                  <a:lnTo>
                    <a:pt x="137363" y="104597"/>
                  </a:lnTo>
                  <a:lnTo>
                    <a:pt x="142036" y="97993"/>
                  </a:lnTo>
                  <a:lnTo>
                    <a:pt x="144653" y="91884"/>
                  </a:lnTo>
                  <a:lnTo>
                    <a:pt x="145465" y="87553"/>
                  </a:lnTo>
                  <a:lnTo>
                    <a:pt x="131749" y="87553"/>
                  </a:lnTo>
                  <a:lnTo>
                    <a:pt x="129476" y="93129"/>
                  </a:lnTo>
                  <a:lnTo>
                    <a:pt x="124879" y="98831"/>
                  </a:lnTo>
                  <a:lnTo>
                    <a:pt x="118237" y="103263"/>
                  </a:lnTo>
                  <a:lnTo>
                    <a:pt x="109778" y="105054"/>
                  </a:lnTo>
                  <a:lnTo>
                    <a:pt x="98755" y="103098"/>
                  </a:lnTo>
                  <a:lnTo>
                    <a:pt x="90576" y="97485"/>
                  </a:lnTo>
                  <a:lnTo>
                    <a:pt x="85471" y="88582"/>
                  </a:lnTo>
                  <a:lnTo>
                    <a:pt x="83718" y="76784"/>
                  </a:lnTo>
                  <a:lnTo>
                    <a:pt x="146837" y="767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5" name="object 4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438351" y="2853290"/>
            <a:ext cx="197726" cy="121374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7697719" y="2855983"/>
            <a:ext cx="353060" cy="117475"/>
            <a:chOff x="7697719" y="2855983"/>
            <a:chExt cx="353060" cy="117475"/>
          </a:xfrm>
        </p:grpSpPr>
        <p:pic>
          <p:nvPicPr>
            <p:cNvPr id="47" name="object 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97719" y="2855983"/>
              <a:ext cx="162059" cy="11724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884471" y="2864063"/>
              <a:ext cx="166083" cy="109165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438351" y="4056085"/>
            <a:ext cx="197726" cy="121195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7697719" y="4058778"/>
            <a:ext cx="353060" cy="117475"/>
            <a:chOff x="7697719" y="4058778"/>
            <a:chExt cx="353060" cy="117475"/>
          </a:xfrm>
        </p:grpSpPr>
        <p:pic>
          <p:nvPicPr>
            <p:cNvPr id="51" name="object 5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97719" y="4058778"/>
              <a:ext cx="162059" cy="11724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884471" y="4066858"/>
              <a:ext cx="166083" cy="109165"/>
            </a:xfrm>
            <a:prstGeom prst="rect">
              <a:avLst/>
            </a:prstGeom>
          </p:spPr>
        </p:pic>
      </p:grpSp>
      <p:pic>
        <p:nvPicPr>
          <p:cNvPr id="53" name="object 5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438351" y="5689760"/>
            <a:ext cx="197726" cy="121213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7697719" y="5693800"/>
            <a:ext cx="353060" cy="117475"/>
            <a:chOff x="7697719" y="5693800"/>
            <a:chExt cx="353060" cy="117475"/>
          </a:xfrm>
        </p:grpSpPr>
        <p:pic>
          <p:nvPicPr>
            <p:cNvPr id="55" name="object 5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697719" y="5693800"/>
              <a:ext cx="162059" cy="11717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884471" y="5701879"/>
              <a:ext cx="166083" cy="109093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7430120" y="3482428"/>
            <a:ext cx="327025" cy="121285"/>
            <a:chOff x="7430120" y="3482428"/>
            <a:chExt cx="327025" cy="121285"/>
          </a:xfrm>
        </p:grpSpPr>
        <p:pic>
          <p:nvPicPr>
            <p:cNvPr id="58" name="object 5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30120" y="3482428"/>
              <a:ext cx="104259" cy="12119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556329" y="3486378"/>
              <a:ext cx="87980" cy="11455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664795" y="3486378"/>
              <a:ext cx="92004" cy="117245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7826854" y="3486378"/>
            <a:ext cx="349885" cy="117475"/>
            <a:chOff x="7826854" y="3486378"/>
            <a:chExt cx="349885" cy="117475"/>
          </a:xfrm>
        </p:grpSpPr>
        <p:pic>
          <p:nvPicPr>
            <p:cNvPr id="62" name="object 6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826854" y="3486378"/>
              <a:ext cx="161876" cy="11724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012143" y="3493201"/>
              <a:ext cx="164071" cy="110422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7430120" y="4862814"/>
            <a:ext cx="327025" cy="121285"/>
            <a:chOff x="7430120" y="4862814"/>
            <a:chExt cx="327025" cy="121285"/>
          </a:xfrm>
        </p:grpSpPr>
        <p:pic>
          <p:nvPicPr>
            <p:cNvPr id="65" name="object 6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430120" y="4862814"/>
              <a:ext cx="104259" cy="12121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556329" y="4866854"/>
              <a:ext cx="87980" cy="11448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64795" y="4866854"/>
              <a:ext cx="92004" cy="117173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7826854" y="4866854"/>
            <a:ext cx="349885" cy="117475"/>
            <a:chOff x="7826854" y="4866854"/>
            <a:chExt cx="349885" cy="117475"/>
          </a:xfrm>
        </p:grpSpPr>
        <p:pic>
          <p:nvPicPr>
            <p:cNvPr id="69" name="object 6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826854" y="4866854"/>
              <a:ext cx="161876" cy="11717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012143" y="4873605"/>
              <a:ext cx="164071" cy="110422"/>
            </a:xfrm>
            <a:prstGeom prst="rect">
              <a:avLst/>
            </a:prstGeom>
          </p:spPr>
        </p:pic>
      </p:grpSp>
      <p:sp>
        <p:nvSpPr>
          <p:cNvPr id="71" name="object 71"/>
          <p:cNvSpPr/>
          <p:nvPr/>
        </p:nvSpPr>
        <p:spPr>
          <a:xfrm>
            <a:off x="5876510" y="1208986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7436" y="0"/>
                </a:moveTo>
                <a:lnTo>
                  <a:pt x="16783" y="2112"/>
                </a:lnTo>
                <a:lnTo>
                  <a:pt x="8059" y="7877"/>
                </a:lnTo>
                <a:lnTo>
                  <a:pt x="2164" y="16437"/>
                </a:lnTo>
                <a:lnTo>
                  <a:pt x="0" y="26932"/>
                </a:lnTo>
                <a:lnTo>
                  <a:pt x="2164" y="37351"/>
                </a:lnTo>
                <a:lnTo>
                  <a:pt x="8059" y="45919"/>
                </a:lnTo>
                <a:lnTo>
                  <a:pt x="16783" y="51726"/>
                </a:lnTo>
                <a:lnTo>
                  <a:pt x="27436" y="53864"/>
                </a:lnTo>
                <a:lnTo>
                  <a:pt x="37307" y="51726"/>
                </a:lnTo>
                <a:lnTo>
                  <a:pt x="45629" y="45919"/>
                </a:lnTo>
                <a:lnTo>
                  <a:pt x="51376" y="37351"/>
                </a:lnTo>
                <a:lnTo>
                  <a:pt x="53519" y="26932"/>
                </a:lnTo>
                <a:lnTo>
                  <a:pt x="51376" y="16437"/>
                </a:lnTo>
                <a:lnTo>
                  <a:pt x="45629" y="7877"/>
                </a:lnTo>
                <a:lnTo>
                  <a:pt x="37307" y="2112"/>
                </a:lnTo>
                <a:lnTo>
                  <a:pt x="27436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876510" y="1370580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7436" y="0"/>
                </a:moveTo>
                <a:lnTo>
                  <a:pt x="16783" y="2112"/>
                </a:lnTo>
                <a:lnTo>
                  <a:pt x="8059" y="7877"/>
                </a:lnTo>
                <a:lnTo>
                  <a:pt x="2164" y="16437"/>
                </a:lnTo>
                <a:lnTo>
                  <a:pt x="0" y="26932"/>
                </a:lnTo>
                <a:lnTo>
                  <a:pt x="2164" y="37351"/>
                </a:lnTo>
                <a:lnTo>
                  <a:pt x="8059" y="45919"/>
                </a:lnTo>
                <a:lnTo>
                  <a:pt x="16783" y="51726"/>
                </a:lnTo>
                <a:lnTo>
                  <a:pt x="27436" y="53864"/>
                </a:lnTo>
                <a:lnTo>
                  <a:pt x="37307" y="51726"/>
                </a:lnTo>
                <a:lnTo>
                  <a:pt x="45629" y="45919"/>
                </a:lnTo>
                <a:lnTo>
                  <a:pt x="51376" y="37351"/>
                </a:lnTo>
                <a:lnTo>
                  <a:pt x="53519" y="26932"/>
                </a:lnTo>
                <a:lnTo>
                  <a:pt x="51376" y="16437"/>
                </a:lnTo>
                <a:lnTo>
                  <a:pt x="45629" y="7877"/>
                </a:lnTo>
                <a:lnTo>
                  <a:pt x="37307" y="2112"/>
                </a:lnTo>
                <a:lnTo>
                  <a:pt x="27436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876510" y="1532173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7436" y="0"/>
                </a:moveTo>
                <a:lnTo>
                  <a:pt x="16783" y="2112"/>
                </a:lnTo>
                <a:lnTo>
                  <a:pt x="8059" y="7877"/>
                </a:lnTo>
                <a:lnTo>
                  <a:pt x="2164" y="16437"/>
                </a:lnTo>
                <a:lnTo>
                  <a:pt x="0" y="26932"/>
                </a:lnTo>
                <a:lnTo>
                  <a:pt x="2164" y="37351"/>
                </a:lnTo>
                <a:lnTo>
                  <a:pt x="8059" y="45919"/>
                </a:lnTo>
                <a:lnTo>
                  <a:pt x="16783" y="51726"/>
                </a:lnTo>
                <a:lnTo>
                  <a:pt x="27436" y="53864"/>
                </a:lnTo>
                <a:lnTo>
                  <a:pt x="37307" y="51726"/>
                </a:lnTo>
                <a:lnTo>
                  <a:pt x="45629" y="45919"/>
                </a:lnTo>
                <a:lnTo>
                  <a:pt x="51376" y="37351"/>
                </a:lnTo>
                <a:lnTo>
                  <a:pt x="53519" y="26932"/>
                </a:lnTo>
                <a:lnTo>
                  <a:pt x="51376" y="16437"/>
                </a:lnTo>
                <a:lnTo>
                  <a:pt x="45629" y="7877"/>
                </a:lnTo>
                <a:lnTo>
                  <a:pt x="37307" y="2112"/>
                </a:lnTo>
                <a:lnTo>
                  <a:pt x="27436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876510" y="6140947"/>
            <a:ext cx="53975" cy="52705"/>
          </a:xfrm>
          <a:custGeom>
            <a:avLst/>
            <a:gdLst/>
            <a:ahLst/>
            <a:cxnLst/>
            <a:rect l="l" t="t" r="r" b="b"/>
            <a:pathLst>
              <a:path w="53975" h="52704">
                <a:moveTo>
                  <a:pt x="27436" y="0"/>
                </a:moveTo>
                <a:lnTo>
                  <a:pt x="16783" y="1914"/>
                </a:lnTo>
                <a:lnTo>
                  <a:pt x="8059" y="7238"/>
                </a:lnTo>
                <a:lnTo>
                  <a:pt x="2164" y="15338"/>
                </a:lnTo>
                <a:lnTo>
                  <a:pt x="0" y="25585"/>
                </a:lnTo>
                <a:lnTo>
                  <a:pt x="2164" y="36042"/>
                </a:lnTo>
                <a:lnTo>
                  <a:pt x="8059" y="44606"/>
                </a:lnTo>
                <a:lnTo>
                  <a:pt x="16783" y="50392"/>
                </a:lnTo>
                <a:lnTo>
                  <a:pt x="27436" y="52517"/>
                </a:lnTo>
                <a:lnTo>
                  <a:pt x="37307" y="50392"/>
                </a:lnTo>
                <a:lnTo>
                  <a:pt x="45629" y="44606"/>
                </a:lnTo>
                <a:lnTo>
                  <a:pt x="51376" y="36042"/>
                </a:lnTo>
                <a:lnTo>
                  <a:pt x="53519" y="25585"/>
                </a:lnTo>
                <a:lnTo>
                  <a:pt x="51376" y="15338"/>
                </a:lnTo>
                <a:lnTo>
                  <a:pt x="45629" y="7238"/>
                </a:lnTo>
                <a:lnTo>
                  <a:pt x="37307" y="1914"/>
                </a:lnTo>
                <a:lnTo>
                  <a:pt x="27436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876510" y="6302559"/>
            <a:ext cx="53975" cy="52705"/>
          </a:xfrm>
          <a:custGeom>
            <a:avLst/>
            <a:gdLst/>
            <a:ahLst/>
            <a:cxnLst/>
            <a:rect l="l" t="t" r="r" b="b"/>
            <a:pathLst>
              <a:path w="53975" h="52704">
                <a:moveTo>
                  <a:pt x="27436" y="0"/>
                </a:moveTo>
                <a:lnTo>
                  <a:pt x="16783" y="1914"/>
                </a:lnTo>
                <a:lnTo>
                  <a:pt x="8059" y="7240"/>
                </a:lnTo>
                <a:lnTo>
                  <a:pt x="2164" y="15346"/>
                </a:lnTo>
                <a:lnTo>
                  <a:pt x="0" y="25603"/>
                </a:lnTo>
                <a:lnTo>
                  <a:pt x="2164" y="36060"/>
                </a:lnTo>
                <a:lnTo>
                  <a:pt x="8059" y="44624"/>
                </a:lnTo>
                <a:lnTo>
                  <a:pt x="16783" y="50410"/>
                </a:lnTo>
                <a:lnTo>
                  <a:pt x="27436" y="52535"/>
                </a:lnTo>
                <a:lnTo>
                  <a:pt x="37307" y="50410"/>
                </a:lnTo>
                <a:lnTo>
                  <a:pt x="45629" y="44624"/>
                </a:lnTo>
                <a:lnTo>
                  <a:pt x="51376" y="36060"/>
                </a:lnTo>
                <a:lnTo>
                  <a:pt x="53519" y="25603"/>
                </a:lnTo>
                <a:lnTo>
                  <a:pt x="51376" y="15346"/>
                </a:lnTo>
                <a:lnTo>
                  <a:pt x="45629" y="7240"/>
                </a:lnTo>
                <a:lnTo>
                  <a:pt x="37307" y="1914"/>
                </a:lnTo>
                <a:lnTo>
                  <a:pt x="27436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876510" y="6464182"/>
            <a:ext cx="53975" cy="52705"/>
          </a:xfrm>
          <a:custGeom>
            <a:avLst/>
            <a:gdLst/>
            <a:ahLst/>
            <a:cxnLst/>
            <a:rect l="l" t="t" r="r" b="b"/>
            <a:pathLst>
              <a:path w="53975" h="52704">
                <a:moveTo>
                  <a:pt x="27436" y="0"/>
                </a:moveTo>
                <a:lnTo>
                  <a:pt x="16783" y="1915"/>
                </a:lnTo>
                <a:lnTo>
                  <a:pt x="8059" y="7239"/>
                </a:lnTo>
                <a:lnTo>
                  <a:pt x="2164" y="15341"/>
                </a:lnTo>
                <a:lnTo>
                  <a:pt x="0" y="25589"/>
                </a:lnTo>
                <a:lnTo>
                  <a:pt x="2164" y="36047"/>
                </a:lnTo>
                <a:lnTo>
                  <a:pt x="8059" y="44612"/>
                </a:lnTo>
                <a:lnTo>
                  <a:pt x="16783" y="50399"/>
                </a:lnTo>
                <a:lnTo>
                  <a:pt x="27436" y="52525"/>
                </a:lnTo>
                <a:lnTo>
                  <a:pt x="37307" y="50399"/>
                </a:lnTo>
                <a:lnTo>
                  <a:pt x="45629" y="44612"/>
                </a:lnTo>
                <a:lnTo>
                  <a:pt x="51376" y="36047"/>
                </a:lnTo>
                <a:lnTo>
                  <a:pt x="53519" y="25589"/>
                </a:lnTo>
                <a:lnTo>
                  <a:pt x="51376" y="15341"/>
                </a:lnTo>
                <a:lnTo>
                  <a:pt x="45629" y="7239"/>
                </a:lnTo>
                <a:lnTo>
                  <a:pt x="37307" y="1915"/>
                </a:lnTo>
                <a:lnTo>
                  <a:pt x="27436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5194" y="138506"/>
            <a:ext cx="4133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CPU</a:t>
            </a:r>
            <a:r>
              <a:rPr sz="4400" spc="-80" dirty="0"/>
              <a:t> </a:t>
            </a:r>
            <a:r>
              <a:rPr sz="4400" spc="-5" dirty="0"/>
              <a:t>Scheduler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042" y="1196339"/>
            <a:ext cx="256031" cy="3383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2216" y="2171700"/>
            <a:ext cx="256032" cy="3383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042" y="2537155"/>
            <a:ext cx="256031" cy="3386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2342" y="1201927"/>
            <a:ext cx="6904990" cy="447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3366FF"/>
                </a:solidFill>
                <a:latin typeface="Tahoma"/>
                <a:cs typeface="Tahoma"/>
              </a:rPr>
              <a:t>Short-term</a:t>
            </a:r>
            <a:r>
              <a:rPr sz="2000" b="1" spc="20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3366FF"/>
                </a:solidFill>
                <a:latin typeface="Tahoma"/>
                <a:cs typeface="Tahoma"/>
              </a:rPr>
              <a:t>scheduler</a:t>
            </a:r>
            <a:r>
              <a:rPr sz="2000" b="1" spc="10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selects</a:t>
            </a:r>
            <a:r>
              <a:rPr sz="2000" spc="4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from</a:t>
            </a:r>
            <a:r>
              <a:rPr sz="2000" spc="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among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 </a:t>
            </a:r>
            <a:r>
              <a:rPr sz="2000" dirty="0">
                <a:latin typeface="Tahoma"/>
                <a:cs typeface="Tahoma"/>
              </a:rPr>
              <a:t> processes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in</a:t>
            </a:r>
            <a:r>
              <a:rPr sz="2000" spc="-5" dirty="0">
                <a:latin typeface="Tahoma"/>
                <a:cs typeface="Tahoma"/>
              </a:rPr>
              <a:t> ready</a:t>
            </a:r>
            <a:r>
              <a:rPr sz="2000" dirty="0">
                <a:latin typeface="Tahoma"/>
                <a:cs typeface="Tahoma"/>
              </a:rPr>
              <a:t> queue,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and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allocates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</a:t>
            </a:r>
            <a:r>
              <a:rPr sz="2000" dirty="0">
                <a:latin typeface="Tahoma"/>
                <a:cs typeface="Tahoma"/>
              </a:rPr>
              <a:t> CPU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to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one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 </a:t>
            </a:r>
            <a:r>
              <a:rPr sz="2000" spc="-6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them</a:t>
            </a:r>
            <a:endParaRPr sz="2000">
              <a:latin typeface="Tahoma"/>
              <a:cs typeface="Tahoma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ahoma"/>
                <a:cs typeface="Tahoma"/>
              </a:rPr>
              <a:t>Queue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may</a:t>
            </a:r>
            <a:r>
              <a:rPr sz="2000" spc="-5" dirty="0">
                <a:latin typeface="Tahoma"/>
                <a:cs typeface="Tahoma"/>
              </a:rPr>
              <a:t> be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ordered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in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various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ways</a:t>
            </a:r>
            <a:endParaRPr sz="2000">
              <a:latin typeface="Tahoma"/>
              <a:cs typeface="Tahoma"/>
            </a:endParaRPr>
          </a:p>
          <a:p>
            <a:pPr marL="35496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ahoma"/>
                <a:cs typeface="Tahoma"/>
              </a:rPr>
              <a:t>CPU</a:t>
            </a:r>
            <a:r>
              <a:rPr sz="2000" spc="-5" dirty="0">
                <a:latin typeface="Tahoma"/>
                <a:cs typeface="Tahoma"/>
              </a:rPr>
              <a:t> scheduling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decisions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may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take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place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when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process:</a:t>
            </a:r>
            <a:endParaRPr sz="2000">
              <a:latin typeface="Tahoma"/>
              <a:cs typeface="Tahoma"/>
            </a:endParaRPr>
          </a:p>
          <a:p>
            <a:pPr marL="812165" indent="-34353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812165" algn="l"/>
                <a:tab pos="812800" algn="l"/>
              </a:tabLst>
            </a:pPr>
            <a:r>
              <a:rPr sz="2000" spc="-5" dirty="0">
                <a:latin typeface="Tahoma"/>
                <a:cs typeface="Tahoma"/>
              </a:rPr>
              <a:t>Switches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from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running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to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waiting state</a:t>
            </a:r>
            <a:endParaRPr sz="2000">
              <a:latin typeface="Tahoma"/>
              <a:cs typeface="Tahoma"/>
            </a:endParaRPr>
          </a:p>
          <a:p>
            <a:pPr marL="812165" indent="-343535">
              <a:lnSpc>
                <a:spcPct val="100000"/>
              </a:lnSpc>
              <a:spcBef>
                <a:spcPts val="480"/>
              </a:spcBef>
              <a:buClr>
                <a:srgbClr val="CC6600"/>
              </a:buClr>
              <a:buAutoNum type="arabicPeriod"/>
              <a:tabLst>
                <a:tab pos="812165" algn="l"/>
                <a:tab pos="812800" algn="l"/>
              </a:tabLst>
            </a:pPr>
            <a:r>
              <a:rPr sz="2000" spc="-5" dirty="0">
                <a:latin typeface="Tahoma"/>
                <a:cs typeface="Tahoma"/>
              </a:rPr>
              <a:t>Switches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from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running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to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ready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state</a:t>
            </a:r>
            <a:endParaRPr sz="2000">
              <a:latin typeface="Tahoma"/>
              <a:cs typeface="Tahoma"/>
            </a:endParaRPr>
          </a:p>
          <a:p>
            <a:pPr marL="812165" indent="-343535">
              <a:lnSpc>
                <a:spcPct val="100000"/>
              </a:lnSpc>
              <a:spcBef>
                <a:spcPts val="480"/>
              </a:spcBef>
              <a:buClr>
                <a:srgbClr val="CC6600"/>
              </a:buClr>
              <a:buAutoNum type="arabicPeriod"/>
              <a:tabLst>
                <a:tab pos="812165" algn="l"/>
                <a:tab pos="812800" algn="l"/>
              </a:tabLst>
            </a:pPr>
            <a:r>
              <a:rPr sz="2000" spc="-5" dirty="0">
                <a:latin typeface="Tahoma"/>
                <a:cs typeface="Tahoma"/>
              </a:rPr>
              <a:t>Switches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from waiting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to ready</a:t>
            </a:r>
            <a:endParaRPr sz="2000">
              <a:latin typeface="Tahoma"/>
              <a:cs typeface="Tahoma"/>
            </a:endParaRPr>
          </a:p>
          <a:p>
            <a:pPr marL="812165" indent="-34353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812165" algn="l"/>
                <a:tab pos="812800" algn="l"/>
              </a:tabLst>
            </a:pPr>
            <a:r>
              <a:rPr sz="2000" dirty="0">
                <a:latin typeface="Tahoma"/>
                <a:cs typeface="Tahoma"/>
              </a:rPr>
              <a:t>Terminates</a:t>
            </a:r>
            <a:endParaRPr sz="2000">
              <a:latin typeface="Tahoma"/>
              <a:cs typeface="Tahoma"/>
            </a:endParaRPr>
          </a:p>
          <a:p>
            <a:pPr marL="243840" marR="753745" indent="-231775" algn="just">
              <a:lnSpc>
                <a:spcPct val="100000"/>
              </a:lnSpc>
              <a:spcBef>
                <a:spcPts val="484"/>
              </a:spcBef>
              <a:buChar char="•"/>
              <a:tabLst>
                <a:tab pos="244475" algn="l"/>
              </a:tabLst>
            </a:pPr>
            <a:r>
              <a:rPr sz="2000" spc="-5" dirty="0">
                <a:latin typeface="Tahoma"/>
                <a:cs typeface="Tahoma"/>
              </a:rPr>
              <a:t>For situations </a:t>
            </a:r>
            <a:r>
              <a:rPr sz="2000" dirty="0">
                <a:latin typeface="Tahoma"/>
                <a:cs typeface="Tahoma"/>
              </a:rPr>
              <a:t>1 and 4, </a:t>
            </a:r>
            <a:r>
              <a:rPr sz="2000" spc="-5" dirty="0">
                <a:latin typeface="Tahoma"/>
                <a:cs typeface="Tahoma"/>
              </a:rPr>
              <a:t>there </a:t>
            </a:r>
            <a:r>
              <a:rPr sz="2000" dirty="0">
                <a:latin typeface="Tahoma"/>
                <a:cs typeface="Tahoma"/>
              </a:rPr>
              <a:t>is no </a:t>
            </a:r>
            <a:r>
              <a:rPr sz="2000" spc="-5" dirty="0">
                <a:latin typeface="Tahoma"/>
                <a:cs typeface="Tahoma"/>
              </a:rPr>
              <a:t>choice </a:t>
            </a:r>
            <a:r>
              <a:rPr sz="2000" dirty="0">
                <a:latin typeface="Tahoma"/>
                <a:cs typeface="Tahoma"/>
              </a:rPr>
              <a:t>in </a:t>
            </a:r>
            <a:r>
              <a:rPr sz="2000" spc="-5" dirty="0">
                <a:latin typeface="Tahoma"/>
                <a:cs typeface="Tahoma"/>
              </a:rPr>
              <a:t>terms </a:t>
            </a:r>
            <a:r>
              <a:rPr sz="2000" dirty="0">
                <a:latin typeface="Tahoma"/>
                <a:cs typeface="Tahoma"/>
              </a:rPr>
              <a:t>of </a:t>
            </a:r>
            <a:r>
              <a:rPr sz="2000" spc="-6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scheduling. </a:t>
            </a: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new </a:t>
            </a:r>
            <a:r>
              <a:rPr sz="2000" dirty="0">
                <a:latin typeface="Tahoma"/>
                <a:cs typeface="Tahoma"/>
              </a:rPr>
              <a:t>process (if one </a:t>
            </a:r>
            <a:r>
              <a:rPr sz="2000" spc="-5" dirty="0">
                <a:latin typeface="Tahoma"/>
                <a:cs typeface="Tahoma"/>
              </a:rPr>
              <a:t>exists </a:t>
            </a:r>
            <a:r>
              <a:rPr sz="2000" dirty="0">
                <a:latin typeface="Tahoma"/>
                <a:cs typeface="Tahoma"/>
              </a:rPr>
              <a:t>in </a:t>
            </a:r>
            <a:r>
              <a:rPr sz="2000" spc="-5" dirty="0">
                <a:latin typeface="Tahoma"/>
                <a:cs typeface="Tahoma"/>
              </a:rPr>
              <a:t>the ready </a:t>
            </a:r>
            <a:r>
              <a:rPr sz="2000" spc="-6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queue)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must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be </a:t>
            </a:r>
            <a:r>
              <a:rPr sz="2000" spc="-5" dirty="0">
                <a:latin typeface="Tahoma"/>
                <a:cs typeface="Tahoma"/>
              </a:rPr>
              <a:t>selected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for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execution.</a:t>
            </a:r>
            <a:endParaRPr sz="2000">
              <a:latin typeface="Tahoma"/>
              <a:cs typeface="Tahoma"/>
            </a:endParaRPr>
          </a:p>
          <a:p>
            <a:pPr marL="243840" indent="-231775" algn="just">
              <a:lnSpc>
                <a:spcPct val="100000"/>
              </a:lnSpc>
              <a:spcBef>
                <a:spcPts val="475"/>
              </a:spcBef>
              <a:buChar char="•"/>
              <a:tabLst>
                <a:tab pos="244475" algn="l"/>
              </a:tabLst>
            </a:pPr>
            <a:r>
              <a:rPr sz="2000" spc="-5" dirty="0">
                <a:latin typeface="Tahoma"/>
                <a:cs typeface="Tahoma"/>
              </a:rPr>
              <a:t>For situations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2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and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3,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however,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there</a:t>
            </a:r>
            <a:r>
              <a:rPr sz="2000" dirty="0">
                <a:latin typeface="Tahoma"/>
                <a:cs typeface="Tahoma"/>
              </a:rPr>
              <a:t> is</a:t>
            </a:r>
            <a:r>
              <a:rPr sz="2000" spc="6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choice.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321" rIns="0" bIns="0" rtlCol="0">
            <a:spAutoFit/>
          </a:bodyPr>
          <a:lstStyle/>
          <a:p>
            <a:pPr marL="2839085" marR="5080" indent="-211582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Preemptive</a:t>
            </a:r>
            <a:r>
              <a:rPr sz="3200" spc="-60" dirty="0"/>
              <a:t> </a:t>
            </a:r>
            <a:r>
              <a:rPr sz="3200" dirty="0"/>
              <a:t>and</a:t>
            </a:r>
            <a:r>
              <a:rPr sz="3200" spc="-25" dirty="0"/>
              <a:t> </a:t>
            </a:r>
            <a:r>
              <a:rPr sz="3200" dirty="0"/>
              <a:t>Nonpreemptive </a:t>
            </a:r>
            <a:r>
              <a:rPr sz="3200" spc="-919" dirty="0"/>
              <a:t> </a:t>
            </a:r>
            <a:r>
              <a:rPr sz="3200" dirty="0"/>
              <a:t>Scheduling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04443" y="1434795"/>
            <a:ext cx="7278370" cy="426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461645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When </a:t>
            </a:r>
            <a:r>
              <a:rPr sz="2400" spc="-5" dirty="0">
                <a:latin typeface="Tahoma"/>
                <a:cs typeface="Tahoma"/>
              </a:rPr>
              <a:t>scheduling takes </a:t>
            </a:r>
            <a:r>
              <a:rPr sz="2400" dirty="0">
                <a:latin typeface="Tahoma"/>
                <a:cs typeface="Tahoma"/>
              </a:rPr>
              <a:t>place only under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circumstances </a:t>
            </a:r>
            <a:r>
              <a:rPr sz="2400" dirty="0">
                <a:latin typeface="Tahoma"/>
                <a:cs typeface="Tahoma"/>
              </a:rPr>
              <a:t>1 and 4, </a:t>
            </a:r>
            <a:r>
              <a:rPr sz="2400" spc="-5" dirty="0">
                <a:latin typeface="Tahoma"/>
                <a:cs typeface="Tahoma"/>
              </a:rPr>
              <a:t>the scheduling scheme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b="1" spc="-5" dirty="0">
                <a:solidFill>
                  <a:srgbClr val="006699"/>
                </a:solidFill>
                <a:latin typeface="Tahoma"/>
                <a:cs typeface="Tahoma"/>
              </a:rPr>
              <a:t>nonpreemptive</a:t>
            </a:r>
            <a:r>
              <a:rPr sz="2400" spc="-5" dirty="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Otherwise,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6699"/>
                </a:solidFill>
                <a:latin typeface="Tahoma"/>
                <a:cs typeface="Tahoma"/>
              </a:rPr>
              <a:t>preemptive</a:t>
            </a:r>
            <a:r>
              <a:rPr sz="2400" dirty="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marL="243840" marR="508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Under </a:t>
            </a:r>
            <a:r>
              <a:rPr sz="2400" spc="-5" dirty="0">
                <a:latin typeface="Tahoma"/>
                <a:cs typeface="Tahoma"/>
              </a:rPr>
              <a:t>Nonpreemptive scheduling, </a:t>
            </a:r>
            <a:r>
              <a:rPr sz="2400" dirty="0">
                <a:latin typeface="Tahoma"/>
                <a:cs typeface="Tahoma"/>
              </a:rPr>
              <a:t>once </a:t>
            </a:r>
            <a:r>
              <a:rPr sz="2400" spc="-5" dirty="0">
                <a:latin typeface="Tahoma"/>
                <a:cs typeface="Tahoma"/>
              </a:rPr>
              <a:t>the CPU </a:t>
            </a:r>
            <a:r>
              <a:rPr sz="2400" dirty="0">
                <a:latin typeface="Tahoma"/>
                <a:cs typeface="Tahoma"/>
              </a:rPr>
              <a:t>has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been </a:t>
            </a:r>
            <a:r>
              <a:rPr sz="2400" spc="-5" dirty="0">
                <a:latin typeface="Tahoma"/>
                <a:cs typeface="Tahoma"/>
              </a:rPr>
              <a:t>allocated to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process,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process keeps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CPU until it </a:t>
            </a:r>
            <a:r>
              <a:rPr sz="2400" spc="-5" dirty="0">
                <a:latin typeface="Tahoma"/>
                <a:cs typeface="Tahoma"/>
              </a:rPr>
              <a:t>releases </a:t>
            </a:r>
            <a:r>
              <a:rPr sz="2400" dirty="0">
                <a:latin typeface="Tahoma"/>
                <a:cs typeface="Tahoma"/>
              </a:rPr>
              <a:t>it </a:t>
            </a:r>
            <a:r>
              <a:rPr sz="2400" spc="-5" dirty="0">
                <a:latin typeface="Tahoma"/>
                <a:cs typeface="Tahoma"/>
              </a:rPr>
              <a:t>either </a:t>
            </a:r>
            <a:r>
              <a:rPr sz="2400" dirty="0">
                <a:latin typeface="Tahoma"/>
                <a:cs typeface="Tahoma"/>
              </a:rPr>
              <a:t>by </a:t>
            </a:r>
            <a:r>
              <a:rPr sz="2400" spc="-5" dirty="0">
                <a:latin typeface="Tahoma"/>
                <a:cs typeface="Tahoma"/>
              </a:rPr>
              <a:t>terminating </a:t>
            </a:r>
            <a:r>
              <a:rPr sz="2400" dirty="0">
                <a:latin typeface="Tahoma"/>
                <a:cs typeface="Tahoma"/>
              </a:rPr>
              <a:t>or by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switching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to 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waiting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state.</a:t>
            </a:r>
            <a:endParaRPr sz="2400">
              <a:latin typeface="Tahoma"/>
              <a:cs typeface="Tahoma"/>
            </a:endParaRPr>
          </a:p>
          <a:p>
            <a:pPr marL="243840" marR="165735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Virtually all modern operating </a:t>
            </a:r>
            <a:r>
              <a:rPr sz="2400" spc="-5" dirty="0">
                <a:latin typeface="Tahoma"/>
                <a:cs typeface="Tahoma"/>
              </a:rPr>
              <a:t>systems </a:t>
            </a:r>
            <a:r>
              <a:rPr sz="2400" dirty="0">
                <a:latin typeface="Tahoma"/>
                <a:cs typeface="Tahoma"/>
              </a:rPr>
              <a:t>including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Windows, </a:t>
            </a:r>
            <a:r>
              <a:rPr sz="2400" spc="-5" dirty="0">
                <a:latin typeface="Tahoma"/>
                <a:cs typeface="Tahoma"/>
              </a:rPr>
              <a:t>MacOS, </a:t>
            </a:r>
            <a:r>
              <a:rPr sz="2400" dirty="0">
                <a:latin typeface="Tahoma"/>
                <a:cs typeface="Tahoma"/>
              </a:rPr>
              <a:t>Linux, and </a:t>
            </a:r>
            <a:r>
              <a:rPr sz="2400" spc="-5" dirty="0">
                <a:latin typeface="Tahoma"/>
                <a:cs typeface="Tahoma"/>
              </a:rPr>
              <a:t>UNIX </a:t>
            </a:r>
            <a:r>
              <a:rPr sz="2400" dirty="0">
                <a:latin typeface="Tahoma"/>
                <a:cs typeface="Tahoma"/>
              </a:rPr>
              <a:t>use </a:t>
            </a:r>
            <a:r>
              <a:rPr sz="2400" spc="-5" dirty="0">
                <a:latin typeface="Tahoma"/>
                <a:cs typeface="Tahoma"/>
              </a:rPr>
              <a:t>preemptive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scheduling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algorithms.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515" y="1555750"/>
            <a:ext cx="7823834" cy="309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673735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Preemptive scheduling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can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result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race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conditions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when</a:t>
            </a:r>
            <a:r>
              <a:rPr sz="2400" dirty="0">
                <a:latin typeface="Tahoma"/>
                <a:cs typeface="Tahoma"/>
              </a:rPr>
              <a:t> data are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shared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among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several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processes.</a:t>
            </a:r>
            <a:endParaRPr sz="2400">
              <a:latin typeface="Tahoma"/>
              <a:cs typeface="Tahoma"/>
            </a:endParaRPr>
          </a:p>
          <a:p>
            <a:pPr marL="243840" marR="5080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Consider the </a:t>
            </a:r>
            <a:r>
              <a:rPr sz="2400" spc="-5" dirty="0">
                <a:latin typeface="Tahoma"/>
                <a:cs typeface="Tahoma"/>
              </a:rPr>
              <a:t>case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two processes </a:t>
            </a:r>
            <a:r>
              <a:rPr sz="2400" dirty="0">
                <a:latin typeface="Tahoma"/>
                <a:cs typeface="Tahoma"/>
              </a:rPr>
              <a:t>that </a:t>
            </a:r>
            <a:r>
              <a:rPr sz="2400" spc="-5" dirty="0">
                <a:latin typeface="Tahoma"/>
                <a:cs typeface="Tahoma"/>
              </a:rPr>
              <a:t>share </a:t>
            </a:r>
            <a:r>
              <a:rPr sz="2400" dirty="0">
                <a:latin typeface="Tahoma"/>
                <a:cs typeface="Tahoma"/>
              </a:rPr>
              <a:t>data.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While one process is updating the data, it is </a:t>
            </a:r>
            <a:r>
              <a:rPr sz="2400" spc="-5" dirty="0">
                <a:latin typeface="Tahoma"/>
                <a:cs typeface="Tahoma"/>
              </a:rPr>
              <a:t>preempted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so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that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 second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can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run.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" dirty="0">
                <a:latin typeface="Tahoma"/>
                <a:cs typeface="Tahoma"/>
              </a:rPr>
              <a:t> second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tries to read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 </a:t>
            </a:r>
            <a:r>
              <a:rPr sz="2400" dirty="0">
                <a:latin typeface="Tahoma"/>
                <a:cs typeface="Tahoma"/>
              </a:rPr>
              <a:t>data,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which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 in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inconsistent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state.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This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issue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will</a:t>
            </a:r>
            <a:r>
              <a:rPr sz="2400" dirty="0">
                <a:latin typeface="Tahoma"/>
                <a:cs typeface="Tahoma"/>
              </a:rPr>
              <a:t> be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explored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 detail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Chapter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6.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321" rIns="0" bIns="0" rtlCol="0">
            <a:spAutoFit/>
          </a:bodyPr>
          <a:lstStyle/>
          <a:p>
            <a:pPr marL="2839085" marR="5080" indent="-211582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Preemptive</a:t>
            </a:r>
            <a:r>
              <a:rPr sz="3200" spc="-60" dirty="0"/>
              <a:t> </a:t>
            </a:r>
            <a:r>
              <a:rPr sz="3200" dirty="0"/>
              <a:t>and</a:t>
            </a:r>
            <a:r>
              <a:rPr sz="3200" spc="-25" dirty="0"/>
              <a:t> </a:t>
            </a:r>
            <a:r>
              <a:rPr sz="3200" dirty="0"/>
              <a:t>Nonpreemptive </a:t>
            </a:r>
            <a:r>
              <a:rPr sz="3200" spc="-919" dirty="0"/>
              <a:t> </a:t>
            </a:r>
            <a:r>
              <a:rPr sz="3200" dirty="0"/>
              <a:t>Scheduling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5714" y="154381"/>
            <a:ext cx="3052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Dispatcher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28217" y="1151001"/>
            <a:ext cx="4566285" cy="490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Dispatcher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module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gives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control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the CPU to the process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selected </a:t>
            </a:r>
            <a:r>
              <a:rPr sz="2400" dirty="0">
                <a:latin typeface="Tahoma"/>
                <a:cs typeface="Tahoma"/>
              </a:rPr>
              <a:t>by </a:t>
            </a:r>
            <a:r>
              <a:rPr sz="2400" spc="-5" dirty="0">
                <a:latin typeface="Tahoma"/>
                <a:cs typeface="Tahoma"/>
              </a:rPr>
              <a:t>the CPU scheduler;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this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involves:</a:t>
            </a:r>
            <a:endParaRPr sz="2400">
              <a:latin typeface="Tahoma"/>
              <a:cs typeface="Tahoma"/>
            </a:endParaRPr>
          </a:p>
          <a:p>
            <a:pPr marL="637540" lvl="1" indent="-280035">
              <a:lnSpc>
                <a:spcPct val="100000"/>
              </a:lnSpc>
              <a:spcBef>
                <a:spcPts val="525"/>
              </a:spcBef>
              <a:buChar char="–"/>
              <a:tabLst>
                <a:tab pos="638175" algn="l"/>
              </a:tabLst>
            </a:pPr>
            <a:r>
              <a:rPr sz="2200" spc="-10" dirty="0">
                <a:latin typeface="Tahoma"/>
                <a:cs typeface="Tahoma"/>
              </a:rPr>
              <a:t>Switching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context</a:t>
            </a:r>
            <a:endParaRPr sz="2200">
              <a:latin typeface="Tahoma"/>
              <a:cs typeface="Tahoma"/>
            </a:endParaRPr>
          </a:p>
          <a:p>
            <a:pPr marL="637540" lvl="1" indent="-280035">
              <a:lnSpc>
                <a:spcPct val="100000"/>
              </a:lnSpc>
              <a:spcBef>
                <a:spcPts val="530"/>
              </a:spcBef>
              <a:buChar char="–"/>
              <a:tabLst>
                <a:tab pos="638175" algn="l"/>
              </a:tabLst>
            </a:pPr>
            <a:r>
              <a:rPr sz="2200" spc="-10" dirty="0">
                <a:latin typeface="Tahoma"/>
                <a:cs typeface="Tahoma"/>
              </a:rPr>
              <a:t>Switching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to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user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mode</a:t>
            </a:r>
            <a:endParaRPr sz="2200">
              <a:latin typeface="Tahoma"/>
              <a:cs typeface="Tahoma"/>
            </a:endParaRPr>
          </a:p>
          <a:p>
            <a:pPr marL="637540" marR="135255" lvl="1" indent="-279400">
              <a:lnSpc>
                <a:spcPct val="100000"/>
              </a:lnSpc>
              <a:spcBef>
                <a:spcPts val="525"/>
              </a:spcBef>
              <a:buChar char="–"/>
              <a:tabLst>
                <a:tab pos="638175" algn="l"/>
              </a:tabLst>
            </a:pPr>
            <a:r>
              <a:rPr sz="2200" spc="-5" dirty="0">
                <a:latin typeface="Tahoma"/>
                <a:cs typeface="Tahoma"/>
              </a:rPr>
              <a:t>Jumping to </a:t>
            </a:r>
            <a:r>
              <a:rPr sz="2200" spc="-10" dirty="0">
                <a:latin typeface="Tahoma"/>
                <a:cs typeface="Tahoma"/>
              </a:rPr>
              <a:t>the </a:t>
            </a:r>
            <a:r>
              <a:rPr sz="2200" spc="-5" dirty="0">
                <a:latin typeface="Tahoma"/>
                <a:cs typeface="Tahoma"/>
              </a:rPr>
              <a:t>proper location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in</a:t>
            </a:r>
            <a:r>
              <a:rPr sz="2200" spc="-10" dirty="0">
                <a:latin typeface="Tahoma"/>
                <a:cs typeface="Tahoma"/>
              </a:rPr>
              <a:t> the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user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program to</a:t>
            </a:r>
            <a:r>
              <a:rPr sz="2200" spc="-10" dirty="0">
                <a:latin typeface="Tahoma"/>
                <a:cs typeface="Tahoma"/>
              </a:rPr>
              <a:t> restart 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that </a:t>
            </a:r>
            <a:r>
              <a:rPr sz="2200" spc="-5" dirty="0">
                <a:latin typeface="Tahoma"/>
                <a:cs typeface="Tahoma"/>
              </a:rPr>
              <a:t>program</a:t>
            </a:r>
            <a:endParaRPr sz="2200">
              <a:latin typeface="Tahoma"/>
              <a:cs typeface="Tahoma"/>
            </a:endParaRPr>
          </a:p>
          <a:p>
            <a:pPr marL="243840" marR="100330" indent="-231775">
              <a:lnSpc>
                <a:spcPct val="100000"/>
              </a:lnSpc>
              <a:spcBef>
                <a:spcPts val="585"/>
              </a:spcBef>
              <a:buFont typeface="Tahoma"/>
              <a:buChar char="•"/>
              <a:tabLst>
                <a:tab pos="244475" algn="l"/>
              </a:tabLst>
            </a:pPr>
            <a:r>
              <a:rPr sz="2400" b="1" spc="-5" dirty="0">
                <a:solidFill>
                  <a:srgbClr val="006699"/>
                </a:solidFill>
                <a:latin typeface="Tahoma"/>
                <a:cs typeface="Tahoma"/>
              </a:rPr>
              <a:t>Dispatch </a:t>
            </a:r>
            <a:r>
              <a:rPr sz="2400" b="1" dirty="0">
                <a:solidFill>
                  <a:srgbClr val="006699"/>
                </a:solidFill>
                <a:latin typeface="Tahoma"/>
                <a:cs typeface="Tahoma"/>
              </a:rPr>
              <a:t>latency </a:t>
            </a:r>
            <a:r>
              <a:rPr sz="2400" dirty="0">
                <a:latin typeface="Tahoma"/>
                <a:cs typeface="Tahoma"/>
              </a:rPr>
              <a:t>– </a:t>
            </a:r>
            <a:r>
              <a:rPr sz="2400" spc="-5" dirty="0">
                <a:latin typeface="Tahoma"/>
                <a:cs typeface="Tahoma"/>
              </a:rPr>
              <a:t>time </a:t>
            </a:r>
            <a:r>
              <a:rPr sz="2400" dirty="0">
                <a:latin typeface="Tahoma"/>
                <a:cs typeface="Tahoma"/>
              </a:rPr>
              <a:t>it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takes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dispatcher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stop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one </a:t>
            </a:r>
            <a:r>
              <a:rPr sz="2400" spc="-5" dirty="0">
                <a:latin typeface="Tahoma"/>
                <a:cs typeface="Tahoma"/>
              </a:rPr>
              <a:t>process </a:t>
            </a:r>
            <a:r>
              <a:rPr sz="2400" dirty="0">
                <a:latin typeface="Tahoma"/>
                <a:cs typeface="Tahoma"/>
              </a:rPr>
              <a:t>and </a:t>
            </a:r>
            <a:r>
              <a:rPr sz="2400" spc="-5" dirty="0">
                <a:latin typeface="Tahoma"/>
                <a:cs typeface="Tahoma"/>
              </a:rPr>
              <a:t>start another </a:t>
            </a:r>
            <a:r>
              <a:rPr sz="2400" dirty="0">
                <a:latin typeface="Tahoma"/>
                <a:cs typeface="Tahoma"/>
              </a:rPr>
              <a:t> running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7151" y="1251381"/>
            <a:ext cx="2667742" cy="35065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9220" y="151638"/>
            <a:ext cx="53752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Scheduling</a:t>
            </a:r>
            <a:r>
              <a:rPr sz="4400" spc="-75" dirty="0"/>
              <a:t> </a:t>
            </a:r>
            <a:r>
              <a:rPr sz="4400" spc="-5" dirty="0"/>
              <a:t>Criteria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12342" y="1278128"/>
            <a:ext cx="6745605" cy="470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59435" indent="-231775">
              <a:lnSpc>
                <a:spcPct val="100000"/>
              </a:lnSpc>
              <a:spcBef>
                <a:spcPts val="100"/>
              </a:spcBef>
              <a:buFont typeface="Tahoma"/>
              <a:buChar char="•"/>
              <a:tabLst>
                <a:tab pos="244475" algn="l"/>
              </a:tabLst>
            </a:pPr>
            <a:r>
              <a:rPr sz="2400" b="1" spc="-10" dirty="0">
                <a:latin typeface="Tahoma"/>
                <a:cs typeface="Tahoma"/>
              </a:rPr>
              <a:t>CPU</a:t>
            </a:r>
            <a:r>
              <a:rPr sz="2400" b="1" spc="-5" dirty="0">
                <a:latin typeface="Tahoma"/>
                <a:cs typeface="Tahoma"/>
              </a:rPr>
              <a:t> utilization</a:t>
            </a:r>
            <a:r>
              <a:rPr sz="2400" b="1" spc="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–</a:t>
            </a:r>
            <a:r>
              <a:rPr sz="2400" spc="-5" dirty="0">
                <a:latin typeface="Tahoma"/>
                <a:cs typeface="Tahoma"/>
              </a:rPr>
              <a:t> keep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CPU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busy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possible</a:t>
            </a:r>
            <a:endParaRPr sz="2400">
              <a:latin typeface="Tahoma"/>
              <a:cs typeface="Tahoma"/>
            </a:endParaRPr>
          </a:p>
          <a:p>
            <a:pPr marL="243840" marR="905510" indent="-231775">
              <a:lnSpc>
                <a:spcPct val="100000"/>
              </a:lnSpc>
              <a:spcBef>
                <a:spcPts val="575"/>
              </a:spcBef>
              <a:buFont typeface="Tahoma"/>
              <a:buChar char="•"/>
              <a:tabLst>
                <a:tab pos="244475" algn="l"/>
              </a:tabLst>
            </a:pPr>
            <a:r>
              <a:rPr sz="2400" b="1" spc="-5" dirty="0">
                <a:latin typeface="Tahoma"/>
                <a:cs typeface="Tahoma"/>
              </a:rPr>
              <a:t>Throughput</a:t>
            </a:r>
            <a:r>
              <a:rPr sz="2400" b="1" spc="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–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number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processes that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complete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their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execution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per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unit</a:t>
            </a:r>
            <a:endParaRPr sz="2400">
              <a:latin typeface="Tahoma"/>
              <a:cs typeface="Tahoma"/>
            </a:endParaRPr>
          </a:p>
          <a:p>
            <a:pPr marL="243840" marR="5080" indent="-231775">
              <a:lnSpc>
                <a:spcPct val="100000"/>
              </a:lnSpc>
              <a:spcBef>
                <a:spcPts val="575"/>
              </a:spcBef>
              <a:buFont typeface="Tahoma"/>
              <a:buChar char="•"/>
              <a:tabLst>
                <a:tab pos="244475" algn="l"/>
              </a:tabLst>
            </a:pPr>
            <a:r>
              <a:rPr sz="2400" b="1" spc="-5" dirty="0">
                <a:latin typeface="Tahoma"/>
                <a:cs typeface="Tahoma"/>
              </a:rPr>
              <a:t>Turnaround </a:t>
            </a:r>
            <a:r>
              <a:rPr sz="2400" b="1" dirty="0">
                <a:latin typeface="Tahoma"/>
                <a:cs typeface="Tahoma"/>
              </a:rPr>
              <a:t>time </a:t>
            </a:r>
            <a:r>
              <a:rPr sz="2400" dirty="0">
                <a:latin typeface="Tahoma"/>
                <a:cs typeface="Tahoma"/>
              </a:rPr>
              <a:t>– amount of </a:t>
            </a:r>
            <a:r>
              <a:rPr sz="2400" spc="-5" dirty="0">
                <a:latin typeface="Tahoma"/>
                <a:cs typeface="Tahoma"/>
              </a:rPr>
              <a:t>time to </a:t>
            </a:r>
            <a:r>
              <a:rPr sz="2400" spc="-10" dirty="0">
                <a:latin typeface="Tahoma"/>
                <a:cs typeface="Tahoma"/>
              </a:rPr>
              <a:t>execute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particular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</a:t>
            </a:r>
            <a:endParaRPr sz="2400">
              <a:latin typeface="Tahoma"/>
              <a:cs typeface="Tahoma"/>
            </a:endParaRPr>
          </a:p>
          <a:p>
            <a:pPr marL="243840" marR="175260" indent="-231775">
              <a:lnSpc>
                <a:spcPct val="100000"/>
              </a:lnSpc>
              <a:spcBef>
                <a:spcPts val="580"/>
              </a:spcBef>
              <a:buFont typeface="Tahoma"/>
              <a:buChar char="•"/>
              <a:tabLst>
                <a:tab pos="244475" algn="l"/>
              </a:tabLst>
            </a:pPr>
            <a:r>
              <a:rPr sz="2400" b="1" spc="-5" dirty="0">
                <a:latin typeface="Tahoma"/>
                <a:cs typeface="Tahoma"/>
              </a:rPr>
              <a:t>Waiting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time</a:t>
            </a:r>
            <a:r>
              <a:rPr sz="2400" b="1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–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amount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5" dirty="0">
                <a:latin typeface="Tahoma"/>
                <a:cs typeface="Tahoma"/>
              </a:rPr>
              <a:t> time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process has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been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waiting</a:t>
            </a:r>
            <a:r>
              <a:rPr sz="2400" dirty="0">
                <a:latin typeface="Tahoma"/>
                <a:cs typeface="Tahoma"/>
              </a:rPr>
              <a:t> in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ready</a:t>
            </a:r>
            <a:r>
              <a:rPr sz="2400" dirty="0">
                <a:latin typeface="Tahoma"/>
                <a:cs typeface="Tahoma"/>
              </a:rPr>
              <a:t> queue</a:t>
            </a:r>
            <a:endParaRPr sz="2400">
              <a:latin typeface="Tahoma"/>
              <a:cs typeface="Tahoma"/>
            </a:endParaRPr>
          </a:p>
          <a:p>
            <a:pPr marL="243840" marR="31750" indent="-231775">
              <a:lnSpc>
                <a:spcPct val="100000"/>
              </a:lnSpc>
              <a:spcBef>
                <a:spcPts val="575"/>
              </a:spcBef>
              <a:buFont typeface="Tahoma"/>
              <a:buChar char="•"/>
              <a:tabLst>
                <a:tab pos="244475" algn="l"/>
                <a:tab pos="4881880" algn="l"/>
              </a:tabLst>
            </a:pPr>
            <a:r>
              <a:rPr sz="2400" b="1" spc="-5" dirty="0">
                <a:latin typeface="Tahoma"/>
                <a:cs typeface="Tahoma"/>
              </a:rPr>
              <a:t>Response </a:t>
            </a:r>
            <a:r>
              <a:rPr sz="2400" b="1" dirty="0">
                <a:latin typeface="Tahoma"/>
                <a:cs typeface="Tahoma"/>
              </a:rPr>
              <a:t>time </a:t>
            </a:r>
            <a:r>
              <a:rPr sz="2400" dirty="0">
                <a:latin typeface="Tahoma"/>
                <a:cs typeface="Tahoma"/>
              </a:rPr>
              <a:t>– amount of </a:t>
            </a:r>
            <a:r>
              <a:rPr sz="2400" spc="-5" dirty="0">
                <a:latin typeface="Tahoma"/>
                <a:cs typeface="Tahoma"/>
              </a:rPr>
              <a:t>time </a:t>
            </a:r>
            <a:r>
              <a:rPr sz="2400" dirty="0">
                <a:latin typeface="Tahoma"/>
                <a:cs typeface="Tahoma"/>
              </a:rPr>
              <a:t>it </a:t>
            </a:r>
            <a:r>
              <a:rPr sz="2400" spc="-5" dirty="0">
                <a:latin typeface="Tahoma"/>
                <a:cs typeface="Tahoma"/>
              </a:rPr>
              <a:t>takes from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when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request was submitted until the first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response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produced,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output	(for time-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sharing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environment)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261" rIns="0" bIns="0" rtlCol="0">
            <a:spAutoFit/>
          </a:bodyPr>
          <a:lstStyle/>
          <a:p>
            <a:pPr marL="1530985" marR="5080" indent="-6604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Scheduling</a:t>
            </a:r>
            <a:r>
              <a:rPr sz="3600" spc="-120" dirty="0"/>
              <a:t> </a:t>
            </a:r>
            <a:r>
              <a:rPr sz="3600" dirty="0"/>
              <a:t>Algorithm </a:t>
            </a:r>
            <a:r>
              <a:rPr sz="3600" spc="-1040" dirty="0"/>
              <a:t> </a:t>
            </a:r>
            <a:r>
              <a:rPr sz="3600" spc="-5" dirty="0"/>
              <a:t>Optimization</a:t>
            </a:r>
            <a:r>
              <a:rPr sz="3600" spc="-65" dirty="0"/>
              <a:t> </a:t>
            </a:r>
            <a:r>
              <a:rPr sz="3600" spc="-5" dirty="0"/>
              <a:t>Criteria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31265" y="1133725"/>
            <a:ext cx="3006090" cy="22199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67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Max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CPU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utilization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Max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throughput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Min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turnaround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Min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waiting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Min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response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7005" marR="5080" indent="-2437765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First- Come, First-Served </a:t>
            </a:r>
            <a:r>
              <a:rPr sz="3600" spc="-10" dirty="0"/>
              <a:t>(FCFS) </a:t>
            </a:r>
            <a:r>
              <a:rPr sz="3600" spc="-1040" dirty="0"/>
              <a:t> </a:t>
            </a:r>
            <a:r>
              <a:rPr sz="3600" spc="-5" dirty="0"/>
              <a:t>Scheduling</a:t>
            </a:r>
            <a:endParaRPr sz="36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25494" y="2436901"/>
            <a:ext cx="35496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3</a:t>
            </a:r>
            <a:endParaRPr sz="2475" baseline="-20202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5217" y="1227386"/>
            <a:ext cx="3054350" cy="161734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45"/>
              </a:spcBef>
              <a:tabLst>
                <a:tab pos="1436370" algn="l"/>
              </a:tabLst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Process</a:t>
            </a:r>
            <a:r>
              <a:rPr sz="2400" spc="-5" dirty="0">
                <a:latin typeface="Tahoma"/>
                <a:cs typeface="Tahoma"/>
              </a:rPr>
              <a:t>	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Burst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Time</a:t>
            </a:r>
            <a:r>
              <a:rPr sz="2400" u="heavy" spc="21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endParaRPr sz="2400">
              <a:latin typeface="Tahoma"/>
              <a:cs typeface="Tahoma"/>
            </a:endParaRPr>
          </a:p>
          <a:p>
            <a:pPr marL="467995">
              <a:lnSpc>
                <a:spcPct val="100000"/>
              </a:lnSpc>
              <a:spcBef>
                <a:spcPts val="190"/>
              </a:spcBef>
              <a:tabLst>
                <a:tab pos="1998345" algn="l"/>
              </a:tabLst>
            </a:pP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1	</a:t>
            </a:r>
            <a:r>
              <a:rPr sz="2400" spc="-5" dirty="0">
                <a:latin typeface="Tahoma"/>
                <a:cs typeface="Tahoma"/>
              </a:rPr>
              <a:t>24</a:t>
            </a:r>
            <a:endParaRPr sz="2400">
              <a:latin typeface="Tahoma"/>
              <a:cs typeface="Tahoma"/>
            </a:endParaRPr>
          </a:p>
          <a:p>
            <a:pPr marL="467995">
              <a:lnSpc>
                <a:spcPct val="100000"/>
              </a:lnSpc>
              <a:spcBef>
                <a:spcPts val="170"/>
              </a:spcBef>
              <a:tabLst>
                <a:tab pos="2082164" algn="l"/>
              </a:tabLst>
            </a:pP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2	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marR="765175" algn="r">
              <a:lnSpc>
                <a:spcPct val="100000"/>
              </a:lnSpc>
              <a:spcBef>
                <a:spcPts val="265"/>
              </a:spcBef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967" y="2839237"/>
            <a:ext cx="7210425" cy="1066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9240" indent="-231775">
              <a:lnSpc>
                <a:spcPts val="2795"/>
              </a:lnSpc>
              <a:spcBef>
                <a:spcPts val="130"/>
              </a:spcBef>
              <a:buChar char="•"/>
              <a:tabLst>
                <a:tab pos="269875" algn="l"/>
              </a:tabLst>
            </a:pPr>
            <a:r>
              <a:rPr sz="2400" spc="-5" dirty="0">
                <a:latin typeface="Tahoma"/>
                <a:cs typeface="Tahoma"/>
              </a:rPr>
              <a:t>Suppose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that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processes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arrive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order: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1</a:t>
            </a:r>
            <a:r>
              <a:rPr sz="2475" spc="367" baseline="-20202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,</a:t>
            </a:r>
            <a:endParaRPr sz="2400">
              <a:latin typeface="Tahoma"/>
              <a:cs typeface="Tahoma"/>
            </a:endParaRPr>
          </a:p>
          <a:p>
            <a:pPr marL="269240">
              <a:lnSpc>
                <a:spcPts val="2645"/>
              </a:lnSpc>
            </a:pP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2</a:t>
            </a:r>
            <a:r>
              <a:rPr sz="2475" spc="307" baseline="-20202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3</a:t>
            </a:r>
            <a:endParaRPr sz="2475" baseline="-20202">
              <a:latin typeface="Tahoma"/>
              <a:cs typeface="Tahoma"/>
            </a:endParaRPr>
          </a:p>
          <a:p>
            <a:pPr marL="269240">
              <a:lnSpc>
                <a:spcPts val="2725"/>
              </a:lnSpc>
            </a:pPr>
            <a:r>
              <a:rPr sz="2400" dirty="0">
                <a:latin typeface="Tahoma"/>
                <a:cs typeface="Tahoma"/>
              </a:rPr>
              <a:t>The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Gantt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Chart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schedule</a:t>
            </a:r>
            <a:r>
              <a:rPr sz="2400" dirty="0">
                <a:latin typeface="Tahoma"/>
                <a:cs typeface="Tahoma"/>
              </a:rPr>
              <a:t> is: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6167" y="4814913"/>
            <a:ext cx="6118225" cy="862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35"/>
              </a:spcBef>
              <a:tabLst>
                <a:tab pos="5635625" algn="l"/>
              </a:tabLst>
            </a:pPr>
            <a:r>
              <a:rPr sz="900" spc="20" dirty="0">
                <a:latin typeface="Arial MT"/>
                <a:cs typeface="Arial MT"/>
              </a:rPr>
              <a:t>0	</a:t>
            </a:r>
            <a:r>
              <a:rPr sz="900" spc="15" dirty="0">
                <a:latin typeface="Arial MT"/>
                <a:cs typeface="Arial MT"/>
              </a:rPr>
              <a:t>24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Arial MT"/>
              <a:cs typeface="Arial MT"/>
            </a:endParaRPr>
          </a:p>
          <a:p>
            <a:pPr marL="320040" indent="-231775">
              <a:lnSpc>
                <a:spcPct val="100000"/>
              </a:lnSpc>
              <a:buChar char="•"/>
              <a:tabLst>
                <a:tab pos="320675" algn="l"/>
                <a:tab pos="3049905" algn="l"/>
                <a:tab pos="4206875" algn="l"/>
              </a:tabLst>
            </a:pPr>
            <a:r>
              <a:rPr sz="2400" dirty="0">
                <a:latin typeface="Tahoma"/>
                <a:cs typeface="Tahoma"/>
              </a:rPr>
              <a:t>Waiting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 for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1	</a:t>
            </a:r>
            <a:r>
              <a:rPr sz="2400" dirty="0">
                <a:latin typeface="Tahoma"/>
                <a:cs typeface="Tahoma"/>
              </a:rPr>
              <a:t>= 0;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2	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24;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3</a:t>
            </a:r>
            <a:r>
              <a:rPr sz="2475" spc="-37" baseline="-20202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27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367" y="5684926"/>
            <a:ext cx="6313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  <a:tab pos="3378835" algn="l"/>
              </a:tabLst>
            </a:pPr>
            <a:r>
              <a:rPr sz="2400" dirty="0">
                <a:latin typeface="Tahoma"/>
                <a:cs typeface="Tahoma"/>
              </a:rPr>
              <a:t>Average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waiting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time:	</a:t>
            </a:r>
            <a:r>
              <a:rPr sz="2400" dirty="0">
                <a:latin typeface="Tahoma"/>
                <a:cs typeface="Tahoma"/>
              </a:rPr>
              <a:t>(0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27)/3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17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115942" y="4240884"/>
          <a:ext cx="6755128" cy="541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14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264">
                <a:tc>
                  <a:txBody>
                    <a:bodyPr/>
                    <a:lstStyle/>
                    <a:p>
                      <a:pPr marL="119380"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75" baseline="-30864" dirty="0">
                          <a:latin typeface="Arial MT"/>
                          <a:cs typeface="Arial MT"/>
                        </a:rPr>
                        <a:t>1</a:t>
                      </a:r>
                      <a:endParaRPr sz="1350" baseline="-30864">
                        <a:latin typeface="Arial MT"/>
                        <a:cs typeface="Arial MT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75" baseline="-30864" dirty="0">
                          <a:latin typeface="Arial MT"/>
                          <a:cs typeface="Arial MT"/>
                        </a:rPr>
                        <a:t>2</a:t>
                      </a:r>
                      <a:endParaRPr sz="1350" baseline="-30864">
                        <a:latin typeface="Arial MT"/>
                        <a:cs typeface="Arial MT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550" spc="-13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202" baseline="-30864" dirty="0">
                          <a:latin typeface="Arial MT"/>
                          <a:cs typeface="Arial MT"/>
                        </a:rPr>
                        <a:t>3</a:t>
                      </a:r>
                      <a:endParaRPr sz="1350" baseline="-30864">
                        <a:latin typeface="Arial MT"/>
                        <a:cs typeface="Arial MT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791983" y="4814913"/>
            <a:ext cx="158115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5" dirty="0">
                <a:latin typeface="Arial MT"/>
                <a:cs typeface="Arial MT"/>
              </a:rPr>
              <a:t>3</a:t>
            </a:r>
            <a:r>
              <a:rPr sz="900" spc="20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46875" y="4814913"/>
            <a:ext cx="157480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5" dirty="0">
                <a:latin typeface="Arial MT"/>
                <a:cs typeface="Arial MT"/>
              </a:rPr>
              <a:t>2</a:t>
            </a:r>
            <a:r>
              <a:rPr sz="900" spc="20" dirty="0">
                <a:latin typeface="Arial MT"/>
                <a:cs typeface="Arial MT"/>
              </a:rPr>
              <a:t>7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18169" y="6525564"/>
            <a:ext cx="2209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solidFill>
                  <a:srgbClr val="424242"/>
                </a:solidFill>
                <a:latin typeface="Verdana"/>
                <a:cs typeface="Verdana"/>
              </a:rPr>
              <a:t>12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2535" y="214706"/>
            <a:ext cx="4665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FCFS</a:t>
            </a:r>
            <a:r>
              <a:rPr sz="4400" spc="-50" dirty="0"/>
              <a:t> </a:t>
            </a:r>
            <a:r>
              <a:rPr sz="4400" spc="-5" dirty="0"/>
              <a:t>Scheduling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961644" y="1211540"/>
            <a:ext cx="6414770" cy="132334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sz="2400" spc="-5" dirty="0">
                <a:latin typeface="Tahoma"/>
                <a:cs typeface="Tahoma"/>
              </a:rPr>
              <a:t>Suppose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that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processes</a:t>
            </a:r>
            <a:r>
              <a:rPr sz="2400" dirty="0">
                <a:latin typeface="Tahoma"/>
                <a:cs typeface="Tahoma"/>
              </a:rPr>
              <a:t> arrive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order:</a:t>
            </a:r>
            <a:endParaRPr sz="2400">
              <a:latin typeface="Tahoma"/>
              <a:cs typeface="Tahoma"/>
            </a:endParaRPr>
          </a:p>
          <a:p>
            <a:pPr marL="3034030">
              <a:lnSpc>
                <a:spcPct val="100000"/>
              </a:lnSpc>
              <a:spcBef>
                <a:spcPts val="480"/>
              </a:spcBef>
            </a:pP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2</a:t>
            </a:r>
            <a:r>
              <a:rPr sz="2475" spc="337" baseline="-20202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3</a:t>
            </a:r>
            <a:r>
              <a:rPr sz="2475" spc="337" baseline="-20202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500" spc="-45" dirty="0">
                <a:latin typeface="Tahoma"/>
                <a:cs typeface="Tahoma"/>
              </a:rPr>
              <a:t>P</a:t>
            </a:r>
            <a:r>
              <a:rPr sz="2475" spc="-67" baseline="-20202" dirty="0">
                <a:latin typeface="Tahoma"/>
                <a:cs typeface="Tahoma"/>
              </a:rPr>
              <a:t>1</a:t>
            </a:r>
            <a:endParaRPr sz="2475" baseline="-20202">
              <a:latin typeface="Tahoma"/>
              <a:cs typeface="Tahoma"/>
            </a:endParaRPr>
          </a:p>
          <a:p>
            <a:pPr marL="269240" indent="-231775">
              <a:lnSpc>
                <a:spcPct val="100000"/>
              </a:lnSpc>
              <a:spcBef>
                <a:spcPts val="555"/>
              </a:spcBef>
              <a:buChar char="•"/>
              <a:tabLst>
                <a:tab pos="269875" algn="l"/>
              </a:tabLst>
            </a:pPr>
            <a:r>
              <a:rPr sz="2400" dirty="0">
                <a:latin typeface="Tahoma"/>
                <a:cs typeface="Tahoma"/>
              </a:rPr>
              <a:t>The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Gantt chart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for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schedule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is: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644" y="4248683"/>
            <a:ext cx="532066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9240" indent="-231775">
              <a:lnSpc>
                <a:spcPct val="100000"/>
              </a:lnSpc>
              <a:spcBef>
                <a:spcPts val="130"/>
              </a:spcBef>
              <a:buChar char="•"/>
              <a:tabLst>
                <a:tab pos="269875" algn="l"/>
              </a:tabLst>
            </a:pPr>
            <a:r>
              <a:rPr sz="2400" dirty="0">
                <a:latin typeface="Tahoma"/>
                <a:cs typeface="Tahoma"/>
              </a:rPr>
              <a:t>Waiting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 fo</a:t>
            </a:r>
            <a:r>
              <a:rPr sz="2400" dirty="0">
                <a:latin typeface="Tahoma"/>
                <a:cs typeface="Tahoma"/>
              </a:rPr>
              <a:t>r </a:t>
            </a:r>
            <a:r>
              <a:rPr sz="2500" spc="-65" dirty="0">
                <a:latin typeface="Tahoma"/>
                <a:cs typeface="Tahoma"/>
              </a:rPr>
              <a:t>P</a:t>
            </a:r>
            <a:r>
              <a:rPr sz="2475" spc="-44" baseline="-20202" dirty="0">
                <a:latin typeface="Tahoma"/>
                <a:cs typeface="Tahoma"/>
              </a:rPr>
              <a:t>1</a:t>
            </a:r>
            <a:r>
              <a:rPr sz="2475" spc="-15" baseline="-20202" dirty="0">
                <a:latin typeface="Tahoma"/>
                <a:cs typeface="Tahoma"/>
              </a:rPr>
              <a:t> </a:t>
            </a:r>
            <a:r>
              <a:rPr sz="2500" spc="-75" dirty="0">
                <a:latin typeface="Tahoma"/>
                <a:cs typeface="Tahoma"/>
              </a:rPr>
              <a:t>=</a:t>
            </a:r>
            <a:r>
              <a:rPr sz="25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?</a:t>
            </a:r>
            <a:r>
              <a:rPr sz="2500" spc="-40" dirty="0">
                <a:latin typeface="Tahoma"/>
                <a:cs typeface="Tahoma"/>
              </a:rPr>
              <a:t>;</a:t>
            </a:r>
            <a:r>
              <a:rPr sz="2500" spc="-290" dirty="0">
                <a:latin typeface="Tahoma"/>
                <a:cs typeface="Tahoma"/>
              </a:rPr>
              <a:t> </a:t>
            </a:r>
            <a:r>
              <a:rPr sz="2500" spc="-65" dirty="0">
                <a:latin typeface="Tahoma"/>
                <a:cs typeface="Tahoma"/>
              </a:rPr>
              <a:t>P</a:t>
            </a:r>
            <a:r>
              <a:rPr sz="2475" spc="-44" baseline="-20202" dirty="0">
                <a:latin typeface="Tahoma"/>
                <a:cs typeface="Tahoma"/>
              </a:rPr>
              <a:t>2</a:t>
            </a:r>
            <a:r>
              <a:rPr sz="2475" spc="367" baseline="-20202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 </a:t>
            </a:r>
            <a:r>
              <a:rPr sz="2400" spc="-5" dirty="0">
                <a:latin typeface="Tahoma"/>
                <a:cs typeface="Tahoma"/>
              </a:rPr>
              <a:t>?</a:t>
            </a:r>
            <a:r>
              <a:rPr sz="2475" spc="-30" baseline="-20202" dirty="0">
                <a:latin typeface="Tahoma"/>
                <a:cs typeface="Tahoma"/>
              </a:rPr>
              <a:t>;</a:t>
            </a:r>
            <a:r>
              <a:rPr sz="2475" spc="-37" baseline="-20202" dirty="0">
                <a:latin typeface="Tahoma"/>
                <a:cs typeface="Tahoma"/>
              </a:rPr>
              <a:t> </a:t>
            </a:r>
            <a:r>
              <a:rPr sz="2500" spc="-65" dirty="0">
                <a:latin typeface="Tahoma"/>
                <a:cs typeface="Tahoma"/>
              </a:rPr>
              <a:t>P</a:t>
            </a:r>
            <a:r>
              <a:rPr sz="2475" spc="-44" baseline="-20202" dirty="0">
                <a:latin typeface="Tahoma"/>
                <a:cs typeface="Tahoma"/>
              </a:rPr>
              <a:t>3</a:t>
            </a:r>
            <a:r>
              <a:rPr sz="2475" spc="-15" baseline="-20202" dirty="0">
                <a:latin typeface="Tahoma"/>
                <a:cs typeface="Tahoma"/>
              </a:rPr>
              <a:t> </a:t>
            </a:r>
            <a:r>
              <a:rPr sz="2500" spc="-75" dirty="0">
                <a:latin typeface="Tahoma"/>
                <a:cs typeface="Tahoma"/>
              </a:rPr>
              <a:t>=</a:t>
            </a:r>
            <a:r>
              <a:rPr sz="25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?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044" y="4631305"/>
            <a:ext cx="7226300" cy="20796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670"/>
              </a:spcBef>
              <a:buChar char="•"/>
              <a:tabLst>
                <a:tab pos="244475" algn="l"/>
                <a:tab pos="3474720" algn="l"/>
              </a:tabLst>
            </a:pPr>
            <a:r>
              <a:rPr sz="2400" dirty="0">
                <a:latin typeface="Tahoma"/>
                <a:cs typeface="Tahoma"/>
              </a:rPr>
              <a:t>Average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waiting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time:	</a:t>
            </a:r>
            <a:r>
              <a:rPr sz="2400" dirty="0">
                <a:latin typeface="Tahoma"/>
                <a:cs typeface="Tahoma"/>
              </a:rPr>
              <a:t>???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Much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better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than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previous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case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?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Font typeface="Tahoma"/>
              <a:buChar char="•"/>
              <a:tabLst>
                <a:tab pos="244475" algn="l"/>
              </a:tabLst>
            </a:pPr>
            <a:r>
              <a:rPr sz="2400" b="1" spc="-10" dirty="0">
                <a:solidFill>
                  <a:srgbClr val="3366FF"/>
                </a:solidFill>
                <a:latin typeface="Tahoma"/>
                <a:cs typeface="Tahoma"/>
              </a:rPr>
              <a:t>Convoy</a:t>
            </a:r>
            <a:r>
              <a:rPr sz="2400" b="1" spc="20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400" b="1" spc="-5" dirty="0">
                <a:solidFill>
                  <a:srgbClr val="3366FF"/>
                </a:solidFill>
                <a:latin typeface="Tahoma"/>
                <a:cs typeface="Tahoma"/>
              </a:rPr>
              <a:t>effect</a:t>
            </a:r>
            <a:r>
              <a:rPr sz="2400" b="1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short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 behind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long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</a:t>
            </a:r>
            <a:endParaRPr sz="2400">
              <a:latin typeface="Tahoma"/>
              <a:cs typeface="Tahoma"/>
            </a:endParaRPr>
          </a:p>
          <a:p>
            <a:pPr marL="637540" marR="833119" indent="-279400">
              <a:lnSpc>
                <a:spcPct val="100000"/>
              </a:lnSpc>
              <a:spcBef>
                <a:spcPts val="525"/>
              </a:spcBef>
            </a:pPr>
            <a:r>
              <a:rPr sz="2200" spc="-5" dirty="0">
                <a:latin typeface="Tahoma"/>
                <a:cs typeface="Tahoma"/>
              </a:rPr>
              <a:t>–</a:t>
            </a:r>
            <a:r>
              <a:rPr sz="2200" spc="3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Consider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one</a:t>
            </a:r>
            <a:r>
              <a:rPr sz="2200" spc="2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CPU-bound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and many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I/O-bound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processes</a:t>
            </a:r>
            <a:endParaRPr sz="220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68245" y="3135228"/>
          <a:ext cx="6917690" cy="557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3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7059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600" spc="-6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425" spc="-97" baseline="-29239" dirty="0">
                          <a:latin typeface="Arial MT"/>
                          <a:cs typeface="Arial MT"/>
                        </a:rPr>
                        <a:t>2</a:t>
                      </a:r>
                      <a:endParaRPr sz="1425" baseline="-29239">
                        <a:latin typeface="Arial MT"/>
                        <a:cs typeface="Arial MT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600" spc="-6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425" spc="-97" baseline="-29239" dirty="0">
                          <a:latin typeface="Arial MT"/>
                          <a:cs typeface="Arial MT"/>
                        </a:rPr>
                        <a:t>3</a:t>
                      </a:r>
                      <a:endParaRPr sz="1425" baseline="-29239">
                        <a:latin typeface="Arial MT"/>
                        <a:cs typeface="Arial MT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R="13716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600" spc="-7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425" spc="-112" baseline="-29239" dirty="0">
                          <a:latin typeface="Arial MT"/>
                          <a:cs typeface="Arial MT"/>
                        </a:rPr>
                        <a:t>1</a:t>
                      </a:r>
                      <a:endParaRPr sz="1425" baseline="-29239">
                        <a:latin typeface="Arial MT"/>
                        <a:cs typeface="Arial MT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028588" y="3726348"/>
            <a:ext cx="9398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0" dirty="0">
                <a:latin typeface="Arial MT"/>
                <a:cs typeface="Arial MT"/>
              </a:rPr>
              <a:t>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0344" y="3726348"/>
            <a:ext cx="9398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0" dirty="0">
                <a:latin typeface="Arial MT"/>
                <a:cs typeface="Arial MT"/>
              </a:rPr>
              <a:t>3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32010" y="3726348"/>
            <a:ext cx="9398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0" dirty="0">
                <a:latin typeface="Arial MT"/>
                <a:cs typeface="Arial MT"/>
              </a:rPr>
              <a:t>6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05520" y="3726348"/>
            <a:ext cx="16129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5" dirty="0">
                <a:latin typeface="Arial MT"/>
                <a:cs typeface="Arial MT"/>
              </a:rPr>
              <a:t>3</a:t>
            </a:r>
            <a:r>
              <a:rPr sz="950" spc="10" dirty="0">
                <a:latin typeface="Arial MT"/>
                <a:cs typeface="Arial MT"/>
              </a:rPr>
              <a:t>0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1465" marR="5080" indent="-1655445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Shortest-Job-First </a:t>
            </a:r>
            <a:r>
              <a:rPr sz="4000" spc="-10" dirty="0"/>
              <a:t>(SJF) </a:t>
            </a:r>
            <a:r>
              <a:rPr sz="4000" spc="-1160" dirty="0"/>
              <a:t> </a:t>
            </a:r>
            <a:r>
              <a:rPr sz="4000" spc="-10" dirty="0"/>
              <a:t>Scheduling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87044" y="1265301"/>
            <a:ext cx="6917055" cy="343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Associate </a:t>
            </a:r>
            <a:r>
              <a:rPr sz="2400" spc="-5" dirty="0">
                <a:latin typeface="Tahoma"/>
                <a:cs typeface="Tahoma"/>
              </a:rPr>
              <a:t>with each process </a:t>
            </a:r>
            <a:r>
              <a:rPr sz="2400" dirty="0">
                <a:latin typeface="Tahoma"/>
                <a:cs typeface="Tahoma"/>
              </a:rPr>
              <a:t>the length of its next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CPU</a:t>
            </a:r>
            <a:r>
              <a:rPr sz="2400" spc="-5" dirty="0">
                <a:latin typeface="Tahoma"/>
                <a:cs typeface="Tahoma"/>
              </a:rPr>
              <a:t> burst</a:t>
            </a:r>
            <a:endParaRPr sz="2400">
              <a:latin typeface="Tahoma"/>
              <a:cs typeface="Tahoma"/>
            </a:endParaRPr>
          </a:p>
          <a:p>
            <a:pPr marL="723900" lvl="1" indent="-366395">
              <a:lnSpc>
                <a:spcPct val="100000"/>
              </a:lnSpc>
              <a:spcBef>
                <a:spcPts val="520"/>
              </a:spcBef>
              <a:buChar char="–"/>
              <a:tabLst>
                <a:tab pos="723900" algn="l"/>
                <a:tab pos="724535" algn="l"/>
              </a:tabLst>
            </a:pPr>
            <a:r>
              <a:rPr sz="2200" spc="-5" dirty="0">
                <a:latin typeface="Tahoma"/>
                <a:cs typeface="Tahoma"/>
              </a:rPr>
              <a:t>Use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these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lengths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to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schedule</a:t>
            </a:r>
            <a:r>
              <a:rPr sz="2200" spc="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the </a:t>
            </a:r>
            <a:r>
              <a:rPr sz="2200" spc="-10" dirty="0">
                <a:latin typeface="Tahoma"/>
                <a:cs typeface="Tahoma"/>
              </a:rPr>
              <a:t>process</a:t>
            </a:r>
            <a:r>
              <a:rPr sz="2200" spc="3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with</a:t>
            </a:r>
            <a:endParaRPr sz="2200">
              <a:latin typeface="Tahoma"/>
              <a:cs typeface="Tahoma"/>
            </a:endParaRPr>
          </a:p>
          <a:p>
            <a:pPr marL="637540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Tahoma"/>
                <a:cs typeface="Tahoma"/>
              </a:rPr>
              <a:t>the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shortest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time</a:t>
            </a:r>
            <a:endParaRPr sz="2200">
              <a:latin typeface="Tahoma"/>
              <a:cs typeface="Tahoma"/>
            </a:endParaRPr>
          </a:p>
          <a:p>
            <a:pPr marL="243840" marR="208279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SJF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optimal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–</a:t>
            </a:r>
            <a:r>
              <a:rPr sz="2400" spc="-5" dirty="0">
                <a:latin typeface="Tahoma"/>
                <a:cs typeface="Tahoma"/>
              </a:rPr>
              <a:t> gives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minimum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average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waiting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for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given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set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5" dirty="0">
                <a:latin typeface="Tahoma"/>
                <a:cs typeface="Tahoma"/>
              </a:rPr>
              <a:t> processes</a:t>
            </a:r>
            <a:endParaRPr sz="2400">
              <a:latin typeface="Tahoma"/>
              <a:cs typeface="Tahoma"/>
            </a:endParaRPr>
          </a:p>
          <a:p>
            <a:pPr marL="637540" lvl="1" indent="-279400">
              <a:lnSpc>
                <a:spcPct val="100000"/>
              </a:lnSpc>
              <a:spcBef>
                <a:spcPts val="525"/>
              </a:spcBef>
              <a:buChar char="–"/>
              <a:tabLst>
                <a:tab pos="637540" algn="l"/>
              </a:tabLst>
            </a:pPr>
            <a:r>
              <a:rPr sz="2200" spc="-5" dirty="0">
                <a:latin typeface="Tahoma"/>
                <a:cs typeface="Tahoma"/>
              </a:rPr>
              <a:t>The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difficulty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is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knowing</a:t>
            </a:r>
            <a:r>
              <a:rPr sz="2200" spc="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the length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of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the </a:t>
            </a:r>
            <a:r>
              <a:rPr sz="2200" spc="-10" dirty="0">
                <a:latin typeface="Tahoma"/>
                <a:cs typeface="Tahoma"/>
              </a:rPr>
              <a:t>next</a:t>
            </a:r>
            <a:endParaRPr sz="2200">
              <a:latin typeface="Tahoma"/>
              <a:cs typeface="Tahoma"/>
            </a:endParaRPr>
          </a:p>
          <a:p>
            <a:pPr marL="637540">
              <a:lnSpc>
                <a:spcPct val="100000"/>
              </a:lnSpc>
            </a:pPr>
            <a:r>
              <a:rPr sz="2200" spc="-5" dirty="0">
                <a:latin typeface="Tahoma"/>
                <a:cs typeface="Tahoma"/>
              </a:rPr>
              <a:t>CPU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request</a:t>
            </a:r>
            <a:endParaRPr sz="2200">
              <a:latin typeface="Tahoma"/>
              <a:cs typeface="Tahoma"/>
            </a:endParaRPr>
          </a:p>
          <a:p>
            <a:pPr marL="637540" lvl="1" indent="-279400">
              <a:lnSpc>
                <a:spcPct val="100000"/>
              </a:lnSpc>
              <a:spcBef>
                <a:spcPts val="530"/>
              </a:spcBef>
              <a:buChar char="–"/>
              <a:tabLst>
                <a:tab pos="637540" algn="l"/>
              </a:tabLst>
            </a:pPr>
            <a:r>
              <a:rPr sz="2200" spc="-5" dirty="0">
                <a:latin typeface="Tahoma"/>
                <a:cs typeface="Tahoma"/>
              </a:rPr>
              <a:t>Could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ask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the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user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5732" y="138506"/>
            <a:ext cx="42729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Example</a:t>
            </a:r>
            <a:r>
              <a:rPr sz="4400" spc="-45" dirty="0"/>
              <a:t> </a:t>
            </a:r>
            <a:r>
              <a:rPr sz="4400" dirty="0"/>
              <a:t>of</a:t>
            </a:r>
            <a:r>
              <a:rPr sz="4400" spc="-25" dirty="0"/>
              <a:t> </a:t>
            </a:r>
            <a:r>
              <a:rPr sz="4400" spc="-5" dirty="0"/>
              <a:t>SJF</a:t>
            </a:r>
            <a:endParaRPr sz="44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69516" y="1339701"/>
          <a:ext cx="4347845" cy="2179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400" u="heavy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Process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6144">
                        <a:lnSpc>
                          <a:spcPct val="100000"/>
                        </a:lnSpc>
                      </a:pP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Burst</a:t>
                      </a:r>
                      <a:r>
                        <a:rPr sz="2400" u="heavy" spc="-7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Time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221"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1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5327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069"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2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3276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1"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3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3276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578"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4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3276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31140" y="3961257"/>
            <a:ext cx="3007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SJF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scheduling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chart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6156147"/>
            <a:ext cx="6080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Average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waiting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???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For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FCFS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 ???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02485" y="4917197"/>
          <a:ext cx="6624953" cy="588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8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700" spc="-7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500" spc="-104" baseline="-30555" dirty="0">
                          <a:latin typeface="Arial MT"/>
                          <a:cs typeface="Arial MT"/>
                        </a:rPr>
                        <a:t>4</a:t>
                      </a:r>
                      <a:endParaRPr sz="1500" baseline="-30555">
                        <a:latin typeface="Arial MT"/>
                        <a:cs typeface="Arial MT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700" spc="-7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500" spc="-104" baseline="-30555" dirty="0">
                          <a:latin typeface="Arial MT"/>
                          <a:cs typeface="Arial MT"/>
                        </a:rPr>
                        <a:t>1</a:t>
                      </a:r>
                      <a:endParaRPr sz="1500" baseline="-30555">
                        <a:latin typeface="Arial MT"/>
                        <a:cs typeface="Arial MT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700" spc="-13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500" spc="-202" baseline="-30555" dirty="0">
                          <a:latin typeface="Arial MT"/>
                          <a:cs typeface="Arial MT"/>
                        </a:rPr>
                        <a:t>3</a:t>
                      </a:r>
                      <a:endParaRPr sz="1500" baseline="-30555">
                        <a:latin typeface="Arial MT"/>
                        <a:cs typeface="Arial MT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700" spc="-13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500" spc="-202" baseline="-30555" dirty="0">
                          <a:latin typeface="Arial MT"/>
                          <a:cs typeface="Arial MT"/>
                        </a:rPr>
                        <a:t>2</a:t>
                      </a:r>
                      <a:endParaRPr sz="1500" baseline="-30555">
                        <a:latin typeface="Arial MT"/>
                        <a:cs typeface="Arial MT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061946" y="5541981"/>
            <a:ext cx="97790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10" dirty="0">
                <a:latin typeface="Arial MT"/>
                <a:cs typeface="Arial MT"/>
              </a:rPr>
              <a:t>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5687" y="5541981"/>
            <a:ext cx="97790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10" dirty="0">
                <a:latin typeface="Arial MT"/>
                <a:cs typeface="Arial MT"/>
              </a:rPr>
              <a:t>3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39146" y="5541981"/>
            <a:ext cx="16954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10" dirty="0">
                <a:latin typeface="Arial MT"/>
                <a:cs typeface="Arial MT"/>
              </a:rPr>
              <a:t>24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77853" y="5541981"/>
            <a:ext cx="16954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10" dirty="0">
                <a:latin typeface="Arial MT"/>
                <a:cs typeface="Arial MT"/>
              </a:rPr>
              <a:t>16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37175" y="5541981"/>
            <a:ext cx="97790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10" dirty="0">
                <a:latin typeface="Arial MT"/>
                <a:cs typeface="Arial MT"/>
              </a:rPr>
              <a:t>9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6136" y="1651"/>
            <a:ext cx="73882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7945" marR="5080" indent="-259588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Example of Shortest-remaining- </a:t>
            </a:r>
            <a:r>
              <a:rPr sz="3600" spc="-1040" dirty="0"/>
              <a:t> </a:t>
            </a:r>
            <a:r>
              <a:rPr sz="3600" spc="-5" dirty="0"/>
              <a:t>time-first</a:t>
            </a:r>
            <a:endParaRPr sz="36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51940" y="1265301"/>
            <a:ext cx="69100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5080" indent="-232410">
              <a:lnSpc>
                <a:spcPct val="100000"/>
              </a:lnSpc>
              <a:spcBef>
                <a:spcPts val="100"/>
              </a:spcBef>
              <a:buChar char="•"/>
              <a:tabLst>
                <a:tab pos="245110" algn="l"/>
              </a:tabLst>
            </a:pPr>
            <a:r>
              <a:rPr sz="2400" spc="-5" dirty="0">
                <a:latin typeface="Tahoma"/>
                <a:cs typeface="Tahoma"/>
              </a:rPr>
              <a:t>Now we </a:t>
            </a:r>
            <a:r>
              <a:rPr sz="2400" dirty="0">
                <a:latin typeface="Tahoma"/>
                <a:cs typeface="Tahoma"/>
              </a:rPr>
              <a:t>add </a:t>
            </a:r>
            <a:r>
              <a:rPr sz="2400" spc="-5" dirty="0">
                <a:latin typeface="Tahoma"/>
                <a:cs typeface="Tahoma"/>
              </a:rPr>
              <a:t>the concepts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varying </a:t>
            </a:r>
            <a:r>
              <a:rPr sz="2400" dirty="0">
                <a:latin typeface="Tahoma"/>
                <a:cs typeface="Tahoma"/>
              </a:rPr>
              <a:t>arrival </a:t>
            </a:r>
            <a:r>
              <a:rPr sz="2400" spc="-5" dirty="0">
                <a:latin typeface="Tahoma"/>
                <a:cs typeface="Tahoma"/>
              </a:rPr>
              <a:t>times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 preemption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to 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analysis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26513" y="2065710"/>
          <a:ext cx="5055234" cy="2196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0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Process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500" u="heavy" spc="-4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Arrival</a:t>
                      </a:r>
                      <a:r>
                        <a:rPr sz="2500" u="heavy" spc="-10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Time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Burst</a:t>
                      </a:r>
                      <a:r>
                        <a:rPr sz="2400" u="heavy" spc="-6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Time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292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1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5956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1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2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956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039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3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956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9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05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4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9563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51940" y="4248683"/>
            <a:ext cx="396557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30"/>
              </a:spcBef>
              <a:buSzPct val="96000"/>
              <a:buChar char="•"/>
              <a:tabLst>
                <a:tab pos="245110" algn="l"/>
              </a:tabLst>
            </a:pPr>
            <a:r>
              <a:rPr sz="2500" spc="-55" dirty="0">
                <a:latin typeface="Tahoma"/>
                <a:cs typeface="Tahoma"/>
              </a:rPr>
              <a:t>Preemptive</a:t>
            </a:r>
            <a:r>
              <a:rPr sz="25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SJF Gantt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Chart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1940" y="5415792"/>
            <a:ext cx="6938009" cy="92392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40"/>
              </a:spcBef>
              <a:tabLst>
                <a:tab pos="609600" algn="l"/>
                <a:tab pos="1464945" algn="l"/>
                <a:tab pos="2823845" algn="l"/>
                <a:tab pos="4387850" algn="l"/>
                <a:tab pos="6538595" algn="l"/>
              </a:tabLst>
            </a:pPr>
            <a:r>
              <a:rPr sz="950" spc="15" dirty="0">
                <a:latin typeface="Arial MT"/>
                <a:cs typeface="Arial MT"/>
              </a:rPr>
              <a:t>0	1	5	</a:t>
            </a:r>
            <a:r>
              <a:rPr sz="950" spc="10" dirty="0">
                <a:latin typeface="Arial MT"/>
                <a:cs typeface="Arial MT"/>
              </a:rPr>
              <a:t>10	</a:t>
            </a:r>
            <a:r>
              <a:rPr sz="950" spc="15" dirty="0">
                <a:latin typeface="Arial MT"/>
                <a:cs typeface="Arial MT"/>
              </a:rPr>
              <a:t>17	</a:t>
            </a:r>
            <a:r>
              <a:rPr sz="950" spc="10" dirty="0">
                <a:latin typeface="Arial MT"/>
                <a:cs typeface="Arial MT"/>
              </a:rPr>
              <a:t>26</a:t>
            </a:r>
            <a:endParaRPr sz="950">
              <a:latin typeface="Arial MT"/>
              <a:cs typeface="Arial MT"/>
            </a:endParaRPr>
          </a:p>
          <a:p>
            <a:pPr marL="244475" marR="5080" indent="-232410">
              <a:lnSpc>
                <a:spcPct val="100000"/>
              </a:lnSpc>
              <a:spcBef>
                <a:spcPts val="130"/>
              </a:spcBef>
              <a:buChar char="•"/>
              <a:tabLst>
                <a:tab pos="245110" algn="l"/>
              </a:tabLst>
            </a:pPr>
            <a:r>
              <a:rPr sz="2400" dirty="0">
                <a:latin typeface="Tahoma"/>
                <a:cs typeface="Tahoma"/>
              </a:rPr>
              <a:t>Average </a:t>
            </a:r>
            <a:r>
              <a:rPr sz="2400" spc="-5" dirty="0">
                <a:latin typeface="Tahoma"/>
                <a:cs typeface="Tahoma"/>
              </a:rPr>
              <a:t>waiting time </a:t>
            </a:r>
            <a:r>
              <a:rPr sz="2400" dirty="0">
                <a:latin typeface="Tahoma"/>
                <a:cs typeface="Tahoma"/>
              </a:rPr>
              <a:t>= [(10-1)+(1-1)+(17-2)+5-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3)]/4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26/4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6.5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msec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92712" y="4810972"/>
          <a:ext cx="6371588" cy="5701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8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6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28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0117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650" spc="-8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425" spc="-120" baseline="-29239" dirty="0">
                          <a:latin typeface="Arial MT"/>
                          <a:cs typeface="Arial MT"/>
                        </a:rPr>
                        <a:t>1</a:t>
                      </a:r>
                      <a:endParaRPr sz="1425" baseline="-29239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650" spc="-7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425" spc="-104" baseline="-29239" dirty="0">
                          <a:latin typeface="Arial MT"/>
                          <a:cs typeface="Arial MT"/>
                        </a:rPr>
                        <a:t>2</a:t>
                      </a:r>
                      <a:endParaRPr sz="1425" baseline="-29239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650" spc="-13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425" spc="-195" baseline="-29239" dirty="0">
                          <a:latin typeface="Arial MT"/>
                          <a:cs typeface="Arial MT"/>
                        </a:rPr>
                        <a:t>4</a:t>
                      </a:r>
                      <a:endParaRPr sz="1425" baseline="-29239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64769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650" spc="-13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425" spc="-195" baseline="-29239" dirty="0">
                          <a:latin typeface="Arial MT"/>
                          <a:cs typeface="Arial MT"/>
                        </a:rPr>
                        <a:t>1</a:t>
                      </a:r>
                      <a:endParaRPr sz="1425" baseline="-29239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650" spc="-13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425" spc="-195" baseline="-29239" dirty="0">
                          <a:latin typeface="Arial MT"/>
                          <a:cs typeface="Arial MT"/>
                        </a:rPr>
                        <a:t>3</a:t>
                      </a:r>
                      <a:endParaRPr sz="1425" baseline="-29239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2060" y="113538"/>
            <a:ext cx="51187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Round</a:t>
            </a:r>
            <a:r>
              <a:rPr sz="4400" spc="-35" dirty="0"/>
              <a:t> </a:t>
            </a:r>
            <a:r>
              <a:rPr sz="4400" spc="-5" dirty="0"/>
              <a:t>Robin</a:t>
            </a:r>
            <a:r>
              <a:rPr sz="4400" spc="-55" dirty="0"/>
              <a:t> </a:t>
            </a:r>
            <a:r>
              <a:rPr sz="4400" spc="-5" dirty="0"/>
              <a:t>(RR)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67841" y="1263777"/>
            <a:ext cx="6833234" cy="505523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43840" marR="55244" indent="-231775">
              <a:lnSpc>
                <a:spcPts val="2640"/>
              </a:lnSpc>
              <a:spcBef>
                <a:spcPts val="180"/>
              </a:spcBef>
              <a:buChar char="•"/>
              <a:tabLst>
                <a:tab pos="244475" algn="l"/>
                <a:tab pos="5647690" algn="l"/>
              </a:tabLst>
            </a:pPr>
            <a:r>
              <a:rPr sz="2200" spc="-10" dirty="0">
                <a:latin typeface="Tahoma"/>
                <a:cs typeface="Tahoma"/>
              </a:rPr>
              <a:t>Each</a:t>
            </a:r>
            <a:r>
              <a:rPr sz="2200" spc="-5" dirty="0">
                <a:latin typeface="Tahoma"/>
                <a:cs typeface="Tahoma"/>
              </a:rPr>
              <a:t> process</a:t>
            </a:r>
            <a:r>
              <a:rPr sz="2200" spc="3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gets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small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unit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of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CPU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time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(</a:t>
            </a:r>
            <a:r>
              <a:rPr sz="2200" b="1" spc="-5" dirty="0">
                <a:solidFill>
                  <a:srgbClr val="3366FF"/>
                </a:solidFill>
                <a:latin typeface="Tahoma"/>
                <a:cs typeface="Tahoma"/>
              </a:rPr>
              <a:t>time </a:t>
            </a:r>
            <a:r>
              <a:rPr sz="2200" b="1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3366FF"/>
                </a:solidFill>
                <a:latin typeface="Tahoma"/>
                <a:cs typeface="Tahoma"/>
              </a:rPr>
              <a:t>quantum</a:t>
            </a:r>
            <a:r>
              <a:rPr sz="2200" b="1" spc="50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q</a:t>
            </a:r>
            <a:r>
              <a:rPr sz="2200" spc="-25" dirty="0">
                <a:latin typeface="Tahoma"/>
                <a:cs typeface="Tahoma"/>
              </a:rPr>
              <a:t>),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usually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10-100</a:t>
            </a:r>
            <a:r>
              <a:rPr sz="2200" spc="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milliseconds.	After</a:t>
            </a:r>
            <a:r>
              <a:rPr sz="2200" spc="-6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this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time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has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elapsed,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the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process</a:t>
            </a:r>
            <a:r>
              <a:rPr sz="2200" spc="3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is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preempted</a:t>
            </a:r>
            <a:r>
              <a:rPr sz="2200" spc="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and 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added to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the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end</a:t>
            </a:r>
            <a:r>
              <a:rPr sz="2200" spc="-5" dirty="0">
                <a:latin typeface="Tahoma"/>
                <a:cs typeface="Tahoma"/>
              </a:rPr>
              <a:t> of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the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ready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queue.</a:t>
            </a:r>
            <a:endParaRPr sz="2200">
              <a:latin typeface="Tahoma"/>
              <a:cs typeface="Tahoma"/>
            </a:endParaRPr>
          </a:p>
          <a:p>
            <a:pPr marL="243840" marR="9525" indent="-231775">
              <a:lnSpc>
                <a:spcPts val="2640"/>
              </a:lnSpc>
              <a:spcBef>
                <a:spcPts val="535"/>
              </a:spcBef>
              <a:buChar char="•"/>
              <a:tabLst>
                <a:tab pos="244475" algn="l"/>
              </a:tabLst>
            </a:pPr>
            <a:r>
              <a:rPr sz="2200" spc="-5" dirty="0">
                <a:latin typeface="Tahoma"/>
                <a:cs typeface="Tahoma"/>
              </a:rPr>
              <a:t>If </a:t>
            </a:r>
            <a:r>
              <a:rPr sz="2200" spc="-10" dirty="0">
                <a:latin typeface="Tahoma"/>
                <a:cs typeface="Tahoma"/>
              </a:rPr>
              <a:t>there</a:t>
            </a:r>
            <a:r>
              <a:rPr sz="2200" spc="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are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300" spc="-60" dirty="0">
                <a:latin typeface="Tahoma"/>
                <a:cs typeface="Tahoma"/>
              </a:rPr>
              <a:t>n</a:t>
            </a:r>
            <a:r>
              <a:rPr sz="2300" spc="-2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processes</a:t>
            </a:r>
            <a:r>
              <a:rPr sz="2200" spc="5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in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the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ready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queue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and </a:t>
            </a:r>
            <a:r>
              <a:rPr sz="2200" spc="-10" dirty="0">
                <a:latin typeface="Tahoma"/>
                <a:cs typeface="Tahoma"/>
              </a:rPr>
              <a:t>the 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time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quantum</a:t>
            </a:r>
            <a:r>
              <a:rPr sz="2200" spc="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is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300" spc="-35" dirty="0">
                <a:latin typeface="Tahoma"/>
                <a:cs typeface="Tahoma"/>
              </a:rPr>
              <a:t>q</a:t>
            </a:r>
            <a:r>
              <a:rPr sz="2200" spc="-35" dirty="0">
                <a:latin typeface="Tahoma"/>
                <a:cs typeface="Tahoma"/>
              </a:rPr>
              <a:t>,</a:t>
            </a:r>
            <a:r>
              <a:rPr sz="2200" spc="-10" dirty="0">
                <a:latin typeface="Tahoma"/>
                <a:cs typeface="Tahoma"/>
              </a:rPr>
              <a:t> then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each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process</a:t>
            </a:r>
            <a:r>
              <a:rPr sz="2200" spc="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gets</a:t>
            </a:r>
            <a:r>
              <a:rPr sz="2200" spc="20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1/</a:t>
            </a:r>
            <a:r>
              <a:rPr sz="2300" spc="-20" dirty="0">
                <a:latin typeface="Tahoma"/>
                <a:cs typeface="Tahoma"/>
              </a:rPr>
              <a:t>n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of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the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CPU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time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in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chunks</a:t>
            </a:r>
            <a:r>
              <a:rPr sz="2200" spc="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of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at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most</a:t>
            </a:r>
            <a:r>
              <a:rPr sz="2200" spc="25" dirty="0">
                <a:latin typeface="Tahoma"/>
                <a:cs typeface="Tahoma"/>
              </a:rPr>
              <a:t> </a:t>
            </a:r>
            <a:r>
              <a:rPr sz="2300" spc="-60" dirty="0">
                <a:latin typeface="Tahoma"/>
                <a:cs typeface="Tahoma"/>
              </a:rPr>
              <a:t>q</a:t>
            </a:r>
            <a:r>
              <a:rPr sz="2300" spc="-2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time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units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at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once. 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No process</a:t>
            </a:r>
            <a:r>
              <a:rPr sz="2200" spc="3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waits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more</a:t>
            </a:r>
            <a:r>
              <a:rPr sz="2200" spc="2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than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spc="-25" dirty="0">
                <a:latin typeface="Tahoma"/>
                <a:cs typeface="Tahoma"/>
              </a:rPr>
              <a:t>(</a:t>
            </a:r>
            <a:r>
              <a:rPr sz="2300" spc="-25" dirty="0">
                <a:latin typeface="Tahoma"/>
                <a:cs typeface="Tahoma"/>
              </a:rPr>
              <a:t>n</a:t>
            </a:r>
            <a:r>
              <a:rPr sz="2200" spc="-25" dirty="0">
                <a:latin typeface="Tahoma"/>
                <a:cs typeface="Tahoma"/>
              </a:rPr>
              <a:t>-1)</a:t>
            </a:r>
            <a:r>
              <a:rPr sz="2300" spc="-25" dirty="0">
                <a:latin typeface="Tahoma"/>
                <a:cs typeface="Tahoma"/>
              </a:rPr>
              <a:t>q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time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units.</a:t>
            </a:r>
            <a:endParaRPr sz="2200">
              <a:latin typeface="Tahoma"/>
              <a:cs typeface="Tahoma"/>
            </a:endParaRPr>
          </a:p>
          <a:p>
            <a:pPr marL="243840" marR="529590" indent="-231775">
              <a:lnSpc>
                <a:spcPct val="100000"/>
              </a:lnSpc>
              <a:spcBef>
                <a:spcPts val="440"/>
              </a:spcBef>
              <a:buChar char="•"/>
              <a:tabLst>
                <a:tab pos="244475" algn="l"/>
              </a:tabLst>
            </a:pPr>
            <a:r>
              <a:rPr sz="2200" spc="-5" dirty="0">
                <a:latin typeface="Tahoma"/>
                <a:cs typeface="Tahoma"/>
              </a:rPr>
              <a:t>Timer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interrupts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every</a:t>
            </a:r>
            <a:r>
              <a:rPr sz="2200" spc="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quantum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to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schedule</a:t>
            </a:r>
            <a:r>
              <a:rPr sz="2200" spc="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next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process</a:t>
            </a:r>
            <a:endParaRPr sz="22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530"/>
              </a:spcBef>
              <a:buChar char="•"/>
              <a:tabLst>
                <a:tab pos="244475" algn="l"/>
              </a:tabLst>
            </a:pPr>
            <a:r>
              <a:rPr sz="2200" spc="-10" dirty="0">
                <a:latin typeface="Tahoma"/>
                <a:cs typeface="Tahoma"/>
              </a:rPr>
              <a:t>Performance</a:t>
            </a:r>
            <a:endParaRPr sz="2200">
              <a:latin typeface="Tahoma"/>
              <a:cs typeface="Tahoma"/>
            </a:endParaRPr>
          </a:p>
          <a:p>
            <a:pPr marL="637540" lvl="1" indent="-280035">
              <a:lnSpc>
                <a:spcPct val="100000"/>
              </a:lnSpc>
              <a:spcBef>
                <a:spcPts val="415"/>
              </a:spcBef>
              <a:buSzPct val="95652"/>
              <a:buChar char="–"/>
              <a:tabLst>
                <a:tab pos="638175" algn="l"/>
              </a:tabLst>
            </a:pPr>
            <a:r>
              <a:rPr sz="2300" spc="-60" dirty="0">
                <a:latin typeface="Tahoma"/>
                <a:cs typeface="Tahoma"/>
              </a:rPr>
              <a:t>q</a:t>
            </a:r>
            <a:r>
              <a:rPr sz="2300" spc="-5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large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Symbol"/>
                <a:cs typeface="Symbol"/>
              </a:rPr>
              <a:t>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ahoma"/>
                <a:cs typeface="Tahoma"/>
              </a:rPr>
              <a:t>FIFO</a:t>
            </a:r>
            <a:endParaRPr sz="2200">
              <a:latin typeface="Tahoma"/>
              <a:cs typeface="Tahoma"/>
            </a:endParaRPr>
          </a:p>
          <a:p>
            <a:pPr marL="637540" lvl="1" indent="-280035">
              <a:lnSpc>
                <a:spcPts val="2755"/>
              </a:lnSpc>
              <a:spcBef>
                <a:spcPts val="405"/>
              </a:spcBef>
              <a:buSzPct val="95652"/>
              <a:buChar char="–"/>
              <a:tabLst>
                <a:tab pos="638175" algn="l"/>
              </a:tabLst>
            </a:pPr>
            <a:r>
              <a:rPr sz="2300" spc="-60" dirty="0">
                <a:latin typeface="Tahoma"/>
                <a:cs typeface="Tahoma"/>
              </a:rPr>
              <a:t>q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small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Symbol"/>
                <a:cs typeface="Symbol"/>
              </a:rPr>
              <a:t>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300" spc="-60" dirty="0">
                <a:latin typeface="Tahoma"/>
                <a:cs typeface="Tahoma"/>
              </a:rPr>
              <a:t>q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must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be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large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with </a:t>
            </a:r>
            <a:r>
              <a:rPr sz="2200" spc="-10" dirty="0">
                <a:latin typeface="Tahoma"/>
                <a:cs typeface="Tahoma"/>
              </a:rPr>
              <a:t>respect</a:t>
            </a:r>
            <a:r>
              <a:rPr sz="2200" spc="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to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context</a:t>
            </a:r>
            <a:endParaRPr sz="2200">
              <a:latin typeface="Tahoma"/>
              <a:cs typeface="Tahoma"/>
            </a:endParaRPr>
          </a:p>
          <a:p>
            <a:pPr marL="637540">
              <a:lnSpc>
                <a:spcPts val="2635"/>
              </a:lnSpc>
            </a:pPr>
            <a:r>
              <a:rPr sz="2200" spc="-5" dirty="0">
                <a:latin typeface="Tahoma"/>
                <a:cs typeface="Tahoma"/>
              </a:rPr>
              <a:t>switch,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otherwise</a:t>
            </a:r>
            <a:r>
              <a:rPr sz="2200" spc="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overhead</a:t>
            </a:r>
            <a:r>
              <a:rPr sz="2200" spc="4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is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too</a:t>
            </a:r>
            <a:r>
              <a:rPr sz="2200" spc="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high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729230" marR="5080" indent="-135509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Example</a:t>
            </a:r>
            <a:r>
              <a:rPr sz="3600" spc="-45" dirty="0"/>
              <a:t> </a:t>
            </a:r>
            <a:r>
              <a:rPr sz="3600" spc="-5" dirty="0"/>
              <a:t>of</a:t>
            </a:r>
            <a:r>
              <a:rPr sz="3600" spc="-20" dirty="0"/>
              <a:t> </a:t>
            </a:r>
            <a:r>
              <a:rPr sz="3600" spc="-5" dirty="0"/>
              <a:t>RR</a:t>
            </a:r>
            <a:r>
              <a:rPr sz="3600" spc="-35" dirty="0"/>
              <a:t> </a:t>
            </a:r>
            <a:r>
              <a:rPr sz="3600" dirty="0"/>
              <a:t>with</a:t>
            </a:r>
            <a:r>
              <a:rPr sz="3600" spc="-15" dirty="0"/>
              <a:t> </a:t>
            </a:r>
            <a:r>
              <a:rPr sz="3600" spc="-5" dirty="0"/>
              <a:t>Time </a:t>
            </a:r>
            <a:r>
              <a:rPr sz="3600" spc="-1040" dirty="0"/>
              <a:t> </a:t>
            </a:r>
            <a:r>
              <a:rPr sz="3600" spc="-5" dirty="0"/>
              <a:t>Quantum</a:t>
            </a:r>
            <a:r>
              <a:rPr sz="3600" spc="-30" dirty="0"/>
              <a:t> </a:t>
            </a:r>
            <a:r>
              <a:rPr sz="3600" dirty="0"/>
              <a:t>=</a:t>
            </a:r>
            <a:r>
              <a:rPr sz="3600" spc="-15" dirty="0"/>
              <a:t> </a:t>
            </a:r>
            <a:r>
              <a:rPr sz="3600" dirty="0"/>
              <a:t>4</a:t>
            </a:r>
            <a:endParaRPr sz="360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24276" y="1201652"/>
          <a:ext cx="3076574" cy="16308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8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873">
                <a:tc>
                  <a:txBody>
                    <a:bodyPr/>
                    <a:lstStyle/>
                    <a:p>
                      <a:pPr marL="31750">
                        <a:lnSpc>
                          <a:spcPts val="2865"/>
                        </a:lnSpc>
                      </a:pP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Process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7490" algn="ctr">
                        <a:lnSpc>
                          <a:spcPts val="2865"/>
                        </a:lnSpc>
                      </a:pP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Burst</a:t>
                      </a:r>
                      <a:r>
                        <a:rPr sz="2400" u="heavy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Time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261">
                <a:tc>
                  <a:txBody>
                    <a:bodyPr/>
                    <a:lstStyle/>
                    <a:p>
                      <a:pPr marL="4019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1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23812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175">
                <a:tc>
                  <a:txBody>
                    <a:bodyPr/>
                    <a:lstStyle/>
                    <a:p>
                      <a:pPr marR="133350" algn="ctr">
                        <a:lnSpc>
                          <a:spcPts val="2880"/>
                        </a:lnSpc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2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165" algn="ctr">
                        <a:lnSpc>
                          <a:spcPts val="286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17">
                <a:tc>
                  <a:txBody>
                    <a:bodyPr/>
                    <a:lstStyle/>
                    <a:p>
                      <a:pPr marR="132715" algn="ctr">
                        <a:lnSpc>
                          <a:spcPts val="2885"/>
                        </a:lnSpc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3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0665" algn="ctr">
                        <a:lnSpc>
                          <a:spcPts val="286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33068" y="3201161"/>
            <a:ext cx="2782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The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Gantt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chart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3068" y="4993640"/>
            <a:ext cx="7185025" cy="15259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3840" marR="107314" indent="-231775">
              <a:lnSpc>
                <a:spcPts val="2590"/>
              </a:lnSpc>
              <a:spcBef>
                <a:spcPts val="425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Typically, </a:t>
            </a:r>
            <a:r>
              <a:rPr sz="2400" dirty="0">
                <a:latin typeface="Tahoma"/>
                <a:cs typeface="Tahoma"/>
              </a:rPr>
              <a:t>higher average </a:t>
            </a:r>
            <a:r>
              <a:rPr sz="2400" spc="-5" dirty="0">
                <a:latin typeface="Tahoma"/>
                <a:cs typeface="Tahoma"/>
              </a:rPr>
              <a:t>turnaround than SJF, </a:t>
            </a:r>
            <a:r>
              <a:rPr sz="2400" dirty="0">
                <a:latin typeface="Tahoma"/>
                <a:cs typeface="Tahoma"/>
              </a:rPr>
              <a:t>but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better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500" b="1" spc="-60" dirty="0">
                <a:latin typeface="Tahoma"/>
                <a:cs typeface="Tahoma"/>
              </a:rPr>
              <a:t>response</a:t>
            </a:r>
            <a:endParaRPr sz="25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254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q</a:t>
            </a:r>
            <a:r>
              <a:rPr sz="2400" spc="-5" dirty="0">
                <a:latin typeface="Tahoma"/>
                <a:cs typeface="Tahoma"/>
              </a:rPr>
              <a:t> should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 large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compared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to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context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switch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</a:t>
            </a:r>
            <a:endParaRPr sz="24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spcBef>
                <a:spcPts val="29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q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usually</a:t>
            </a:r>
            <a:r>
              <a:rPr sz="2400" spc="-5" dirty="0">
                <a:latin typeface="Tahoma"/>
                <a:cs typeface="Tahoma"/>
              </a:rPr>
              <a:t> 10ms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to 100ms,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context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switch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10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usec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89197" y="3825832"/>
          <a:ext cx="6654164" cy="530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2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940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89" baseline="-30864" dirty="0">
                          <a:latin typeface="Arial MT"/>
                          <a:cs typeface="Arial MT"/>
                        </a:rPr>
                        <a:t>1</a:t>
                      </a:r>
                      <a:endParaRPr sz="1350" baseline="-30864">
                        <a:latin typeface="Arial MT"/>
                        <a:cs typeface="Arial MT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89" baseline="-30864" dirty="0">
                          <a:latin typeface="Arial MT"/>
                          <a:cs typeface="Arial MT"/>
                        </a:rPr>
                        <a:t>2</a:t>
                      </a:r>
                      <a:endParaRPr sz="1350" baseline="-30864">
                        <a:latin typeface="Arial MT"/>
                        <a:cs typeface="Arial MT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89" baseline="-30864" dirty="0">
                          <a:latin typeface="Arial MT"/>
                          <a:cs typeface="Arial MT"/>
                        </a:rPr>
                        <a:t>3</a:t>
                      </a:r>
                      <a:endParaRPr sz="1350" baseline="-30864">
                        <a:latin typeface="Arial MT"/>
                        <a:cs typeface="Arial MT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89" baseline="-30864" dirty="0">
                          <a:latin typeface="Arial MT"/>
                          <a:cs typeface="Arial MT"/>
                        </a:rPr>
                        <a:t>1</a:t>
                      </a:r>
                      <a:endParaRPr sz="1350" baseline="-30864">
                        <a:latin typeface="Arial MT"/>
                        <a:cs typeface="Arial MT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97" baseline="-30864" dirty="0">
                          <a:latin typeface="Arial MT"/>
                          <a:cs typeface="Arial MT"/>
                        </a:rPr>
                        <a:t>1</a:t>
                      </a:r>
                      <a:endParaRPr sz="1350" baseline="-30864">
                        <a:latin typeface="Arial MT"/>
                        <a:cs typeface="Arial MT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97" baseline="-30864" dirty="0">
                          <a:latin typeface="Arial MT"/>
                          <a:cs typeface="Arial MT"/>
                        </a:rPr>
                        <a:t>1</a:t>
                      </a:r>
                      <a:endParaRPr sz="1350" baseline="-30864">
                        <a:latin typeface="Arial MT"/>
                        <a:cs typeface="Arial MT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97" baseline="-30864" dirty="0">
                          <a:latin typeface="Arial MT"/>
                          <a:cs typeface="Arial MT"/>
                        </a:rPr>
                        <a:t>1</a:t>
                      </a:r>
                      <a:endParaRPr sz="1350" baseline="-30864">
                        <a:latin typeface="Arial MT"/>
                        <a:cs typeface="Arial MT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14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209" baseline="-30864" dirty="0">
                          <a:latin typeface="Arial MT"/>
                          <a:cs typeface="Arial MT"/>
                        </a:rPr>
                        <a:t>1</a:t>
                      </a:r>
                      <a:endParaRPr sz="1350" baseline="-30864">
                        <a:latin typeface="Arial MT"/>
                        <a:cs typeface="Arial MT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250851" y="4386112"/>
            <a:ext cx="9144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5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1801" y="43861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 MT"/>
                <a:cs typeface="Arial MT"/>
              </a:rPr>
              <a:t>1</a:t>
            </a:r>
            <a:r>
              <a:rPr sz="900" spc="15" dirty="0">
                <a:latin typeface="Arial MT"/>
                <a:cs typeface="Arial MT"/>
              </a:rPr>
              <a:t>8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62420" y="43861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 MT"/>
                <a:cs typeface="Arial MT"/>
              </a:rPr>
              <a:t>3</a:t>
            </a:r>
            <a:r>
              <a:rPr sz="900" spc="15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88518" y="43861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 MT"/>
                <a:cs typeface="Arial MT"/>
              </a:rPr>
              <a:t>2</a:t>
            </a:r>
            <a:r>
              <a:rPr sz="900" spc="15" dirty="0">
                <a:latin typeface="Arial MT"/>
                <a:cs typeface="Arial MT"/>
              </a:rPr>
              <a:t>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07418" y="43861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 MT"/>
                <a:cs typeface="Arial MT"/>
              </a:rPr>
              <a:t>1</a:t>
            </a:r>
            <a:r>
              <a:rPr sz="900" spc="15" dirty="0">
                <a:latin typeface="Arial MT"/>
                <a:cs typeface="Arial MT"/>
              </a:rPr>
              <a:t>4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4768" y="4386112"/>
            <a:ext cx="9144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5" dirty="0">
                <a:latin typeface="Arial MT"/>
                <a:cs typeface="Arial MT"/>
              </a:rPr>
              <a:t>4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79169" y="4386112"/>
            <a:ext cx="9144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5" dirty="0">
                <a:latin typeface="Arial MT"/>
                <a:cs typeface="Arial MT"/>
              </a:rPr>
              <a:t>7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4521" y="43861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 MT"/>
                <a:cs typeface="Arial MT"/>
              </a:rPr>
              <a:t>1</a:t>
            </a:r>
            <a:r>
              <a:rPr sz="900" spc="15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4134" y="43861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 MT"/>
                <a:cs typeface="Arial MT"/>
              </a:rPr>
              <a:t>2</a:t>
            </a:r>
            <a:r>
              <a:rPr sz="900" spc="15" dirty="0"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011" rIns="0" bIns="0" rtlCol="0">
            <a:spAutoFit/>
          </a:bodyPr>
          <a:lstStyle/>
          <a:p>
            <a:pPr marL="2663825" marR="5080" indent="-1748789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Time</a:t>
            </a:r>
            <a:r>
              <a:rPr sz="3600" spc="-35" dirty="0"/>
              <a:t> </a:t>
            </a:r>
            <a:r>
              <a:rPr sz="3600" spc="-5" dirty="0"/>
              <a:t>Quantum</a:t>
            </a:r>
            <a:r>
              <a:rPr sz="3600" spc="-60" dirty="0"/>
              <a:t> </a:t>
            </a:r>
            <a:r>
              <a:rPr sz="3600" dirty="0"/>
              <a:t>and</a:t>
            </a:r>
            <a:r>
              <a:rPr sz="3600" spc="-45" dirty="0"/>
              <a:t> </a:t>
            </a:r>
            <a:r>
              <a:rPr sz="3600" spc="-5" dirty="0"/>
              <a:t>Context </a:t>
            </a:r>
            <a:r>
              <a:rPr sz="3600" spc="-1040" dirty="0"/>
              <a:t> </a:t>
            </a:r>
            <a:r>
              <a:rPr sz="3600" spc="-5" dirty="0"/>
              <a:t>Switch</a:t>
            </a:r>
            <a:r>
              <a:rPr sz="3600" spc="-30" dirty="0"/>
              <a:t> </a:t>
            </a:r>
            <a:r>
              <a:rPr sz="3600" spc="-5" dirty="0"/>
              <a:t>Time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1900427"/>
            <a:ext cx="8093964" cy="35996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95" rIns="0" bIns="0" rtlCol="0">
            <a:spAutoFit/>
          </a:bodyPr>
          <a:lstStyle/>
          <a:p>
            <a:pPr marL="2205355" marR="5080" indent="-2158365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Turnaround</a:t>
            </a:r>
            <a:r>
              <a:rPr sz="3600" spc="-55" dirty="0"/>
              <a:t> </a:t>
            </a:r>
            <a:r>
              <a:rPr sz="3600" spc="-5" dirty="0"/>
              <a:t>Time</a:t>
            </a:r>
            <a:r>
              <a:rPr sz="3600" spc="-25" dirty="0"/>
              <a:t> </a:t>
            </a:r>
            <a:r>
              <a:rPr sz="3600" spc="-5" dirty="0"/>
              <a:t>Varies</a:t>
            </a:r>
            <a:r>
              <a:rPr sz="3600" spc="-30" dirty="0"/>
              <a:t> </a:t>
            </a:r>
            <a:r>
              <a:rPr sz="3600" dirty="0"/>
              <a:t>With</a:t>
            </a:r>
            <a:r>
              <a:rPr sz="3600" spc="-20" dirty="0"/>
              <a:t> </a:t>
            </a:r>
            <a:r>
              <a:rPr sz="3600" spc="-5" dirty="0"/>
              <a:t>The </a:t>
            </a:r>
            <a:r>
              <a:rPr sz="3600" spc="-1040" dirty="0"/>
              <a:t> </a:t>
            </a:r>
            <a:r>
              <a:rPr sz="3600" spc="-5" dirty="0"/>
              <a:t>Time</a:t>
            </a:r>
            <a:r>
              <a:rPr sz="3600" spc="-15" dirty="0"/>
              <a:t> </a:t>
            </a:r>
            <a:r>
              <a:rPr sz="3600" spc="-5" dirty="0"/>
              <a:t>Quantum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832" y="1379219"/>
            <a:ext cx="5004816" cy="41224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16878" y="3778758"/>
            <a:ext cx="207454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spc="-5" dirty="0">
                <a:latin typeface="Verdana"/>
                <a:cs typeface="Verdana"/>
              </a:rPr>
              <a:t>80%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of </a:t>
            </a:r>
            <a:r>
              <a:rPr sz="1300" spc="-10" dirty="0">
                <a:latin typeface="Verdana"/>
                <a:cs typeface="Verdana"/>
              </a:rPr>
              <a:t>CPU</a:t>
            </a:r>
            <a:r>
              <a:rPr sz="1300" spc="2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bursts </a:t>
            </a:r>
            <a:r>
              <a:rPr sz="1300" spc="-5" dirty="0">
                <a:latin typeface="Verdana"/>
                <a:cs typeface="Verdana"/>
              </a:rPr>
              <a:t> should</a:t>
            </a:r>
            <a:r>
              <a:rPr sz="1300" spc="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be</a:t>
            </a:r>
            <a:r>
              <a:rPr sz="1300" spc="-1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shorter</a:t>
            </a:r>
            <a:r>
              <a:rPr sz="1300" spc="-1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than</a:t>
            </a:r>
            <a:r>
              <a:rPr sz="1300" spc="-1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q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7664" y="138506"/>
            <a:ext cx="5372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Priority</a:t>
            </a:r>
            <a:r>
              <a:rPr sz="4400" spc="-70" dirty="0"/>
              <a:t> </a:t>
            </a:r>
            <a:r>
              <a:rPr sz="4400" spc="-5" dirty="0"/>
              <a:t>Scheduling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61440" y="1265301"/>
            <a:ext cx="7234555" cy="536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170815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priority </a:t>
            </a:r>
            <a:r>
              <a:rPr sz="2400" dirty="0">
                <a:latin typeface="Tahoma"/>
                <a:cs typeface="Tahoma"/>
              </a:rPr>
              <a:t>number </a:t>
            </a:r>
            <a:r>
              <a:rPr sz="2400" spc="-5" dirty="0">
                <a:latin typeface="Tahoma"/>
                <a:cs typeface="Tahoma"/>
              </a:rPr>
              <a:t>(integer)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5" dirty="0">
                <a:latin typeface="Tahoma"/>
                <a:cs typeface="Tahoma"/>
              </a:rPr>
              <a:t>associated with each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</a:t>
            </a:r>
            <a:endParaRPr sz="2400">
              <a:latin typeface="Tahoma"/>
              <a:cs typeface="Tahoma"/>
            </a:endParaRPr>
          </a:p>
          <a:p>
            <a:pPr marL="243840" marR="129539" indent="-231775">
              <a:lnSpc>
                <a:spcPts val="2860"/>
              </a:lnSpc>
              <a:spcBef>
                <a:spcPts val="1839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CPU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5" dirty="0">
                <a:latin typeface="Tahoma"/>
                <a:cs typeface="Tahoma"/>
              </a:rPr>
              <a:t>allocated to </a:t>
            </a:r>
            <a:r>
              <a:rPr sz="2400" dirty="0">
                <a:latin typeface="Tahoma"/>
                <a:cs typeface="Tahoma"/>
              </a:rPr>
              <a:t>the process </a:t>
            </a:r>
            <a:r>
              <a:rPr sz="2400" spc="-5" dirty="0">
                <a:latin typeface="Tahoma"/>
                <a:cs typeface="Tahoma"/>
              </a:rPr>
              <a:t>with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highest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priority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(smallest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integer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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highest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priority)</a:t>
            </a:r>
            <a:endParaRPr sz="2400">
              <a:latin typeface="Tahoma"/>
              <a:cs typeface="Tahoma"/>
            </a:endParaRPr>
          </a:p>
          <a:p>
            <a:pPr marL="637540" lvl="1" indent="-279400">
              <a:lnSpc>
                <a:spcPct val="100000"/>
              </a:lnSpc>
              <a:spcBef>
                <a:spcPts val="455"/>
              </a:spcBef>
              <a:buChar char="–"/>
              <a:tabLst>
                <a:tab pos="638175" algn="l"/>
              </a:tabLst>
            </a:pPr>
            <a:r>
              <a:rPr sz="2200" spc="-10" dirty="0">
                <a:latin typeface="Tahoma"/>
                <a:cs typeface="Tahoma"/>
              </a:rPr>
              <a:t>Preemptive</a:t>
            </a:r>
            <a:endParaRPr sz="2200">
              <a:latin typeface="Tahoma"/>
              <a:cs typeface="Tahoma"/>
            </a:endParaRPr>
          </a:p>
          <a:p>
            <a:pPr marL="637540" lvl="1" indent="-279400">
              <a:lnSpc>
                <a:spcPct val="100000"/>
              </a:lnSpc>
              <a:spcBef>
                <a:spcPts val="525"/>
              </a:spcBef>
              <a:buChar char="–"/>
              <a:tabLst>
                <a:tab pos="638175" algn="l"/>
              </a:tabLst>
            </a:pPr>
            <a:r>
              <a:rPr sz="2200" spc="-10" dirty="0">
                <a:latin typeface="Tahoma"/>
                <a:cs typeface="Tahoma"/>
              </a:rPr>
              <a:t>Nonpreemptive</a:t>
            </a:r>
            <a:endParaRPr sz="2200">
              <a:latin typeface="Tahoma"/>
              <a:cs typeface="Tahoma"/>
            </a:endParaRPr>
          </a:p>
          <a:p>
            <a:pPr marL="243840" marR="869315" indent="-231775">
              <a:lnSpc>
                <a:spcPct val="100000"/>
              </a:lnSpc>
              <a:spcBef>
                <a:spcPts val="1735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SJF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5" dirty="0">
                <a:latin typeface="Tahoma"/>
                <a:cs typeface="Tahoma"/>
              </a:rPr>
              <a:t>priority </a:t>
            </a:r>
            <a:r>
              <a:rPr sz="2400" dirty="0">
                <a:latin typeface="Tahoma"/>
                <a:cs typeface="Tahoma"/>
              </a:rPr>
              <a:t>scheduling </a:t>
            </a:r>
            <a:r>
              <a:rPr sz="2400" spc="-5" dirty="0">
                <a:latin typeface="Tahoma"/>
                <a:cs typeface="Tahoma"/>
              </a:rPr>
              <a:t>where priority </a:t>
            </a:r>
            <a:r>
              <a:rPr sz="2400" dirty="0">
                <a:latin typeface="Tahoma"/>
                <a:cs typeface="Tahoma"/>
              </a:rPr>
              <a:t>is the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inverse</a:t>
            </a:r>
            <a:r>
              <a:rPr sz="2400" dirty="0">
                <a:latin typeface="Tahoma"/>
                <a:cs typeface="Tahoma"/>
              </a:rPr>
              <a:t> of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predicted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next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CPU burst</a:t>
            </a:r>
            <a:r>
              <a:rPr sz="2400" spc="-5" dirty="0">
                <a:latin typeface="Tahoma"/>
                <a:cs typeface="Tahoma"/>
              </a:rPr>
              <a:t> time</a:t>
            </a:r>
            <a:endParaRPr sz="2400">
              <a:latin typeface="Tahoma"/>
              <a:cs typeface="Tahoma"/>
            </a:endParaRPr>
          </a:p>
          <a:p>
            <a:pPr marL="243840" marR="5080" indent="-231775">
              <a:lnSpc>
                <a:spcPct val="100899"/>
              </a:lnSpc>
              <a:spcBef>
                <a:spcPts val="168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Problem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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3366FF"/>
                </a:solidFill>
                <a:latin typeface="Tahoma"/>
                <a:cs typeface="Tahoma"/>
              </a:rPr>
              <a:t>Starvation</a:t>
            </a:r>
            <a:r>
              <a:rPr sz="2400" b="1" spc="10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–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low priority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processes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may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never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execute</a:t>
            </a:r>
            <a:endParaRPr sz="2400">
              <a:latin typeface="Tahoma"/>
              <a:cs typeface="Tahoma"/>
            </a:endParaRPr>
          </a:p>
          <a:p>
            <a:pPr marL="243840" marR="54610" indent="-231775">
              <a:lnSpc>
                <a:spcPct val="100800"/>
              </a:lnSpc>
              <a:spcBef>
                <a:spcPts val="168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Solution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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66FF"/>
                </a:solidFill>
                <a:latin typeface="Tahoma"/>
                <a:cs typeface="Tahoma"/>
              </a:rPr>
              <a:t>Aging</a:t>
            </a:r>
            <a:r>
              <a:rPr sz="2400" b="1" spc="-1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–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</a:t>
            </a:r>
            <a:r>
              <a:rPr sz="2400" spc="-5" dirty="0">
                <a:latin typeface="Tahoma"/>
                <a:cs typeface="Tahoma"/>
              </a:rPr>
              <a:t> time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progresses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increase</a:t>
            </a:r>
            <a:r>
              <a:rPr sz="2400" spc="-5" dirty="0">
                <a:latin typeface="Tahoma"/>
                <a:cs typeface="Tahoma"/>
              </a:rPr>
              <a:t> the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priority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5" dirty="0">
                <a:latin typeface="Tahoma"/>
                <a:cs typeface="Tahoma"/>
              </a:rPr>
              <a:t> the </a:t>
            </a:r>
            <a:r>
              <a:rPr sz="2400" dirty="0">
                <a:latin typeface="Tahoma"/>
                <a:cs typeface="Tahoma"/>
              </a:rPr>
              <a:t>process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30475" marR="5080" indent="-1036955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Example of </a:t>
            </a:r>
            <a:r>
              <a:rPr sz="4000" spc="-10" dirty="0"/>
              <a:t>Priority </a:t>
            </a:r>
            <a:r>
              <a:rPr sz="4000" spc="-1160" dirty="0"/>
              <a:t> </a:t>
            </a:r>
            <a:r>
              <a:rPr sz="4000" spc="-10" dirty="0"/>
              <a:t>Scheduling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58289" y="1277852"/>
          <a:ext cx="4485005" cy="26187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16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Process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ct val="100000"/>
                        </a:lnSpc>
                      </a:pP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Burst</a:t>
                      </a:r>
                      <a:r>
                        <a:rPr sz="2400" u="heavy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Time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 algn="ctr">
                        <a:lnSpc>
                          <a:spcPct val="100000"/>
                        </a:lnSpc>
                      </a:pP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Priority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676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1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51244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079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453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2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10795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1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3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10795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751"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4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10795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805">
                <a:tc>
                  <a:txBody>
                    <a:bodyPr/>
                    <a:lstStyle/>
                    <a:p>
                      <a:pPr marL="3009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5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10795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85240" y="4192016"/>
            <a:ext cx="510413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Priority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scheduling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Gantt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Chart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???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ahoma"/>
              <a:buChar char="•"/>
            </a:pPr>
            <a:endParaRPr sz="330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Average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waiting time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5" dirty="0">
                <a:latin typeface="Tahoma"/>
                <a:cs typeface="Tahoma"/>
              </a:rPr>
              <a:t> 8.2 </a:t>
            </a:r>
            <a:r>
              <a:rPr sz="2400" dirty="0">
                <a:latin typeface="Tahoma"/>
                <a:cs typeface="Tahoma"/>
              </a:rPr>
              <a:t>msec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817" y="200990"/>
            <a:ext cx="83534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Priority</a:t>
            </a:r>
            <a:r>
              <a:rPr sz="3600" spc="-25" dirty="0"/>
              <a:t> </a:t>
            </a:r>
            <a:r>
              <a:rPr sz="3600" spc="-5" dirty="0"/>
              <a:t>Scheduling</a:t>
            </a:r>
            <a:r>
              <a:rPr sz="3600" spc="-45" dirty="0"/>
              <a:t> </a:t>
            </a:r>
            <a:r>
              <a:rPr sz="3600" dirty="0"/>
              <a:t>w/</a:t>
            </a:r>
            <a:r>
              <a:rPr sz="3600" spc="-20" dirty="0"/>
              <a:t> </a:t>
            </a:r>
            <a:r>
              <a:rPr sz="3600" spc="-5" dirty="0"/>
              <a:t>Round-Robin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24658" y="1309602"/>
          <a:ext cx="4387214" cy="2618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9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Process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</a:pP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Burst</a:t>
                      </a:r>
                      <a:r>
                        <a:rPr sz="2400" u="heavy" spc="-3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Time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40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Priority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158"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1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3390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005"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2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33909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3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33909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102"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4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33909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6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75" spc="-67" baseline="-20202" dirty="0">
                          <a:latin typeface="Tahoma"/>
                          <a:cs typeface="Tahoma"/>
                        </a:rPr>
                        <a:t>5</a:t>
                      </a:r>
                      <a:endParaRPr sz="2475" baseline="-20202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33909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13917" y="3931157"/>
            <a:ext cx="722566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Tahoma"/>
                <a:cs typeface="Tahoma"/>
              </a:rPr>
              <a:t>Run </a:t>
            </a:r>
            <a:r>
              <a:rPr sz="2400" spc="-5" dirty="0">
                <a:latin typeface="Tahoma"/>
                <a:cs typeface="Tahoma"/>
              </a:rPr>
              <a:t>the process with </a:t>
            </a:r>
            <a:r>
              <a:rPr sz="2400" dirty="0">
                <a:latin typeface="Tahoma"/>
                <a:cs typeface="Tahoma"/>
              </a:rPr>
              <a:t>the highest priority. </a:t>
            </a:r>
            <a:r>
              <a:rPr sz="2400" spc="-10" dirty="0">
                <a:latin typeface="Tahoma"/>
                <a:cs typeface="Tahoma"/>
              </a:rPr>
              <a:t>Processes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with the same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priority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run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round-robin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ahoma"/>
              <a:buChar char="•"/>
            </a:pPr>
            <a:endParaRPr sz="2350">
              <a:latin typeface="Tahoma"/>
              <a:cs typeface="Tahoma"/>
            </a:endParaRPr>
          </a:p>
          <a:p>
            <a:pPr marL="243840" indent="-231775">
              <a:lnSpc>
                <a:spcPct val="100000"/>
              </a:lnSpc>
              <a:buChar char="•"/>
              <a:tabLst>
                <a:tab pos="244475" algn="l"/>
              </a:tabLst>
            </a:pPr>
            <a:r>
              <a:rPr sz="2400" spc="-5" dirty="0">
                <a:latin typeface="Tahoma"/>
                <a:cs typeface="Tahoma"/>
              </a:rPr>
              <a:t>Gantt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Chart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with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quantum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5593079"/>
            <a:ext cx="7048777" cy="76339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090" y="-98932"/>
            <a:ext cx="7795818" cy="430887"/>
          </a:xfrm>
        </p:spPr>
        <p:txBody>
          <a:bodyPr/>
          <a:lstStyle/>
          <a:p>
            <a:r>
              <a:rPr lang="en-US" dirty="0" smtClean="0"/>
              <a:t>Example 1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90600"/>
            <a:ext cx="9677400" cy="6155531"/>
          </a:xfrm>
        </p:spPr>
        <p:txBody>
          <a:bodyPr/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set of processes, with the length of the CPU burst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given in milliseconds: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Burst Time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2 	2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1	1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8 	4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4 	2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5 	3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processes are assumed to have arrived in the order P1, P2, P3, P4, P5,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at time 0.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Draw four Gantt charts that illustrate the execution of these processes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following scheduling algorithms: FCFS, SJF,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(a larger priority number implies a higher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priority), and RR (quantum = 2).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What is the turnaround time of each process for each of the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algorithms in part a?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What is the waiting time of each process for each of these scheduling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algorithms?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Which of the algorithms results in the minimum average waiting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(over all processes)?</a:t>
            </a:r>
          </a:p>
        </p:txBody>
      </p:sp>
    </p:spTree>
    <p:extLst>
      <p:ext uri="{BB962C8B-B14F-4D97-AF65-F5344CB8AC3E}">
        <p14:creationId xmlns:p14="http://schemas.microsoft.com/office/powerpoint/2010/main" val="2811094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090" y="-98932"/>
            <a:ext cx="7795818" cy="430887"/>
          </a:xfrm>
        </p:spPr>
        <p:txBody>
          <a:bodyPr/>
          <a:lstStyle/>
          <a:p>
            <a:r>
              <a:rPr lang="en-US" dirty="0" smtClean="0"/>
              <a:t>Example 2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90600"/>
            <a:ext cx="9677400" cy="6155531"/>
          </a:xfrm>
        </p:spPr>
        <p:txBody>
          <a:bodyPr/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processes are being scheduled using a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roundrobin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	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	Burst 	Arrival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40	 20	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30	 25	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P3 	30 	 25 	 30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35 	15 	60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5 	10 	100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P6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10 	10 	105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is assigned a numerical priority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higher number indicating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higher relative priority. In addition to the processes listed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below, the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also has an idle task (which consumes no CPU resources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is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as P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This task has priority 0 and is scheduled when is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This task has priority 0 and is scheduled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the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has no other available processes to run. The length of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time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is 10 units. If a process is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pre-empted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higher-priority process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pre-empted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is placed at the end of the queue.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Show the scheduling order of the processes using a Gantt chart.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What is the turnaround time for each process?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What is the waiting time for each process?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What is the CPU utilization rate?</a:t>
            </a:r>
          </a:p>
        </p:txBody>
      </p:sp>
    </p:spTree>
    <p:extLst>
      <p:ext uri="{BB962C8B-B14F-4D97-AF65-F5344CB8AC3E}">
        <p14:creationId xmlns:p14="http://schemas.microsoft.com/office/powerpoint/2010/main" val="2777173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090" y="228600"/>
            <a:ext cx="7795818" cy="430887"/>
          </a:xfrm>
        </p:spPr>
        <p:txBody>
          <a:bodyPr/>
          <a:lstStyle/>
          <a:p>
            <a:r>
              <a:rPr lang="en-US" dirty="0" smtClean="0"/>
              <a:t>Good luck for mid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5753" y="1150086"/>
            <a:ext cx="7092492" cy="738664"/>
          </a:xfrm>
        </p:spPr>
        <p:txBody>
          <a:bodyPr/>
          <a:lstStyle/>
          <a:p>
            <a:r>
              <a:rPr lang="en-US" sz="4800" b="1" dirty="0" smtClean="0"/>
              <a:t>Thank You</a:t>
            </a:r>
            <a:endParaRPr lang="en-GB" sz="4800" b="1" dirty="0"/>
          </a:p>
        </p:txBody>
      </p:sp>
    </p:spTree>
    <p:extLst>
      <p:ext uri="{BB962C8B-B14F-4D97-AF65-F5344CB8AC3E}">
        <p14:creationId xmlns:p14="http://schemas.microsoft.com/office/powerpoint/2010/main" val="1422738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1027</Words>
  <Application>Microsoft Office PowerPoint</Application>
  <PresentationFormat>On-screen Show (4:3)</PresentationFormat>
  <Paragraphs>295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 MT</vt:lpstr>
      <vt:lpstr>Calibri</vt:lpstr>
      <vt:lpstr>Courier New</vt:lpstr>
      <vt:lpstr>Symbol</vt:lpstr>
      <vt:lpstr>Tahoma</vt:lpstr>
      <vt:lpstr>Times New Roman</vt:lpstr>
      <vt:lpstr>Verdana</vt:lpstr>
      <vt:lpstr>Office Theme</vt:lpstr>
      <vt:lpstr>CPU Scheduling</vt:lpstr>
      <vt:lpstr>CPU Scheduling</vt:lpstr>
      <vt:lpstr>Basic Concepts</vt:lpstr>
      <vt:lpstr>CPU Scheduler</vt:lpstr>
      <vt:lpstr>Preemptive and Nonpreemptive  Scheduling</vt:lpstr>
      <vt:lpstr>Preemptive and Nonpreemptive  Scheduling</vt:lpstr>
      <vt:lpstr>Dispatcher</vt:lpstr>
      <vt:lpstr>Scheduling Criteria</vt:lpstr>
      <vt:lpstr>Scheduling Algorithm  Optimization Criteria</vt:lpstr>
      <vt:lpstr>First- Come, First-Served (FCFS)  Scheduling</vt:lpstr>
      <vt:lpstr>FCFS Scheduling</vt:lpstr>
      <vt:lpstr>Shortest-Job-First (SJF)  Scheduling</vt:lpstr>
      <vt:lpstr>Example of SJF</vt:lpstr>
      <vt:lpstr>Example of Shortest-remaining-  time-first</vt:lpstr>
      <vt:lpstr>Round Robin (RR)</vt:lpstr>
      <vt:lpstr>Example of RR with Time  Quantum = 4</vt:lpstr>
      <vt:lpstr>Time Quantum and Context  Switch Time</vt:lpstr>
      <vt:lpstr>Turnaround Time Varies With The  Time Quantum</vt:lpstr>
      <vt:lpstr>Priority Scheduling</vt:lpstr>
      <vt:lpstr>Example of Priority  Scheduling</vt:lpstr>
      <vt:lpstr>Priority Scheduling w/ Round-Robin</vt:lpstr>
      <vt:lpstr>Example 1</vt:lpstr>
      <vt:lpstr>Example 2</vt:lpstr>
      <vt:lpstr>Good luck for mid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Azizul Sanam</cp:lastModifiedBy>
  <cp:revision>7</cp:revision>
  <dcterms:created xsi:type="dcterms:W3CDTF">2023-08-23T02:29:04Z</dcterms:created>
  <dcterms:modified xsi:type="dcterms:W3CDTF">2023-09-16T13:20:23Z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2023-08-23T00:00:00Z</vt:filetime>
  </property>
</Properties>
</file>